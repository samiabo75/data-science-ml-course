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66" r:id="rId4"/>
    <p:sldId id="267" r:id="rId5"/>
    <p:sldId id="268" r:id="rId6"/>
    <p:sldId id="271" r:id="rId7"/>
    <p:sldId id="270" r:id="rId8"/>
  </p:sldIdLst>
  <p:sldSz cx="12192000" cy="6858000"/>
  <p:notesSz cx="6858000" cy="9144000"/>
  <p:embeddedFontLst>
    <p:embeddedFont>
      <p:font typeface="Cambria Math" panose="02040503050406030204" pitchFamily="18" charset="0"/>
      <p:regular r:id="rId10"/>
    </p:embeddedFont>
    <p:embeddedFont>
      <p:font typeface="Garamond" panose="02020404030301010803" pitchFamily="18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yhVWeSBUQ52v9ndg6+EfCkPo4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EF981C0-632D-43AC-7034-0AFD14A6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C904C7F1-699D-4E6A-3401-D21A227A0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05CD73B5-74A8-E52A-A29A-3B8551A13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0583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EF981C0-632D-43AC-7034-0AFD14A6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C904C7F1-699D-4E6A-3401-D21A227A0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05CD73B5-74A8-E52A-A29A-3B8551A13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1990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EF981C0-632D-43AC-7034-0AFD14A6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C904C7F1-699D-4E6A-3401-D21A227A0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05CD73B5-74A8-E52A-A29A-3B8551A13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2230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EF981C0-632D-43AC-7034-0AFD14A6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>
            <a:extLst>
              <a:ext uri="{FF2B5EF4-FFF2-40B4-BE49-F238E27FC236}">
                <a16:creationId xmlns:a16="http://schemas.microsoft.com/office/drawing/2014/main" id="{C904C7F1-699D-4E6A-3401-D21A227A0C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:notes">
            <a:extLst>
              <a:ext uri="{FF2B5EF4-FFF2-40B4-BE49-F238E27FC236}">
                <a16:creationId xmlns:a16="http://schemas.microsoft.com/office/drawing/2014/main" id="{05CD73B5-74A8-E52A-A29A-3B8551A13C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565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שקופית כותרת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8" name="Google Shape;18;p4" descr="HD-PanelTitleR1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4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20" name="Google Shape;20;p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4" descr="HDRibbonTitle-UniformTrim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 rtl="1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 rtl="1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 rtl="1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 rtl="1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 rtl="1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27" name="Google Shape;27;p4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מקטע עליונה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41" name="Google Shape;41;p6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שני תכנים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2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3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 rtl="1">
              <a:spcBef>
                <a:spcPts val="672"/>
              </a:spcBef>
              <a:spcAft>
                <a:spcPts val="0"/>
              </a:spcAft>
              <a:buSzPts val="3220"/>
              <a:buNone/>
              <a:defRPr sz="2800" b="0">
                <a:solidFill>
                  <a:schemeClr val="accent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None/>
              <a:defRPr sz="2000" b="1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 b="1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 b="1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84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4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59" name="Google Shape;59;p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65" name="Google Shape;65;p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עם כיתוב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2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עם כיתוב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sz="28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>
            <a:spLocks noGrp="1"/>
          </p:cNvSpPr>
          <p:nvPr>
            <p:ph type="pic" idx="2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מונה פנורמית עם כיתוב">
  <p:cSld name="תמונה פנורמית עם כיתוב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sz="2400"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2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noFill/>
          <a:ln w="57150" cap="flat" cmpd="thickThin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 rtl="1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כיתוב">
  <p:cSld name="כותרת וכיתוב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98" name="Google Shape;98;p14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ציטוט עם כיתוב">
  <p:cSld name="ציטוט עם כיתוב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2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5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15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">
  <p:cSld name="כרטיס שם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sz="3200" b="0" cap="none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רטיס שם עם ציטוט">
  <p:cSld name="כרטיס שם עם ציטוט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sz="3200" b="0" cap="none">
                <a:solidFill>
                  <a:schemeClr val="dk1"/>
                </a:solidFill>
              </a:defRPr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body" idx="2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8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17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נכון או לא נכון">
  <p:cSld name="נכון או לא נכון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1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body" idx="2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1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r" rtl="1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r" rtl="1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r" rtl="1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r" rtl="1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2" name="Google Shape;132;p18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טקסט אנכי" type="vertTx">
  <p:cSld name="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39" name="Google Shape;139;p1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אנכית וטקסט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 rot="5400000">
            <a:off x="2565043" y="-287514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0045" algn="r" rtl="1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marL="914400" lvl="1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marL="1371600" lvl="2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marL="1828800" lvl="3" indent="-360044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marL="2286000" lvl="4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marL="2743200" lvl="5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marL="3200400" lvl="6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marL="3657600" lvl="7" indent="-360045" algn="r" rtl="1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marL="4114800" lvl="8" indent="-360045" algn="r" rtl="1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w="158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3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" name="Google Shape;7;p3" descr="HD-PanelContent.png"/>
            <p:cNvPicPr preferRelativeResize="0"/>
            <p:nvPr/>
          </p:nvPicPr>
          <p:blipFill rotWithShape="1">
            <a:blip r:embed="rId19">
              <a:alphaModFix/>
            </a:blip>
            <a:srcRect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3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pic>
          <p:nvPicPr>
            <p:cNvPr id="9" name="Google Shape;9;p3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0;p3" descr="HDRibbonContent-UniformTrim.png"/>
            <p:cNvPicPr preferRelativeResize="0"/>
            <p:nvPr/>
          </p:nvPicPr>
          <p:blipFill rotWithShape="1">
            <a:blip r:embed="rId20">
              <a:alphaModFix/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sz="4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3860" algn="r" rtl="1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sz="2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74650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sz="20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6004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5439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30835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30834" algn="r" rtl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30834" algn="r" rtl="1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dt" idx="10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ftr" idx="11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Covariance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iw-IL" sz="4400" dirty="0"/>
              <a:t>פר</a:t>
            </a:r>
            <a:r>
              <a:rPr lang="he-IL" sz="4400" dirty="0"/>
              <a:t>ק 2 -</a:t>
            </a:r>
            <a:r>
              <a:rPr lang="iw-IL" sz="4400" dirty="0"/>
              <a:t> בסיס סטטיסטי</a:t>
            </a:r>
            <a:br>
              <a:rPr lang="iw-IL" sz="4400" dirty="0"/>
            </a:br>
            <a:r>
              <a:rPr lang="he-IL" sz="4400"/>
              <a:t> 2.4 </a:t>
            </a:r>
            <a:r>
              <a:rPr lang="he-IL" sz="4400" dirty="0"/>
              <a:t>יחסים בין משתנים</a:t>
            </a:r>
            <a:endParaRPr dirty="0"/>
          </a:p>
        </p:txBody>
      </p:sp>
      <p:sp>
        <p:nvSpPr>
          <p:cNvPr id="152" name="Google Shape;152;p1"/>
          <p:cNvSpPr txBox="1"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iw-IL" dirty="0"/>
              <a:t>מאת</a:t>
            </a:r>
            <a:r>
              <a:rPr lang="he-IL"/>
              <a:t>:</a:t>
            </a:r>
            <a:r>
              <a:rPr lang="iw-IL"/>
              <a:t> </a:t>
            </a:r>
            <a:r>
              <a:rPr lang="iw-IL" dirty="0"/>
              <a:t>אריאל בר-יצחק</a:t>
            </a:r>
            <a:endParaRPr lang="he-IL" dirty="0"/>
          </a:p>
          <a:p>
            <a:pPr marL="0" indent="0">
              <a:spcBef>
                <a:spcPts val="0"/>
              </a:spcBef>
            </a:pPr>
            <a:r>
              <a:rPr lang="iw-IL" dirty="0"/>
              <a:t>ייעוץ פדגוגי:</a:t>
            </a:r>
            <a:r>
              <a:rPr lang="he-IL" dirty="0"/>
              <a:t> ד</a:t>
            </a:r>
            <a:r>
              <a:rPr lang="iw-IL" dirty="0"/>
              <a:t>"ר קובי מייק</a:t>
            </a:r>
          </a:p>
          <a:p>
            <a:pPr marL="0" lvl="0" indent="0" algn="ctr" rtl="1">
              <a:spcBef>
                <a:spcPts val="0"/>
              </a:spcBef>
              <a:spcAft>
                <a:spcPts val="0"/>
              </a:spcAft>
              <a:buSzPts val="2415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15E37B65-D162-A9C9-760C-E836AEB1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5346CF80-26EC-B5C7-15D2-85CD19C6D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831961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 dirty="0"/>
              <a:t>שונות משותפת,</a:t>
            </a:r>
            <a:r>
              <a:rPr lang="en-US" dirty="0"/>
              <a:t>Covariance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i="1" dirty="0">
                    <a:latin typeface="Cambria Math" panose="02040503050406030204" pitchFamily="18" charset="0"/>
                  </a:rPr>
                  <a:t>שונות משותפת היא מדד סטטיסטי שמתאר איך שני משתנים נעים יחד.</a:t>
                </a:r>
              </a:p>
              <a:p>
                <a:pPr marL="0" indent="0">
                  <a:spcBef>
                    <a:spcPts val="1080"/>
                  </a:spcBef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  <m:r>
                        <a:rPr lang="en-US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he-IL" dirty="0">
                  <a:highlight>
                    <a:srgbClr val="FFFF00"/>
                  </a:highlight>
                </a:endParaRPr>
              </a:p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i="1" dirty="0">
                    <a:latin typeface="Cambria Math" panose="02040503050406030204" pitchFamily="18" charset="0"/>
                  </a:rPr>
                  <a:t>שונות משותפת חיובית, שני המשתנים עולים ויורדים יחד</a:t>
                </a:r>
              </a:p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b="0" i="1" dirty="0">
                    <a:latin typeface="Cambria Math" panose="02040503050406030204" pitchFamily="18" charset="0"/>
                  </a:rPr>
                  <a:t>שונות משותפת שלילית, אחד עולה והשני יורד</a:t>
                </a:r>
              </a:p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i="1" dirty="0">
                    <a:latin typeface="Cambria Math" panose="02040503050406030204" pitchFamily="18" charset="0"/>
                  </a:rPr>
                  <a:t>שונות משותפת אפס, אין קשר לינארי</a:t>
                </a:r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>
                  <a:highlight>
                    <a:srgbClr val="FFFF00"/>
                  </a:highlight>
                </a:endParaRPr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blipFill>
                <a:blip r:embed="rId3"/>
                <a:stretch>
                  <a:fillRect r="-8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תמונה 2" descr="תמונה שמכילה גופן, כתב יד, קו, טקסט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B2301713-71DB-730A-9764-CA92888D6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27" y="777604"/>
            <a:ext cx="1767598" cy="5302792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75EF1BC-EAB8-EB23-62A4-149DA0F9016D}"/>
              </a:ext>
            </a:extLst>
          </p:cNvPr>
          <p:cNvSpPr txBox="1"/>
          <p:nvPr/>
        </p:nvSpPr>
        <p:spPr>
          <a:xfrm>
            <a:off x="8807116" y="5534526"/>
            <a:ext cx="115503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hlinkClick r:id="rId5"/>
              </a:rPr>
              <a:t>מקור התמונה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3657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15E37B65-D162-A9C9-760C-E836AEB1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5346CF80-26EC-B5C7-15D2-85CD19C6D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831961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 dirty="0"/>
              <a:t>שונות משותפת,</a:t>
            </a:r>
            <a:r>
              <a:rPr lang="en-US" dirty="0"/>
              <a:t>Covariance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i="1" dirty="0">
                    <a:latin typeface="Cambria Math" panose="02040503050406030204" pitchFamily="18" charset="0"/>
                  </a:rPr>
                  <a:t>שונות משותפת היא מדד סטטיסטי שמתאר איך שני משתנים נעים יחד.</a:t>
                </a:r>
                <a:endParaRPr lang="he-IL" b="0" i="1" dirty="0">
                  <a:latin typeface="Cambria Math" panose="02040503050406030204" pitchFamily="18" charset="0"/>
                </a:endParaRPr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/>
                  <a:t>)</a:t>
                </a:r>
                <a:endParaRPr lang="he-IL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blipFill>
                <a:blip r:embed="rId3"/>
                <a:stretch>
                  <a:fillRect r="-8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79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15E37B65-D162-A9C9-760C-E836AEB1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5346CF80-26EC-B5C7-15D2-85CD19C6D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831961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 dirty="0"/>
              <a:t>קורלציה,</a:t>
            </a:r>
            <a:r>
              <a:rPr lang="en-US" dirty="0"/>
              <a:t>Correlation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sz="2000" i="1" dirty="0">
                    <a:latin typeface="Cambria Math" panose="02040503050406030204" pitchFamily="18" charset="0"/>
                  </a:rPr>
                  <a:t>קורלציה היא מדד סטטיסטי שמתאר כמה חזק ובאיזה כוון שני משתנים קשורים. בלי תלות ביחידות המדידה שלהם.</a:t>
                </a:r>
              </a:p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20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e-IL" sz="20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𝐶𝑜𝑟𝑟</m:t>
                      </m:r>
                      <m:d>
                        <m:dPr>
                          <m:ctrlPr>
                            <a:rPr lang="en-US" sz="20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0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sz="2000" b="0" i="1" dirty="0"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sz="2000" b="0" i="1" dirty="0">
                    <a:latin typeface="Cambria Math" panose="02040503050406030204" pitchFamily="18" charset="0"/>
                  </a:rPr>
                  <a:t>קורלציה קרוב</a:t>
                </a:r>
                <a:r>
                  <a:rPr lang="he-IL" sz="2000" i="1" dirty="0">
                    <a:latin typeface="Cambria Math" panose="02040503050406030204" pitchFamily="18" charset="0"/>
                  </a:rPr>
                  <a:t>ה ל 1+, קשר לינארי מושלם חיובי</a:t>
                </a:r>
              </a:p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sz="2000" b="0" i="1" dirty="0">
                    <a:latin typeface="Cambria Math" panose="02040503050406030204" pitchFamily="18" charset="0"/>
                  </a:rPr>
                  <a:t>קורלציה קרובה ל 0, אין קשר לינארי</a:t>
                </a:r>
              </a:p>
              <a:p>
                <a:pPr marL="0" lvl="0" indent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r>
                  <a:rPr lang="he-IL" sz="2000" i="1" dirty="0">
                    <a:latin typeface="Cambria Math" panose="02040503050406030204" pitchFamily="18" charset="0"/>
                  </a:rPr>
                  <a:t>קורלציה קרובה ל 1-, קשר לינארי מושלם שלילי</a:t>
                </a:r>
                <a:endParaRPr lang="he-IL" sz="2000" b="0" i="1" dirty="0">
                  <a:latin typeface="Cambria Math" panose="02040503050406030204" pitchFamily="18" charset="0"/>
                </a:endParaRPr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blipFill>
                <a:blip r:embed="rId3"/>
                <a:stretch>
                  <a:fillRect r="-5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 descr="תמונה שמכילה טקסט, צילום מסך, קו, גופן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052F5E3D-5F30-E227-DA89-B13ADB8E1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877" y="3698308"/>
            <a:ext cx="6024415" cy="174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9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15E37B65-D162-A9C9-760C-E836AEB1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>
            <a:extLst>
              <a:ext uri="{FF2B5EF4-FFF2-40B4-BE49-F238E27FC236}">
                <a16:creationId xmlns:a16="http://schemas.microsoft.com/office/drawing/2014/main" id="{5346CF80-26EC-B5C7-15D2-85CD19C6D3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402" y="831961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he-IL" dirty="0"/>
              <a:t>קורלציה,</a:t>
            </a:r>
            <a:r>
              <a:rPr lang="en-US" dirty="0"/>
              <a:t>Correlation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 lnSpcReduction="20000"/>
              </a:bodyPr>
              <a:lstStyle/>
              <a:p>
                <a:pPr marL="0" lvl="0" indent="0">
                  <a:spcBef>
                    <a:spcPts val="1080"/>
                  </a:spcBef>
                  <a:buSzPts val="2760"/>
                  <a:buNone/>
                </a:pPr>
                <a:r>
                  <a:rPr lang="he-IL" i="1" dirty="0">
                    <a:latin typeface="Cambria Math" panose="02040503050406030204" pitchFamily="18" charset="0"/>
                  </a:rPr>
                  <a:t>קורלציה היא מדד סטטיסטי שמתאר כמה חזק ובאיזה כוון שני משתנים קשורים. בלי תלות ביחידות המדידה שלהם. </a:t>
                </a:r>
                <a:r>
                  <a:rPr lang="he-IL" i="1" dirty="0">
                    <a:highlight>
                      <a:srgbClr val="FFFF00"/>
                    </a:highlight>
                    <a:latin typeface="Cambria Math" panose="02040503050406030204" pitchFamily="18" charset="0"/>
                  </a:rPr>
                  <a:t>קורלציה היא שונות משותפת מתוקננת כאשר התקנון הוא לפי סטיות התקן של המשתנים.</a:t>
                </a:r>
                <a:endParaRPr lang="he-IL" b="0" i="1" dirty="0"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lvl="0" indent="0" algn="ctr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indent="0" algn="ctr" rtl="0">
                  <a:spcBef>
                    <a:spcPts val="1080"/>
                  </a:spcBef>
                  <a:buSzPts val="276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he-IL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lang="he-IL" dirty="0"/>
              </a:p>
              <a:p>
                <a:pPr marL="0" lvl="0" indent="0" algn="l" rtl="0">
                  <a:spcBef>
                    <a:spcPts val="1080"/>
                  </a:spcBef>
                  <a:spcAft>
                    <a:spcPts val="0"/>
                  </a:spcAft>
                  <a:buSzPts val="2760"/>
                  <a:buNone/>
                </a:pPr>
                <a:endParaRPr dirty="0"/>
              </a:p>
            </p:txBody>
          </p:sp>
        </mc:Choice>
        <mc:Fallback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D59BB45E-7289-2D50-E7B8-12B21FD1EB0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4188" y="2502568"/>
                <a:ext cx="10355785" cy="3031958"/>
              </a:xfrm>
              <a:prstGeom prst="rect">
                <a:avLst/>
              </a:prstGeom>
              <a:blipFill>
                <a:blip r:embed="rId3"/>
                <a:stretch>
                  <a:fillRect r="-7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961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30B84-065E-F4F9-6688-96340ED8C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A74C4-905E-EBE2-2E09-B4715276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קורלציה (</a:t>
            </a:r>
            <a:r>
              <a:rPr lang="en-US" dirty="0"/>
              <a:t>correlation</a:t>
            </a:r>
            <a:r>
              <a:rPr lang="he-IL" dirty="0"/>
              <a:t>) השפעה (</a:t>
            </a:r>
            <a:r>
              <a:rPr lang="en-US" dirty="0"/>
              <a:t>influence</a:t>
            </a:r>
            <a:r>
              <a:rPr lang="he-IL" dirty="0"/>
              <a:t>)</a:t>
            </a:r>
            <a:r>
              <a:rPr lang="en-US" dirty="0"/>
              <a:t> </a:t>
            </a:r>
            <a:r>
              <a:rPr lang="he-IL" dirty="0"/>
              <a:t>וסיבתיות (</a:t>
            </a:r>
            <a:r>
              <a:rPr lang="en-US" dirty="0"/>
              <a:t>causality</a:t>
            </a:r>
            <a:r>
              <a:rPr lang="he-IL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D9788-C3E0-14DA-0EB2-9CB39D1D4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קורלציה – שינוי בערך של משתנה </a:t>
            </a:r>
            <a:r>
              <a:rPr lang="en-US" dirty="0"/>
              <a:t>X</a:t>
            </a:r>
            <a:r>
              <a:rPr lang="he-IL" dirty="0"/>
              <a:t> מופיע יחד עם שינוי בערך של משתנה </a:t>
            </a:r>
            <a:r>
              <a:rPr lang="en-US" dirty="0"/>
              <a:t>Y</a:t>
            </a:r>
            <a:r>
              <a:rPr lang="he-IL" dirty="0"/>
              <a:t>, אולם לא בהכרח שיש השפעה בין </a:t>
            </a:r>
            <a:r>
              <a:rPr lang="en-US" dirty="0"/>
              <a:t>X</a:t>
            </a:r>
            <a:r>
              <a:rPr lang="he-IL" dirty="0"/>
              <a:t> ל-</a:t>
            </a:r>
            <a:r>
              <a:rPr lang="en-US" dirty="0"/>
              <a:t>Y</a:t>
            </a:r>
            <a:endParaRPr lang="he-IL" dirty="0"/>
          </a:p>
          <a:p>
            <a:pPr lvl="1"/>
            <a:r>
              <a:rPr lang="he-IL" dirty="0"/>
              <a:t>דוגמא: מכירות גלידה (</a:t>
            </a:r>
            <a:r>
              <a:rPr lang="en-US" dirty="0"/>
              <a:t>X</a:t>
            </a:r>
            <a:r>
              <a:rPr lang="he-IL" dirty="0"/>
              <a:t>) ומקרי מוות מטביעה (</a:t>
            </a:r>
            <a:r>
              <a:rPr lang="en-US" dirty="0"/>
              <a:t>Y</a:t>
            </a:r>
            <a:r>
              <a:rPr lang="he-IL" dirty="0"/>
              <a:t>)</a:t>
            </a:r>
          </a:p>
          <a:p>
            <a:endParaRPr lang="he-IL" dirty="0"/>
          </a:p>
          <a:p>
            <a:r>
              <a:rPr lang="he-IL" dirty="0"/>
              <a:t>השפעה/סיבתיות – שינוי בערך של משתנה </a:t>
            </a:r>
            <a:r>
              <a:rPr lang="en-US" dirty="0"/>
              <a:t>X</a:t>
            </a:r>
            <a:r>
              <a:rPr lang="he-IL" dirty="0"/>
              <a:t> משפיע על הערך של משתנה </a:t>
            </a:r>
            <a:r>
              <a:rPr lang="en-US" dirty="0"/>
              <a:t>Y</a:t>
            </a:r>
            <a:r>
              <a:rPr lang="he-IL" dirty="0"/>
              <a:t> (דרך מנגנון שיכול להיות לא ידוע). כדי להוכיח השפעה/סיבתיות יש צורך בניסוי או מבחנים סטטיסטיים מתקדמים</a:t>
            </a:r>
          </a:p>
          <a:p>
            <a:pPr lvl="1"/>
            <a:r>
              <a:rPr lang="he-IL" dirty="0"/>
              <a:t>דוגמא: עישון (</a:t>
            </a:r>
            <a:r>
              <a:rPr lang="en-US" dirty="0"/>
              <a:t>X</a:t>
            </a:r>
            <a:r>
              <a:rPr lang="he-IL" dirty="0"/>
              <a:t>) גורם לסרטן (</a:t>
            </a:r>
            <a:r>
              <a:rPr lang="en-US" dirty="0"/>
              <a:t>Y</a:t>
            </a:r>
            <a:r>
              <a:rPr lang="he-IL" dirty="0"/>
              <a:t>)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6701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CBCC-2108-2ACF-6EF4-16D03204C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קורלציה (</a:t>
            </a:r>
            <a:r>
              <a:rPr lang="en-US" dirty="0"/>
              <a:t>correlation</a:t>
            </a:r>
            <a:r>
              <a:rPr lang="he-IL" dirty="0"/>
              <a:t>) אינה מעידה על השפעה (</a:t>
            </a:r>
            <a:r>
              <a:rPr lang="en-US" dirty="0"/>
              <a:t>influence</a:t>
            </a:r>
            <a:r>
              <a:rPr lang="he-IL" dirty="0"/>
              <a:t>)</a:t>
            </a:r>
            <a:r>
              <a:rPr lang="en-US" dirty="0"/>
              <a:t> </a:t>
            </a:r>
            <a:r>
              <a:rPr lang="he-IL" dirty="0"/>
              <a:t>/ סיבתיות (</a:t>
            </a:r>
            <a:r>
              <a:rPr lang="en-US" dirty="0"/>
              <a:t>causality</a:t>
            </a:r>
            <a:r>
              <a:rPr lang="he-IL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49DE7-D61A-DE8E-8285-EFD3DE4E9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האם זו קורלציה או השפעה</a:t>
            </a:r>
            <a:r>
              <a:rPr lang="he-IL"/>
              <a:t>/סיבתיות?</a:t>
            </a:r>
            <a:endParaRPr lang="he-IL" dirty="0"/>
          </a:p>
          <a:p>
            <a:pPr lvl="1"/>
            <a:r>
              <a:rPr lang="he-IL" dirty="0"/>
              <a:t>קשר בין גובה של הורה (</a:t>
            </a:r>
            <a:r>
              <a:rPr lang="en-US" dirty="0"/>
              <a:t>X</a:t>
            </a:r>
            <a:r>
              <a:rPr lang="he-IL" dirty="0"/>
              <a:t>) לבין גובה של צאצא (</a:t>
            </a:r>
            <a:r>
              <a:rPr lang="en-US" dirty="0"/>
              <a:t>Y</a:t>
            </a:r>
            <a:r>
              <a:rPr lang="he-IL" dirty="0"/>
              <a:t>)</a:t>
            </a:r>
          </a:p>
          <a:p>
            <a:pPr lvl="1"/>
            <a:r>
              <a:rPr lang="he-IL" dirty="0"/>
              <a:t>קשר בין גובה של צאצא (</a:t>
            </a:r>
            <a:r>
              <a:rPr lang="en-US" dirty="0"/>
              <a:t>X</a:t>
            </a:r>
            <a:r>
              <a:rPr lang="he-IL" dirty="0"/>
              <a:t>) לבין גובה של הורה (</a:t>
            </a:r>
            <a:r>
              <a:rPr lang="en-US" dirty="0"/>
              <a:t>Y</a:t>
            </a:r>
            <a:r>
              <a:rPr lang="he-IL" dirty="0"/>
              <a:t>)</a:t>
            </a:r>
          </a:p>
          <a:p>
            <a:pPr lvl="1"/>
            <a:r>
              <a:rPr lang="he-IL" dirty="0"/>
              <a:t>קשר שעות לימוד (</a:t>
            </a:r>
            <a:r>
              <a:rPr lang="en-US" dirty="0"/>
              <a:t>X</a:t>
            </a:r>
            <a:r>
              <a:rPr lang="he-IL" dirty="0"/>
              <a:t>) והצלחה בבחינה (</a:t>
            </a:r>
            <a:r>
              <a:rPr lang="en-US" dirty="0"/>
              <a:t>Y</a:t>
            </a:r>
            <a:r>
              <a:rPr lang="he-IL" dirty="0"/>
              <a:t>)</a:t>
            </a:r>
          </a:p>
          <a:p>
            <a:pPr lvl="1"/>
            <a:r>
              <a:rPr lang="he-IL" dirty="0"/>
              <a:t>קשר בין מכירות של מטריות (</a:t>
            </a:r>
            <a:r>
              <a:rPr lang="en-US" dirty="0"/>
              <a:t>X</a:t>
            </a:r>
            <a:r>
              <a:rPr lang="he-IL" dirty="0"/>
              <a:t>) לתאונות דרכים (</a:t>
            </a:r>
            <a:r>
              <a:rPr lang="en-US" dirty="0"/>
              <a:t>Y</a:t>
            </a:r>
            <a:r>
              <a:rPr lang="he-IL" dirty="0"/>
              <a:t>)</a:t>
            </a:r>
            <a:endParaRPr lang="en-US" dirty="0"/>
          </a:p>
          <a:p>
            <a:pPr lvl="1"/>
            <a:r>
              <a:rPr lang="he-IL" dirty="0"/>
              <a:t>קשר בין מספר החסידות (</a:t>
            </a:r>
            <a:r>
              <a:rPr lang="en-US" dirty="0"/>
              <a:t>X</a:t>
            </a:r>
            <a:r>
              <a:rPr lang="he-IL" dirty="0"/>
              <a:t>) למספר הילדים (</a:t>
            </a:r>
            <a:r>
              <a:rPr lang="en-US" dirty="0"/>
              <a:t>Y</a:t>
            </a:r>
            <a:r>
              <a:rPr lang="he-IL" dirty="0"/>
              <a:t>) במדינות אירופה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32611"/>
      </p:ext>
    </p:extLst>
  </p:cSld>
  <p:clrMapOvr>
    <a:masterClrMapping/>
  </p:clrMapOvr>
</p:sld>
</file>

<file path=ppt/theme/theme1.xml><?xml version="1.0" encoding="utf-8"?>
<a:theme xmlns:a="http://schemas.openxmlformats.org/drawingml/2006/main" name="אורגני">
  <a:themeElements>
    <a:clrScheme name="אורגני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383</Words>
  <Application>Microsoft Office PowerPoint</Application>
  <PresentationFormat>מסך רחב</PresentationFormat>
  <Paragraphs>42</Paragraphs>
  <Slides>7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1" baseType="lpstr">
      <vt:lpstr>Arial</vt:lpstr>
      <vt:lpstr>Garamond</vt:lpstr>
      <vt:lpstr>Cambria Math</vt:lpstr>
      <vt:lpstr>אורגני</vt:lpstr>
      <vt:lpstr>פרק 2 - בסיס סטטיסטי  2.4 יחסים בין משתנים</vt:lpstr>
      <vt:lpstr>שונות משותפת,Covariance </vt:lpstr>
      <vt:lpstr>שונות משותפת,Covariance </vt:lpstr>
      <vt:lpstr>קורלציה,Correlation </vt:lpstr>
      <vt:lpstr>קורלציה,Correlation </vt:lpstr>
      <vt:lpstr>קורלציה (correlation) השפעה (influence) וסיבתיות (causality)</vt:lpstr>
      <vt:lpstr>קורלציה (correlation) אינה מעידה על השפעה (influence) / סיבתיות (causality)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פרק 2 - בסיס סטטיסטי  2.1 מדדי מרכוז ופיזור</dc:title>
  <dc:creator>אריאל בר-יצחק</dc:creator>
  <cp:lastModifiedBy>אריאל בר-יצחק</cp:lastModifiedBy>
  <cp:revision>60</cp:revision>
  <dcterms:created xsi:type="dcterms:W3CDTF">2025-12-21T13:18:15Z</dcterms:created>
  <dcterms:modified xsi:type="dcterms:W3CDTF">2026-06-09T11:44:55Z</dcterms:modified>
</cp:coreProperties>
</file>