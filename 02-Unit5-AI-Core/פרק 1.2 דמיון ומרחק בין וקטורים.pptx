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80" r:id="rId1"/>
  </p:sldMasterIdLst>
  <p:sldIdLst>
    <p:sldId id="256" r:id="rId2"/>
    <p:sldId id="257" r:id="rId3"/>
    <p:sldId id="261" r:id="rId4"/>
    <p:sldId id="274" r:id="rId5"/>
    <p:sldId id="260" r:id="rId6"/>
    <p:sldId id="273" r:id="rId7"/>
    <p:sldId id="269" r:id="rId8"/>
    <p:sldId id="266" r:id="rId9"/>
    <p:sldId id="267" r:id="rId10"/>
    <p:sldId id="262" r:id="rId11"/>
    <p:sldId id="263" r:id="rId12"/>
    <p:sldId id="268" r:id="rId13"/>
    <p:sldId id="265" r:id="rId14"/>
    <p:sldId id="272" r:id="rId15"/>
    <p:sldId id="264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e-IL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172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96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49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2499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692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570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3225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76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22125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6629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27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493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9875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8059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251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09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156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e-IL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816EB26-0AA9-478A-9432-0EB0D2218E8A}" type="datetimeFigureOut">
              <a:rPr lang="he-IL" smtClean="0"/>
              <a:t>ל'/תשרי/תשפ"ז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27F958F-4FC4-48DD-86A9-FC5164188CB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6108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ctr" defTabSz="457200" rtl="1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uemath.com/geometry/subtracting-two-vector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axicab_geometry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Taxicab_geometry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tuitiveshorts.substack.com/p/short-12-mips-vs-mcss-maximum-inner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tuitiveshorts.substack.com/p/short-12-mips-vs-mcss-maximum-inner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tuitiveshorts.substack.com/p/short-12-mips-vs-mcss-maximum-inner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436F05-21FB-ED26-0B2A-18DD386CBF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sz="4400"/>
              <a:t>פרק 1 – בסיס מתימטי</a:t>
            </a:r>
            <a:br>
              <a:rPr lang="he-IL" sz="4400"/>
            </a:br>
            <a:r>
              <a:rPr lang="he-IL" sz="4400"/>
              <a:t>1.2 – דמיון ומרחק בין וקטורים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B222404-ED80-7733-5DF1-BE47282F17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/>
              <a:t>מאת: אריאל בר-יצחק</a:t>
            </a:r>
          </a:p>
          <a:p>
            <a:r>
              <a:rPr lang="he-IL"/>
              <a:t>ייעוץ פדגוגי: ד"ר קובי מייק</a:t>
            </a:r>
          </a:p>
        </p:txBody>
      </p:sp>
    </p:spTree>
    <p:extLst>
      <p:ext uri="{BB962C8B-B14F-4D97-AF65-F5344CB8AC3E}">
        <p14:creationId xmlns:p14="http://schemas.microsoft.com/office/powerpoint/2010/main" val="2883899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90FBDD0-6F92-88E5-9CE9-26E3A060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/>
              <a:t>חישוב מרחק בין שני וקטורים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2A1590BF-6866-B01E-34EE-807F730A04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8438" y="3338612"/>
                <a:ext cx="3943349" cy="2015070"/>
              </a:xfrm>
            </p:spPr>
            <p:txBody>
              <a:bodyPr/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 algn="l" rtl="0"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2A1590BF-6866-B01E-34EE-807F730A04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8438" y="3338612"/>
                <a:ext cx="3943349" cy="201507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תמונה 3" descr="תמונה שמכילה קו, תרשים, משולש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0F9CBE9-C26F-9FC6-9F3C-634B51EE7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02" y="2660188"/>
            <a:ext cx="2328863" cy="3088910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020A1DE1-D849-F971-2950-1D7260909D8E}"/>
              </a:ext>
            </a:extLst>
          </p:cNvPr>
          <p:cNvSpPr txBox="1"/>
          <p:nvPr/>
        </p:nvSpPr>
        <p:spPr>
          <a:xfrm>
            <a:off x="6096000" y="5564432"/>
            <a:ext cx="13670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hlinkClick r:id="rId4"/>
              </a:rPr>
              <a:t>מקור תמונה</a:t>
            </a:r>
            <a:endParaRPr lang="he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7DEDDE-CFA0-4327-AC59-2344A0E6D7E3}"/>
              </a:ext>
            </a:extLst>
          </p:cNvPr>
          <p:cNvSpPr txBox="1"/>
          <p:nvPr/>
        </p:nvSpPr>
        <p:spPr>
          <a:xfrm>
            <a:off x="594806" y="2660188"/>
            <a:ext cx="4998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מרחק בין שני וקטורים הוא הנורמה של ההפרש ביניהם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671B0A-CEF1-42BA-9E2C-03305B102CD2}"/>
              </a:ext>
            </a:extLst>
          </p:cNvPr>
          <p:cNvSpPr txBox="1"/>
          <p:nvPr/>
        </p:nvSpPr>
        <p:spPr>
          <a:xfrm>
            <a:off x="9325027" y="2521688"/>
            <a:ext cx="1631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דוגמה </a:t>
            </a:r>
            <a:r>
              <a:rPr lang="en-US" dirty="0"/>
              <a:t>L2_norm</a:t>
            </a: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085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36259-9D22-B6F4-31C0-A327DD810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C004E41-4C23-8A6F-0F1B-3BCD13D3E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חישוב מרחק </a:t>
            </a:r>
            <a:r>
              <a:rPr lang="en-US"/>
              <a:t>L2</a:t>
            </a:r>
            <a:r>
              <a:rPr lang="he-IL"/>
              <a:t> בין שני וקטורים</a:t>
            </a:r>
            <a:br>
              <a:rPr lang="he-IL"/>
            </a:b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ABA872D5-3FB6-A194-C2AB-A4DC736F98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2"/>
                <a:ext cx="4642691" cy="2015070"/>
              </a:xfrm>
            </p:spPr>
            <p:txBody>
              <a:bodyPr>
                <a:normAutofit/>
              </a:bodyPr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</m:d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l" rtl="0">
                  <a:buNone/>
                </a:pPr>
                <a:endParaRPr lang="en-US"/>
              </a:p>
              <a:p>
                <a:pPr marL="0" indent="0" algn="l" rtl="0"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ABA872D5-3FB6-A194-C2AB-A4DC736F98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2"/>
                <a:ext cx="4642691" cy="201507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AFDE1846-56A0-9EF7-8814-B85BA2BA0306}"/>
              </a:ext>
            </a:extLst>
          </p:cNvPr>
          <p:cNvSpPr txBox="1"/>
          <p:nvPr/>
        </p:nvSpPr>
        <p:spPr>
          <a:xfrm>
            <a:off x="5320458" y="5506536"/>
            <a:ext cx="13670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hlinkClick r:id="rId3"/>
              </a:rPr>
              <a:t>מקור תמונה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תיבת טקסט 5">
                <a:extLst>
                  <a:ext uri="{FF2B5EF4-FFF2-40B4-BE49-F238E27FC236}">
                    <a16:creationId xmlns:a16="http://schemas.microsoft.com/office/drawing/2014/main" id="{6B626319-8C3C-7343-E52A-5461E8D5DF1C}"/>
                  </a:ext>
                </a:extLst>
              </p:cNvPr>
              <p:cNvSpPr txBox="1"/>
              <p:nvPr/>
            </p:nvSpPr>
            <p:spPr>
              <a:xfrm>
                <a:off x="2018270" y="4316627"/>
                <a:ext cx="4338463" cy="95725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/>
                  <a:t>Green line:</a:t>
                </a:r>
              </a:p>
              <a:p>
                <a:r>
                  <a:rPr lang="en-US"/>
                  <a:t>Eucledean Distance</a:t>
                </a:r>
              </a:p>
              <a:p>
                <a:r>
                  <a:rPr lang="en-US"/>
                  <a:t>equals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72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≈8.49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6" name="תיבת טקסט 5">
                <a:extLst>
                  <a:ext uri="{FF2B5EF4-FFF2-40B4-BE49-F238E27FC236}">
                    <a16:creationId xmlns:a16="http://schemas.microsoft.com/office/drawing/2014/main" id="{6B626319-8C3C-7343-E52A-5461E8D5D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270" y="4316627"/>
                <a:ext cx="4338463" cy="957250"/>
              </a:xfrm>
              <a:prstGeom prst="rect">
                <a:avLst/>
              </a:prstGeom>
              <a:blipFill>
                <a:blip r:embed="rId5"/>
                <a:stretch>
                  <a:fillRect l="-1124" t="-3185" b="-95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1B274BF-0773-4362-8637-397D87455F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066" y="2556932"/>
            <a:ext cx="2819398" cy="281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89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2FDB8-DA32-C9E9-E1D1-EAE144C18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94370E4-149F-2D4F-2A6F-CF8900E61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חישוב מרחק </a:t>
            </a:r>
            <a:r>
              <a:rPr lang="en-US"/>
              <a:t>L2</a:t>
            </a:r>
            <a:r>
              <a:rPr lang="he-IL"/>
              <a:t> בין שני וקטורים</a:t>
            </a:r>
            <a:br>
              <a:rPr lang="he-IL"/>
            </a:br>
            <a:r>
              <a:rPr lang="he-IL">
                <a:solidFill>
                  <a:schemeClr val="accent3"/>
                </a:solidFill>
              </a:rPr>
              <a:t>דוגמה חישובית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41ACA0F8-2F23-94E1-1AAA-1A3DB38744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2"/>
                <a:ext cx="4241333" cy="2015070"/>
              </a:xfrm>
            </p:spPr>
            <p:txBody>
              <a:bodyPr>
                <a:normAutofit/>
              </a:bodyPr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</m:d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l" rtl="0">
                  <a:buNone/>
                </a:pPr>
                <a:endParaRPr lang="en-US"/>
              </a:p>
              <a:p>
                <a:pPr marL="0" indent="0" algn="l" rtl="0"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41ACA0F8-2F23-94E1-1AAA-1A3DB38744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2"/>
                <a:ext cx="4241333" cy="201507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ציין מיקום תוכן 2">
                <a:extLst>
                  <a:ext uri="{FF2B5EF4-FFF2-40B4-BE49-F238E27FC236}">
                    <a16:creationId xmlns:a16="http://schemas.microsoft.com/office/drawing/2014/main" id="{EF753A9D-CE7E-A4C6-4526-9B3B5A5078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61612" y="2651301"/>
                <a:ext cx="5534986" cy="2960934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85750" indent="-2857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2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20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8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6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rtl="0">
                  <a:buFont typeface="Arial"/>
                  <a:buNone/>
                </a:pPr>
                <a:r>
                  <a:rPr lang="en-US"/>
                  <a:t>u=(-1.0,3.0,2.0)</a:t>
                </a:r>
              </a:p>
              <a:p>
                <a:pPr marL="0" indent="0" algn="ctr" rtl="0">
                  <a:buFont typeface="Arial"/>
                  <a:buNone/>
                </a:pPr>
                <a:r>
                  <a:rPr lang="en-US"/>
                  <a:t>v=(1.0,-4.0,-2.0)</a:t>
                </a:r>
              </a:p>
              <a:p>
                <a:pPr marL="0" indent="0" algn="ctr" rtl="0">
                  <a:buFont typeface="Arial"/>
                  <a:buNone/>
                </a:pPr>
                <a:r>
                  <a:rPr lang="en-US"/>
                  <a:t>u-v = (-2.0, 7.0, 4.0)</a:t>
                </a:r>
              </a:p>
              <a:p>
                <a:pPr marL="0" indent="0" algn="ctr" rtl="0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−2.0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7.0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4.0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marL="0" indent="0" algn="ctr" rtl="0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4.0+49.0+16.0</m:t>
                          </m:r>
                        </m:e>
                      </m:ra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69.0</m:t>
                          </m:r>
                        </m:e>
                      </m:ra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8.31</m:t>
                      </m:r>
                    </m:oMath>
                  </m:oMathPara>
                </a14:m>
                <a:endParaRPr lang="en-US"/>
              </a:p>
              <a:p>
                <a:pPr marL="0" indent="0" algn="ctr" rtl="0">
                  <a:buFont typeface="Arial"/>
                  <a:buNone/>
                </a:pPr>
                <a:endParaRPr lang="en-US"/>
              </a:p>
              <a:p>
                <a:pPr marL="0" indent="0" algn="ctr" rtl="0">
                  <a:buFont typeface="Arial"/>
                  <a:buNone/>
                </a:pPr>
                <a:endParaRPr lang="en-US"/>
              </a:p>
              <a:p>
                <a:pPr marL="0" indent="0" algn="ctr" rtl="0">
                  <a:buFont typeface="Arial"/>
                  <a:buNone/>
                </a:pPr>
                <a:endParaRPr lang="en-US"/>
              </a:p>
              <a:p>
                <a:pPr marL="0" indent="0" algn="ctr" rtl="0">
                  <a:buFont typeface="Arial"/>
                  <a:buNone/>
                </a:pPr>
                <a:endParaRPr lang="en-US"/>
              </a:p>
              <a:p>
                <a:pPr marL="0" indent="0" algn="ctr" rtl="0">
                  <a:buFont typeface="Arial"/>
                  <a:buNone/>
                </a:pPr>
                <a:endParaRPr lang="en-US"/>
              </a:p>
              <a:p>
                <a:pPr marL="0" indent="0" algn="l" rtl="0">
                  <a:buFont typeface="Arial"/>
                  <a:buNone/>
                </a:pPr>
                <a:endParaRPr lang="en-US"/>
              </a:p>
              <a:p>
                <a:pPr marL="0" indent="0" algn="l" rtl="0">
                  <a:buFont typeface="Arial"/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4" name="מציין מיקום תוכן 2">
                <a:extLst>
                  <a:ext uri="{FF2B5EF4-FFF2-40B4-BE49-F238E27FC236}">
                    <a16:creationId xmlns:a16="http://schemas.microsoft.com/office/drawing/2014/main" id="{EF753A9D-CE7E-A4C6-4526-9B3B5A507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612" y="2651301"/>
                <a:ext cx="5534986" cy="2960934"/>
              </a:xfrm>
              <a:prstGeom prst="rect">
                <a:avLst/>
              </a:prstGeom>
              <a:blipFill>
                <a:blip r:embed="rId3"/>
                <a:stretch>
                  <a:fillRect t="-164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5970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2C1C8-8427-9C20-E0AB-4F0967BE0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EC2277F-28CA-4207-D0B5-334A0EC79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חישוב מרחק </a:t>
            </a:r>
            <a:r>
              <a:rPr lang="en-US"/>
              <a:t>L1</a:t>
            </a:r>
            <a:r>
              <a:rPr lang="he-IL"/>
              <a:t> בין שני וקטורים</a:t>
            </a:r>
            <a:br>
              <a:rPr lang="he-IL"/>
            </a:b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2A15D20E-B7EB-B4AF-6DFB-47F64E4A78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8795" y="2691139"/>
                <a:ext cx="4874740" cy="1493683"/>
              </a:xfrm>
            </p:spPr>
            <p:txBody>
              <a:bodyPr>
                <a:normAutofit/>
              </a:bodyPr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 algn="l" rtl="0">
                  <a:buNone/>
                </a:pPr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l" rtl="0">
                  <a:buNone/>
                </a:pPr>
                <a:endParaRPr lang="en-US"/>
              </a:p>
              <a:p>
                <a:pPr marL="0" indent="0" algn="l" rtl="0"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2A15D20E-B7EB-B4AF-6DFB-47F64E4A78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8795" y="2691139"/>
                <a:ext cx="4874740" cy="149368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 descr="תמונה שמכילה קו, תרשים, מקביל, מלב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F181F39-0AF8-5CFA-78C7-08FA0C032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284" y="2691139"/>
            <a:ext cx="2695446" cy="2671853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94E72E21-3275-19C2-7701-2EF12B14C3E4}"/>
              </a:ext>
            </a:extLst>
          </p:cNvPr>
          <p:cNvSpPr txBox="1"/>
          <p:nvPr/>
        </p:nvSpPr>
        <p:spPr>
          <a:xfrm>
            <a:off x="2018270" y="4316627"/>
            <a:ext cx="4338463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/>
              <a:t>Red, blue and yellow lines:</a:t>
            </a:r>
          </a:p>
          <a:p>
            <a:r>
              <a:rPr lang="en-US"/>
              <a:t>Taxicab Distance / Manhattan Distance</a:t>
            </a:r>
          </a:p>
          <a:p>
            <a:r>
              <a:rPr lang="en-US"/>
              <a:t>All equal 12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5AAF33BA-6566-D48E-1CF9-6147BDEAEC48}"/>
              </a:ext>
            </a:extLst>
          </p:cNvPr>
          <p:cNvSpPr txBox="1"/>
          <p:nvPr/>
        </p:nvSpPr>
        <p:spPr>
          <a:xfrm>
            <a:off x="5320458" y="5506536"/>
            <a:ext cx="13670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hlinkClick r:id="rId4"/>
              </a:rPr>
              <a:t>מקור תמונה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95705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475F7-EC5A-0E41-DA69-FA0C6D98A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DD2415E-DF6C-D195-D83E-98AB9762B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חישוב מרחק </a:t>
            </a:r>
            <a:r>
              <a:rPr lang="en-US"/>
              <a:t>L1</a:t>
            </a:r>
            <a:r>
              <a:rPr lang="he-IL"/>
              <a:t> בין שני וקטורים</a:t>
            </a:r>
            <a:br>
              <a:rPr lang="he-IL"/>
            </a:br>
            <a:r>
              <a:rPr lang="he-IL">
                <a:solidFill>
                  <a:schemeClr val="accent3"/>
                </a:solidFill>
              </a:rPr>
              <a:t>דוגמה חישובית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9AC6665A-BB2D-06BA-A098-5A2332939C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2"/>
                <a:ext cx="3998052" cy="1704675"/>
              </a:xfrm>
            </p:spPr>
            <p:txBody>
              <a:bodyPr>
                <a:normAutofit/>
              </a:bodyPr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ctr" rtl="0">
                  <a:buNone/>
                </a:pPr>
                <a:endParaRPr lang="en-US"/>
              </a:p>
              <a:p>
                <a:pPr marL="0" indent="0" algn="l" rtl="0">
                  <a:buNone/>
                </a:pPr>
                <a:endParaRPr lang="en-US"/>
              </a:p>
              <a:p>
                <a:pPr marL="0" indent="0" algn="l" rtl="0"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9AC6665A-BB2D-06BA-A098-5A2332939C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2"/>
                <a:ext cx="3998052" cy="17046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ציין מיקום תוכן 2">
                <a:extLst>
                  <a:ext uri="{FF2B5EF4-FFF2-40B4-BE49-F238E27FC236}">
                    <a16:creationId xmlns:a16="http://schemas.microsoft.com/office/drawing/2014/main" id="{EF8C84F1-4A1D-7226-7B1C-AE6CF2EA4A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12042" y="2747237"/>
                <a:ext cx="4917478" cy="2386825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85750" indent="-2857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2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20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8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6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rtl="0">
                  <a:buFont typeface="Arial"/>
                  <a:buNone/>
                </a:pPr>
                <a:r>
                  <a:rPr lang="en-US"/>
                  <a:t>u=(-1.0,3.0,2.0)</a:t>
                </a:r>
              </a:p>
              <a:p>
                <a:pPr marL="0" indent="0" algn="ctr" rtl="0">
                  <a:buFont typeface="Arial"/>
                  <a:buNone/>
                </a:pPr>
                <a:r>
                  <a:rPr lang="en-US"/>
                  <a:t>v=(1.0,-4.0,-2.0)</a:t>
                </a:r>
              </a:p>
              <a:p>
                <a:pPr marL="0" indent="0" algn="ctr" rtl="0">
                  <a:buFont typeface="Arial"/>
                  <a:buNone/>
                </a:pPr>
                <a:r>
                  <a:rPr lang="en-US"/>
                  <a:t>u-v = (-2.0, 7.0, 4.0)</a:t>
                </a:r>
              </a:p>
              <a:p>
                <a:pPr marL="0" indent="0" algn="ctr" rtl="0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−2.0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7.0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4.0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=2.0+7.0+4.0=13.0</m:t>
                      </m:r>
                    </m:oMath>
                  </m:oMathPara>
                </a14:m>
                <a:endParaRPr lang="en-US"/>
              </a:p>
              <a:p>
                <a:pPr marL="0" indent="0" algn="ctr" rtl="0">
                  <a:buFont typeface="Arial"/>
                  <a:buNone/>
                </a:pPr>
                <a:endParaRPr lang="en-US"/>
              </a:p>
              <a:p>
                <a:pPr marL="0" indent="0" algn="ctr" rtl="0">
                  <a:buFont typeface="Arial"/>
                  <a:buNone/>
                </a:pPr>
                <a:endParaRPr lang="en-US"/>
              </a:p>
              <a:p>
                <a:pPr marL="0" indent="0" algn="ctr" rtl="0">
                  <a:buFont typeface="Arial"/>
                  <a:buNone/>
                </a:pPr>
                <a:endParaRPr lang="en-US"/>
              </a:p>
              <a:p>
                <a:pPr marL="0" indent="0" algn="ctr" rtl="0">
                  <a:buFont typeface="Arial"/>
                  <a:buNone/>
                </a:pPr>
                <a:endParaRPr lang="en-US"/>
              </a:p>
              <a:p>
                <a:pPr marL="0" indent="0" algn="ctr" rtl="0">
                  <a:buFont typeface="Arial"/>
                  <a:buNone/>
                </a:pPr>
                <a:endParaRPr lang="en-US"/>
              </a:p>
              <a:p>
                <a:pPr marL="0" indent="0" algn="ctr" rtl="0">
                  <a:buFont typeface="Arial"/>
                  <a:buNone/>
                </a:pPr>
                <a:endParaRPr lang="en-US"/>
              </a:p>
              <a:p>
                <a:pPr marL="0" indent="0" algn="l" rtl="0">
                  <a:buFont typeface="Arial"/>
                  <a:buNone/>
                </a:pPr>
                <a:endParaRPr lang="en-US"/>
              </a:p>
              <a:p>
                <a:pPr marL="0" indent="0" algn="l" rtl="0">
                  <a:buFont typeface="Arial"/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4" name="מציין מיקום תוכן 2">
                <a:extLst>
                  <a:ext uri="{FF2B5EF4-FFF2-40B4-BE49-F238E27FC236}">
                    <a16:creationId xmlns:a16="http://schemas.microsoft.com/office/drawing/2014/main" id="{EF8C84F1-4A1D-7226-7B1C-AE6CF2EA4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042" y="2747237"/>
                <a:ext cx="4917478" cy="2386825"/>
              </a:xfrm>
              <a:prstGeom prst="rect">
                <a:avLst/>
              </a:prstGeom>
              <a:blipFill>
                <a:blip r:embed="rId3"/>
                <a:stretch>
                  <a:fillRect t="-204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097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C94DB-3182-F111-DFC7-49D68ADCE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59B1A2-6BA3-84B2-A4CB-CF4192977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Inner product similarity</a:t>
            </a:r>
            <a:br>
              <a:rPr lang="en-US"/>
            </a:br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4D5E9D6C-C081-04B8-1750-E06E44E8D6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3"/>
                <a:ext cx="6077464" cy="2599954"/>
              </a:xfrm>
            </p:spPr>
            <p:txBody>
              <a:bodyPr>
                <a:normAutofit/>
              </a:bodyPr>
              <a:lstStyle/>
              <a:p>
                <a:pPr marL="0" indent="0" algn="r">
                  <a:buNone/>
                </a:pPr>
                <a:r>
                  <a:rPr lang="he-IL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אופן החישוב:</a:t>
                </a: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inner_sim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dot_product(u,v)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he-IL">
                    <a:latin typeface="Cambria Math" panose="02040503050406030204" pitchFamily="18" charset="0"/>
                    <a:ea typeface="Cambria Math" panose="02040503050406030204" pitchFamily="18" charset="0"/>
                  </a:rPr>
                  <a:t>משמעות גיאומטרית</a:t>
                </a:r>
                <a:r>
                  <a:rPr lang="he-IL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</a:t>
                </a:r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inner_sim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r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4D5E9D6C-C081-04B8-1750-E06E44E8D6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3"/>
                <a:ext cx="6077464" cy="2599954"/>
              </a:xfrm>
              <a:blipFill>
                <a:blip r:embed="rId2"/>
                <a:stretch>
                  <a:fillRect t="-1874" r="-160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 descr="תמונה שמכילה טקסט, קו, גופן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F61DE9E-3FD3-14CF-D023-B8AA4F9B0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591" y="2726210"/>
            <a:ext cx="2799706" cy="3220019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D0A4F93-45C8-E5C2-93F2-AB24044B9850}"/>
              </a:ext>
            </a:extLst>
          </p:cNvPr>
          <p:cNvSpPr txBox="1"/>
          <p:nvPr/>
        </p:nvSpPr>
        <p:spPr>
          <a:xfrm>
            <a:off x="4857750" y="5506536"/>
            <a:ext cx="13670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hlinkClick r:id="rId4"/>
              </a:rPr>
              <a:t>מקור תמונה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36881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53A92-461C-5464-B194-2CDAED267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152767-FF03-E140-3FA4-13DA39CD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Inner product similarity</a:t>
            </a:r>
            <a:br>
              <a:rPr lang="he-IL"/>
            </a:br>
            <a:endParaRPr lang="he-IL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10B86B43-79E1-B4DA-1785-8A916D57A0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3"/>
                <a:ext cx="6077464" cy="259995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l" rtl="0">
                  <a:buNone/>
                </a:pPr>
                <a:r>
                  <a:rPr lang="en-US"/>
                  <a:t>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inner_sim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/>
              </a:p>
              <a:p>
                <a:r>
                  <a:rPr lang="he-IL"/>
                  <a:t>גדל כאשר הוקטורים מצביעים לכוונים דומים (זוית קטנה).</a:t>
                </a:r>
              </a:p>
              <a:p>
                <a:r>
                  <a:rPr lang="he-IL"/>
                  <a:t>גדל כאשר הוקטורים מתארכים</a:t>
                </a:r>
              </a:p>
              <a:p>
                <a:r>
                  <a:rPr lang="he-IL"/>
                  <a:t>לסיכום: </a:t>
                </a:r>
              </a:p>
              <a:p>
                <a:pPr lvl="1"/>
                <a:r>
                  <a:rPr lang="he-IL"/>
                  <a:t>יכול לשמש כמידת דמיון בין וקטורים</a:t>
                </a:r>
              </a:p>
              <a:p>
                <a:pPr lvl="1"/>
                <a:r>
                  <a:rPr lang="he-IL"/>
                  <a:t>מתחשב בגודל וגם בזוית בין הוקטורים</a:t>
                </a:r>
                <a:endParaRPr lang="en-US"/>
              </a:p>
              <a:p>
                <a:pPr marL="0" indent="0" algn="l" rtl="0"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10B86B43-79E1-B4DA-1785-8A916D57A0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3"/>
                <a:ext cx="6077464" cy="2599954"/>
              </a:xfrm>
              <a:blipFill>
                <a:blip r:embed="rId2"/>
                <a:stretch>
                  <a:fillRect r="-1606" b="-93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 descr="תמונה שמכילה טקסט, קו, גופן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8BD7476-A97A-0A69-C5DA-14640E46D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591" y="2726210"/>
            <a:ext cx="2799706" cy="3220019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A4510F0-C289-28AB-DA05-E1CE214E092E}"/>
              </a:ext>
            </a:extLst>
          </p:cNvPr>
          <p:cNvSpPr txBox="1"/>
          <p:nvPr/>
        </p:nvSpPr>
        <p:spPr>
          <a:xfrm>
            <a:off x="4857750" y="5506536"/>
            <a:ext cx="13670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hlinkClick r:id="rId4"/>
              </a:rPr>
              <a:t>מקור תמונה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43906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EC10B-27AC-A6B1-062B-6BB7EAF01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F254EB8-7979-36CA-2163-9BE9367EA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Inner product similarity</a:t>
            </a:r>
            <a:br>
              <a:rPr lang="he-IL"/>
            </a:br>
            <a:r>
              <a:rPr lang="he-IL">
                <a:solidFill>
                  <a:schemeClr val="accent3"/>
                </a:solidFill>
              </a:rPr>
              <a:t>משמעות התוצאות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8BA61032-1ACD-2A1F-B0DF-8F4A0D4A2A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2"/>
                <a:ext cx="6202190" cy="2653243"/>
              </a:xfrm>
            </p:spPr>
            <p:txBody>
              <a:bodyPr>
                <a:normAutofit/>
              </a:bodyPr>
              <a:lstStyle/>
              <a:p>
                <a:pPr marL="0" indent="0" algn="l" rtl="0">
                  <a:buNone/>
                </a:pPr>
                <a:r>
                  <a:rPr lang="en-US"/>
                  <a:t>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inner_sim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algn="r"/>
                <a:r>
                  <a:rPr lang="he-IL"/>
                  <a:t>מספר חיובי: הוקטורים בכוונים דומים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&lt;90°</m:t>
                    </m:r>
                  </m:oMath>
                </a14:m>
                <a:endParaRPr lang="he-IL"/>
              </a:p>
              <a:p>
                <a:r>
                  <a:rPr lang="he-IL"/>
                  <a:t>אפס: הוקטורים מאונכים זה לזה </a:t>
                </a:r>
                <a14:m>
                  <m:oMath xmlns:m="http://schemas.openxmlformats.org/officeDocument/2006/math">
                    <m:r>
                      <a:rPr lang="he-I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he-I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=90°</m:t>
                    </m:r>
                  </m:oMath>
                </a14:m>
                <a:endParaRPr lang="he-IL"/>
              </a:p>
              <a:p>
                <a:r>
                  <a:rPr lang="he-IL"/>
                  <a:t>שלילי: הוקטורים בכוונים מנוגדים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 panose="02040503050406030204" pitchFamily="18" charset="0"/>
                      </a:rPr>
                      <m:t>90</m:t>
                    </m:r>
                    <m:r>
                      <a:rPr lang="he-I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≤180°</m:t>
                    </m:r>
                  </m:oMath>
                </a14:m>
                <a:endParaRPr lang="en-US"/>
              </a:p>
              <a:p>
                <a:pPr marL="0" indent="0" algn="l" rtl="0"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8BA61032-1ACD-2A1F-B0DF-8F4A0D4A2A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2"/>
                <a:ext cx="6202190" cy="2653243"/>
              </a:xfrm>
              <a:blipFill>
                <a:blip r:embed="rId2"/>
                <a:stretch>
                  <a:fillRect r="-177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 descr="תמונה שמכילה טקסט, קו, גופן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D5BC343-B7FB-02FA-9C9A-16A6A8AAD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591" y="2726210"/>
            <a:ext cx="2799706" cy="3220019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7E2334D6-1D23-F85E-014F-99BBCE0224F8}"/>
              </a:ext>
            </a:extLst>
          </p:cNvPr>
          <p:cNvSpPr txBox="1"/>
          <p:nvPr/>
        </p:nvSpPr>
        <p:spPr>
          <a:xfrm>
            <a:off x="4857750" y="5506536"/>
            <a:ext cx="13670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hlinkClick r:id="rId4"/>
              </a:rPr>
              <a:t>מקור תמונה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65113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B2F8CF6-BA9C-A1DD-DF0E-BB6B8D8A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Inner product similarity</a:t>
            </a:r>
            <a:br>
              <a:rPr lang="en-US"/>
            </a:br>
            <a:r>
              <a:rPr lang="he-IL">
                <a:solidFill>
                  <a:schemeClr val="accent3"/>
                </a:solidFill>
              </a:rPr>
              <a:t>דוגמה חישובית</a:t>
            </a:r>
            <a:r>
              <a:rPr lang="en-US"/>
              <a:t> </a:t>
            </a: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F163462-B538-40FD-500A-A670C40291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inner_sim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dot_product(u,v)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 rtl="0">
                  <a:buNone/>
                </a:pPr>
                <a:r>
                  <a:rPr lang="en-US"/>
                  <a:t>u=(2.0,1.0,-3.0)</a:t>
                </a:r>
              </a:p>
              <a:p>
                <a:pPr marL="0" indent="0" algn="ctr" rtl="0">
                  <a:buNone/>
                </a:pPr>
                <a:r>
                  <a:rPr lang="en-US"/>
                  <a:t>v=(-3.0,4.0,-5.0)</a:t>
                </a:r>
              </a:p>
              <a:p>
                <a:pPr marL="0" indent="0" algn="ctr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=−6.0+4.0+15.0=13.0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  <a:p>
                <a:pPr marL="0" indent="0" algn="l" rtl="0"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5F163462-B538-40FD-500A-A670C40291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4239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7CE7BEC-C630-1F44-7546-B272B4C1F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Cosine similarity</a:t>
            </a:r>
            <a:br>
              <a:rPr lang="he-IL"/>
            </a:b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107E8492-0E26-5CE8-BC6F-36FE8E03E6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2"/>
                <a:ext cx="6010274" cy="291994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 smtClean="0"/>
                        <m:t>cos_sim</m:t>
                      </m:r>
                      <m:r>
                        <m:rPr>
                          <m:nor/>
                        </m:rPr>
                        <a:rPr lang="en-US" b="0" i="0" smtClean="0"/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b="0">
                  <a:ea typeface="Cambria Math" panose="02040503050406030204" pitchFamily="18" charset="0"/>
                </a:endParaRPr>
              </a:p>
              <a:p>
                <a:r>
                  <a:rPr lang="he-IL"/>
                  <a:t>גדל כאשר הוקטורים מצביעים לכוונים דומים (זוית קטנה).</a:t>
                </a:r>
              </a:p>
              <a:p>
                <a:r>
                  <a:rPr lang="he-IL"/>
                  <a:t>אינו תלוי באורך הוקטורים</a:t>
                </a:r>
              </a:p>
              <a:p>
                <a:r>
                  <a:rPr lang="he-IL"/>
                  <a:t>לסיכום: </a:t>
                </a:r>
              </a:p>
              <a:p>
                <a:pPr lvl="1"/>
                <a:r>
                  <a:rPr lang="he-IL"/>
                  <a:t>יכול לשמש כמידת דמיון בין וקטורים</a:t>
                </a:r>
              </a:p>
              <a:p>
                <a:pPr lvl="1"/>
                <a:r>
                  <a:rPr lang="he-IL"/>
                  <a:t>מתחשב בזוית בין הוקטורים בלבד</a:t>
                </a:r>
                <a:endParaRPr lang="en-US"/>
              </a:p>
              <a:p>
                <a:pPr marL="0" indent="0" algn="r">
                  <a:buNone/>
                </a:pPr>
                <a:endParaRPr lang="he-IL"/>
              </a:p>
              <a:p>
                <a:pPr marL="0" indent="0" algn="l" rtl="0"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107E8492-0E26-5CE8-BC6F-36FE8E03E6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2"/>
                <a:ext cx="6010274" cy="2919943"/>
              </a:xfrm>
              <a:blipFill>
                <a:blip r:embed="rId2"/>
                <a:stretch>
                  <a:fillRect r="-162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 descr="תמונה שמכילה טקסט, קו, גופן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ADBECC0-80A8-5A5A-D65B-4BF27A297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897" y="1233487"/>
            <a:ext cx="293370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67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A39D7-3605-CBF5-1520-7AA42982B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454B850-5834-7F62-FE58-3FB050105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Cosine similarity</a:t>
            </a:r>
            <a:br>
              <a:rPr lang="he-IL"/>
            </a:br>
            <a:r>
              <a:rPr lang="he-IL">
                <a:solidFill>
                  <a:schemeClr val="accent3"/>
                </a:solidFill>
              </a:rPr>
              <a:t>משמעות התוצאות</a:t>
            </a: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DC1B9C00-DC4B-6EEA-2F9E-17FE18A03D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2"/>
                <a:ext cx="6010274" cy="2919943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 smtClean="0"/>
                        <m:t>cos_sim</m:t>
                      </m:r>
                      <m:r>
                        <m:rPr>
                          <m:nor/>
                        </m:rPr>
                        <a:rPr lang="en-US" b="0" i="0" smtClean="0"/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he-IL" dirty="0"/>
                  <a:t>התוצאה מנורמלת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≤1</m:t>
                        </m:r>
                      </m:e>
                    </m:func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he-IL" dirty="0"/>
                  <a:t>1: </a:t>
                </a:r>
                <a:r>
                  <a:rPr lang="he-IL" dirty="0" err="1"/>
                  <a:t>הוקטורים</a:t>
                </a:r>
                <a:r>
                  <a:rPr lang="he-IL" dirty="0"/>
                  <a:t> בכוונים זהים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=0°</m:t>
                    </m:r>
                  </m:oMath>
                </a14:m>
                <a:endParaRPr lang="he-IL" dirty="0"/>
              </a:p>
              <a:p>
                <a:r>
                  <a:rPr lang="he-IL" dirty="0"/>
                  <a:t>בין 0 ל 1: </a:t>
                </a:r>
                <a:r>
                  <a:rPr lang="he-IL" dirty="0" err="1"/>
                  <a:t>הוקטורים</a:t>
                </a:r>
                <a:r>
                  <a:rPr lang="he-IL" dirty="0"/>
                  <a:t> בכוונים דומים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&lt;90°</m:t>
                    </m:r>
                  </m:oMath>
                </a14:m>
                <a:endParaRPr lang="he-IL" dirty="0"/>
              </a:p>
              <a:p>
                <a:r>
                  <a:rPr lang="he-IL" dirty="0"/>
                  <a:t>0: </a:t>
                </a:r>
                <a:r>
                  <a:rPr lang="he-IL" dirty="0" err="1"/>
                  <a:t>הוקטורים</a:t>
                </a:r>
                <a:r>
                  <a:rPr lang="he-IL" dirty="0"/>
                  <a:t> מאונכים זה לזה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=90°</m:t>
                    </m:r>
                  </m:oMath>
                </a14:m>
                <a:endParaRPr lang="he-IL" dirty="0"/>
              </a:p>
              <a:p>
                <a:r>
                  <a:rPr lang="he-IL" dirty="0"/>
                  <a:t>בין 0 ל 1-: </a:t>
                </a:r>
                <a:r>
                  <a:rPr lang="he-IL" dirty="0" err="1"/>
                  <a:t>הוקטורים</a:t>
                </a:r>
                <a:r>
                  <a:rPr lang="he-IL" dirty="0"/>
                  <a:t> בכוונים מנוגדים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90</m:t>
                    </m:r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180°</m:t>
                    </m:r>
                  </m:oMath>
                </a14:m>
                <a:endParaRPr lang="he-IL" dirty="0"/>
              </a:p>
              <a:p>
                <a:r>
                  <a:rPr lang="he-IL" dirty="0"/>
                  <a:t>1-: </a:t>
                </a:r>
                <a:r>
                  <a:rPr lang="he-IL" dirty="0" err="1"/>
                  <a:t>הוקטורים</a:t>
                </a:r>
                <a:r>
                  <a:rPr lang="he-IL" dirty="0"/>
                  <a:t> בכוונים הפוכים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=180°</m:t>
                    </m:r>
                  </m:oMath>
                </a14:m>
                <a:endParaRPr lang="he-IL" dirty="0"/>
              </a:p>
              <a:p>
                <a:endParaRPr lang="en-US" dirty="0"/>
              </a:p>
              <a:p>
                <a:pPr marL="0" indent="0" algn="r">
                  <a:buNone/>
                </a:pPr>
                <a:endParaRPr lang="he-IL" dirty="0"/>
              </a:p>
              <a:p>
                <a:pPr marL="0" indent="0" algn="l" rtl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DC1B9C00-DC4B-6EEA-2F9E-17FE18A03D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2"/>
                <a:ext cx="6010274" cy="2919943"/>
              </a:xfrm>
              <a:blipFill>
                <a:blip r:embed="rId2"/>
                <a:stretch>
                  <a:fillRect r="-1320" b="-104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 descr="תמונה שמכילה טקסט, קו, גופן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0C2FDF3-7B39-4D39-0804-96C46A9E6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897" y="1233487"/>
            <a:ext cx="293370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256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EC67C-4A9A-255F-64EC-E6A71BCD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7C6D95D-A694-0F52-9F6D-AA59DBEEE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Cosine similarity</a:t>
            </a:r>
            <a:br>
              <a:rPr lang="en-US"/>
            </a:br>
            <a:r>
              <a:rPr lang="he-IL">
                <a:solidFill>
                  <a:schemeClr val="accent3"/>
                </a:solidFill>
              </a:rPr>
              <a:t>דוגמה חישובית</a:t>
            </a: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77682C71-FFB2-9885-31A7-46DFCED5F4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39470" y="2638917"/>
                <a:ext cx="6184083" cy="2785460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 algn="ctr" rtl="0">
                  <a:buNone/>
                </a:pPr>
                <a:r>
                  <a:rPr lang="en-US" sz="2800" b="0">
                    <a:ea typeface="Cambria Math" panose="02040503050406030204" pitchFamily="18" charset="0"/>
                  </a:rPr>
                  <a:t>u-v = (5.0,-3.0,2.0)</a:t>
                </a:r>
              </a:p>
              <a:p>
                <a:pPr marL="0" indent="0" algn="ctr" rtl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4.0+1.0+9.0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 algn="ctr" rtl="0">
                  <a:buNone/>
                </a:pPr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14.0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.74</m:t>
                      </m:r>
                    </m:oMath>
                  </m:oMathPara>
                </a14:m>
                <a:endParaRPr lang="en-US"/>
              </a:p>
              <a:p>
                <a:pPr marL="0" indent="0" algn="ctr" rtl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9.0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16.0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25.0</m:t>
                          </m:r>
                        </m:e>
                      </m:rad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 algn="ctr" rtl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50.0</m:t>
                          </m:r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7.07</m:t>
                      </m:r>
                    </m:oMath>
                  </m:oMathPara>
                </a14:m>
                <a:endParaRPr lang="en-US"/>
              </a:p>
              <a:p>
                <a:pPr marL="0" indent="0" algn="ctr" rtl="0">
                  <a:buNone/>
                </a:pPr>
                <a:r>
                  <a:rPr lang="en-US"/>
                  <a:t>cos_sim(u,v)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13.0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3.74∙7.07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he-IL"/>
              </a:p>
              <a:p>
                <a:pPr marL="0" indent="0" algn="l" rtl="0"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77682C71-FFB2-9885-31A7-46DFCED5F4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39470" y="2638917"/>
                <a:ext cx="6184083" cy="2785460"/>
              </a:xfrm>
              <a:blipFill>
                <a:blip r:embed="rId2"/>
                <a:stretch>
                  <a:fillRect t="-284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ציין מיקום תוכן 2">
                <a:extLst>
                  <a:ext uri="{FF2B5EF4-FFF2-40B4-BE49-F238E27FC236}">
                    <a16:creationId xmlns:a16="http://schemas.microsoft.com/office/drawing/2014/main" id="{852FFFB8-F06B-7205-08B0-CEDAFB088B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0513" y="2638917"/>
                <a:ext cx="5615729" cy="2466675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85750" indent="-2857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2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20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8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6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 rtl="0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 smtClean="0"/>
                        <m:t>cos_sim(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 algn="ctr" rtl="0">
                  <a:buFont typeface="Arial"/>
                  <a:buNone/>
                </a:pPr>
                <a:r>
                  <a:rPr lang="en-US" dirty="0"/>
                  <a:t>u=(2.0,1.0,-3.0)</a:t>
                </a:r>
              </a:p>
              <a:p>
                <a:pPr marL="0" indent="0" algn="ctr" rtl="0">
                  <a:buFont typeface="Arial"/>
                  <a:buNone/>
                </a:pPr>
                <a:r>
                  <a:rPr lang="en-US" dirty="0"/>
                  <a:t>v=(-3.0,4.0,-5.0)</a:t>
                </a:r>
              </a:p>
              <a:p>
                <a:pPr marL="0" indent="0" algn="ctr" rtl="0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∙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=−6.0+4.0+15.0=13.0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l" rtl="0">
                  <a:buFont typeface="Arial"/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4" name="מציין מיקום תוכן 2">
                <a:extLst>
                  <a:ext uri="{FF2B5EF4-FFF2-40B4-BE49-F238E27FC236}">
                    <a16:creationId xmlns:a16="http://schemas.microsoft.com/office/drawing/2014/main" id="{852FFFB8-F06B-7205-08B0-CEDAFB088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13" y="2638917"/>
                <a:ext cx="5615729" cy="24666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מציין מיקום תוכן 2">
                <a:extLst>
                  <a:ext uri="{FF2B5EF4-FFF2-40B4-BE49-F238E27FC236}">
                    <a16:creationId xmlns:a16="http://schemas.microsoft.com/office/drawing/2014/main" id="{F8496768-57D7-6CE2-8C1E-B30673B8E4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97028" y="3429000"/>
                <a:ext cx="9601196" cy="3318936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 fontScale="70000" lnSpcReduction="20000"/>
              </a:bodyPr>
              <a:lstStyle>
                <a:lvl1pPr marL="285750" indent="-2857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2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20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8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6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r" defTabSz="457200" rtl="1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SzPct val="115000"/>
                  <a:buFont typeface="Arial"/>
                  <a:buChar char="•"/>
                  <a:defRPr sz="1400" kern="1200" cap="none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 rtl="0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 smtClean="0"/>
                        <m:t>cos_sim(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/>
              </a:p>
              <a:p>
                <a:pPr marL="0" indent="0" algn="ctr" rtl="0">
                  <a:buFont typeface="Arial"/>
                  <a:buNone/>
                </a:pPr>
                <a:r>
                  <a:rPr lang="en-US"/>
                  <a:t>u=(2.0,1.0,-3.0)</a:t>
                </a:r>
              </a:p>
              <a:p>
                <a:pPr marL="0" indent="0" algn="ctr" rtl="0">
                  <a:buFont typeface="Arial"/>
                  <a:buNone/>
                </a:pPr>
                <a:r>
                  <a:rPr lang="en-US"/>
                  <a:t>v=(-3.0,4.0,-5.0)</a:t>
                </a:r>
              </a:p>
              <a:p>
                <a:pPr marL="0" indent="0" algn="ctr" rtl="0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∙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=−6.0+4.0+15.0=13.0</m:t>
                      </m:r>
                    </m:oMath>
                  </m:oMathPara>
                </a14:m>
                <a:endParaRPr lang="en-US">
                  <a:ea typeface="Cambria Math" panose="02040503050406030204" pitchFamily="18" charset="0"/>
                </a:endParaRPr>
              </a:p>
              <a:p>
                <a:pPr marL="0" indent="0" algn="ctr" rtl="0">
                  <a:buFont typeface="Arial"/>
                  <a:buNone/>
                </a:pPr>
                <a:r>
                  <a:rPr lang="en-US">
                    <a:ea typeface="Cambria Math" panose="02040503050406030204" pitchFamily="18" charset="0"/>
                  </a:rPr>
                  <a:t>u-v = (5.0,-3.0,2.0)</a:t>
                </a:r>
              </a:p>
              <a:p>
                <a:pPr marL="0" indent="0" algn="ctr" rtl="0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4.0+1.0+9.0</m:t>
                          </m:r>
                        </m:e>
                      </m:ra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14.0</m:t>
                          </m:r>
                        </m:e>
                      </m:ra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≈3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.74</m:t>
                      </m:r>
                    </m:oMath>
                  </m:oMathPara>
                </a14:m>
                <a:endParaRPr lang="en-US"/>
              </a:p>
              <a:p>
                <a:pPr marL="0" indent="0" algn="ctr" rtl="0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9.0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16.0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25.0</m:t>
                          </m:r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50.0</m:t>
                          </m:r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7.07</m:t>
                      </m:r>
                    </m:oMath>
                  </m:oMathPara>
                </a14:m>
                <a:endParaRPr lang="en-US"/>
              </a:p>
              <a:p>
                <a:pPr marL="0" indent="0" algn="ctr" rtl="0">
                  <a:buFont typeface="Arial"/>
                  <a:buNone/>
                </a:pPr>
                <a:r>
                  <a:rPr lang="en-US"/>
                  <a:t>cos_sim(u,v)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13.0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3.74∙7.07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≈0.49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he-IL"/>
              </a:p>
              <a:p>
                <a:pPr marL="0" indent="0" algn="l" rtl="0">
                  <a:buFont typeface="Arial"/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5" name="מציין מיקום תוכן 2">
                <a:extLst>
                  <a:ext uri="{FF2B5EF4-FFF2-40B4-BE49-F238E27FC236}">
                    <a16:creationId xmlns:a16="http://schemas.microsoft.com/office/drawing/2014/main" id="{F8496768-57D7-6CE2-8C1E-B30673B8E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7028" y="3429000"/>
                <a:ext cx="9601196" cy="3318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838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084D5-2D70-1621-3C91-2209D150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AA5599C-EF44-CC40-36B7-406917FE1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Cosine distance</a:t>
            </a:r>
            <a:br>
              <a:rPr lang="he-IL"/>
            </a:b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47779566-0B8A-42EC-DF23-3D4ED90950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2"/>
                <a:ext cx="7816515" cy="3318936"/>
              </a:xfrm>
            </p:spPr>
            <p:txBody>
              <a:bodyPr>
                <a:normAutofit lnSpcReduction="10000"/>
              </a:bodyPr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=1 −</m:t>
                      </m:r>
                      <m:r>
                        <m:rPr>
                          <m:nor/>
                        </m:rPr>
                        <a:rPr lang="en-US" i="0"/>
                        <m:t>cos_sim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=1 −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b="0">
                  <a:ea typeface="Cambria Math" panose="02040503050406030204" pitchFamily="18" charset="0"/>
                </a:endParaRPr>
              </a:p>
              <a:p>
                <a:r>
                  <a:rPr lang="he-IL"/>
                  <a:t>התוצאה מנורמלת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≤2</m:t>
                        </m:r>
                      </m:e>
                    </m:func>
                  </m:oMath>
                </a14:m>
                <a:endParaRPr lang="he-IL">
                  <a:ea typeface="Cambria Math" panose="02040503050406030204" pitchFamily="18" charset="0"/>
                </a:endParaRPr>
              </a:p>
              <a:p>
                <a:r>
                  <a:rPr lang="he-IL"/>
                  <a:t>גדל כאשר הוקטורים מצביעים לכוונים מנוגדים (זוית גדולה).</a:t>
                </a:r>
              </a:p>
              <a:p>
                <a:r>
                  <a:rPr lang="he-IL"/>
                  <a:t>אינו תלוי באורך הוקטורים</a:t>
                </a:r>
              </a:p>
              <a:p>
                <a:r>
                  <a:rPr lang="he-IL"/>
                  <a:t>לסיכום: </a:t>
                </a:r>
              </a:p>
              <a:p>
                <a:pPr lvl="1"/>
                <a:r>
                  <a:rPr lang="he-IL"/>
                  <a:t>יכול לשמש כמידת מרחק בין וקטורים</a:t>
                </a:r>
              </a:p>
              <a:p>
                <a:pPr lvl="1"/>
                <a:r>
                  <a:rPr lang="he-IL"/>
                  <a:t>מתחשב בזוית בין הוקטורים בלבד.</a:t>
                </a:r>
                <a:endParaRPr lang="en-US"/>
              </a:p>
              <a:p>
                <a:pPr marL="0" indent="0">
                  <a:buNone/>
                </a:pPr>
                <a:endParaRPr lang="he-IL"/>
              </a:p>
              <a:p>
                <a:pPr marL="0" indent="0" algn="ctr">
                  <a:buNone/>
                </a:pPr>
                <a:endParaRPr lang="en-US"/>
              </a:p>
              <a:p>
                <a:pPr marL="0" indent="0" algn="ctr">
                  <a:buNone/>
                </a:pPr>
                <a:endParaRPr lang="en-US"/>
              </a:p>
              <a:p>
                <a:pPr marL="0" indent="0" algn="l" rtl="0"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47779566-0B8A-42EC-DF23-3D4ED90950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2"/>
                <a:ext cx="7816515" cy="3318936"/>
              </a:xfrm>
              <a:blipFill>
                <a:blip r:embed="rId2"/>
                <a:stretch>
                  <a:fillRect r="-140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035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FE7519E-B62D-CCC5-0492-6F9E69F36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Cosine distance</a:t>
            </a:r>
            <a:br>
              <a:rPr lang="he-IL"/>
            </a:br>
            <a:r>
              <a:rPr lang="he-IL">
                <a:solidFill>
                  <a:schemeClr val="accent3"/>
                </a:solidFill>
              </a:rPr>
              <a:t>משמעות התוצאות</a:t>
            </a: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344244DB-F225-690A-C5B8-4A5FE293BE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1" y="2556932"/>
                <a:ext cx="7816515" cy="331893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=1 −</m:t>
                      </m:r>
                      <m:r>
                        <m:rPr>
                          <m:nor/>
                        </m:rPr>
                        <a:rPr lang="en-US" i="0"/>
                        <m:t>cos_sim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=1 −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he-IL" dirty="0"/>
                  <a:t>התוצאה מנורמלת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func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he-IL" dirty="0"/>
                  <a:t>0: </a:t>
                </a:r>
                <a:r>
                  <a:rPr lang="he-IL" dirty="0" err="1"/>
                  <a:t>הוקטורים</a:t>
                </a:r>
                <a:r>
                  <a:rPr lang="he-IL" dirty="0"/>
                  <a:t> בכוונים זהים </a:t>
                </a:r>
                <a14:m>
                  <m:oMath xmlns:m="http://schemas.openxmlformats.org/officeDocument/2006/math">
                    <m:r>
                      <a:rPr lang="he-I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he-I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=0°</m:t>
                    </m:r>
                  </m:oMath>
                </a14:m>
                <a:endParaRPr lang="he-IL" dirty="0"/>
              </a:p>
              <a:p>
                <a:r>
                  <a:rPr lang="he-IL" dirty="0"/>
                  <a:t>בין 0 ל-1: </a:t>
                </a:r>
                <a:r>
                  <a:rPr lang="he-IL" dirty="0" err="1"/>
                  <a:t>הוקטורים</a:t>
                </a:r>
                <a:r>
                  <a:rPr lang="he-IL" dirty="0"/>
                  <a:t> בכוונים דומים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&lt;90°</m:t>
                    </m:r>
                  </m:oMath>
                </a14:m>
                <a:endParaRPr lang="he-IL" dirty="0"/>
              </a:p>
              <a:p>
                <a:r>
                  <a:rPr lang="he-IL" dirty="0"/>
                  <a:t>1: </a:t>
                </a:r>
                <a:r>
                  <a:rPr lang="he-IL" dirty="0" err="1"/>
                  <a:t>הוקטורים</a:t>
                </a:r>
                <a:r>
                  <a:rPr lang="he-IL" dirty="0"/>
                  <a:t> מאונכים זה לזה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=90°</m:t>
                    </m:r>
                  </m:oMath>
                </a14:m>
                <a:endParaRPr lang="he-IL" dirty="0"/>
              </a:p>
              <a:p>
                <a:r>
                  <a:rPr lang="he-IL" dirty="0"/>
                  <a:t>בין 1 ל 2: </a:t>
                </a:r>
                <a:r>
                  <a:rPr lang="he-IL" dirty="0" err="1"/>
                  <a:t>הוקטורים</a:t>
                </a:r>
                <a:r>
                  <a:rPr lang="he-IL" dirty="0"/>
                  <a:t> בכוונים מנוגדים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&lt;180°</m:t>
                    </m:r>
                  </m:oMath>
                </a14:m>
                <a:endParaRPr lang="he-IL" dirty="0"/>
              </a:p>
              <a:p>
                <a:r>
                  <a:rPr lang="he-IL" dirty="0"/>
                  <a:t>2: </a:t>
                </a:r>
                <a:r>
                  <a:rPr lang="he-IL" dirty="0" err="1"/>
                  <a:t>הוקטורים</a:t>
                </a:r>
                <a:r>
                  <a:rPr lang="he-IL" dirty="0"/>
                  <a:t> בכוונים הפוכים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he-I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=180°</m:t>
                    </m:r>
                  </m:oMath>
                </a14:m>
                <a:endParaRPr lang="he-IL" dirty="0"/>
              </a:p>
              <a:p>
                <a:endParaRPr lang="he-IL" dirty="0"/>
              </a:p>
              <a:p>
                <a:pPr marL="0" indent="0">
                  <a:buNone/>
                </a:pPr>
                <a:endParaRPr lang="he-IL" dirty="0"/>
              </a:p>
              <a:p>
                <a:pPr marL="0" indent="0">
                  <a:buNone/>
                </a:pPr>
                <a:endParaRPr lang="he-IL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l" rtl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344244DB-F225-690A-C5B8-4A5FE293BE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1" y="2556932"/>
                <a:ext cx="7816515" cy="3318936"/>
              </a:xfrm>
              <a:blipFill>
                <a:blip r:embed="rId2"/>
                <a:stretch>
                  <a:fillRect r="-117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3641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6F5B1-8503-40BD-E345-E26FC7F89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9E87A05-DD92-3C44-6425-B94F93188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Cosine distance</a:t>
            </a:r>
            <a:br>
              <a:rPr lang="he-IL"/>
            </a:br>
            <a:r>
              <a:rPr lang="he-IL">
                <a:solidFill>
                  <a:schemeClr val="accent3"/>
                </a:solidFill>
              </a:rPr>
              <a:t>דוגמה חישובית</a:t>
            </a: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F785AE3B-FE94-E26E-8A77-9AE804DF8B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=1 −</m:t>
                      </m:r>
                      <m:r>
                        <m:rPr>
                          <m:nor/>
                        </m:rPr>
                        <a:rPr lang="en-US" i="0"/>
                        <m:t>cos_sim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=1 −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/>
              </a:p>
              <a:p>
                <a:pPr marL="0" indent="0" algn="ctr" rtl="0">
                  <a:buNone/>
                </a:pPr>
                <a:r>
                  <a:rPr lang="en-US"/>
                  <a:t>u=(2.0,1.0,-3.0)</a:t>
                </a:r>
              </a:p>
              <a:p>
                <a:pPr marL="0" indent="0" algn="ctr" rtl="0">
                  <a:buNone/>
                </a:pPr>
                <a:r>
                  <a:rPr lang="en-US"/>
                  <a:t>v=(-3.0,4.0,-5.0)</a:t>
                </a:r>
              </a:p>
              <a:p>
                <a:pPr marL="0" indent="0" algn="ctr" rtl="0">
                  <a:buNone/>
                </a:pPr>
                <a:r>
                  <a:rPr lang="en-US"/>
                  <a:t>cos_sim(u,v)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≈0.49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/>
              </a:p>
              <a:p>
                <a:pPr marL="0" indent="0" algn="ctr" rtl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𝑐𝑜𝑠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0.49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/>
                  <a:t>0.51</a:t>
                </a:r>
                <a:endParaRPr lang="he-IL"/>
              </a:p>
              <a:p>
                <a:pPr marL="0" indent="0" algn="l" rtl="0">
                  <a:buNone/>
                </a:pPr>
                <a:endParaRPr lang="he-IL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344244DB-F225-690A-C5B8-4A5FE293BE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4484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6ACC37-61AA-0C3B-5E15-E78541CDB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סיכום כללי</a:t>
            </a:r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A3D2D88E-3FDC-4121-FEA6-5E4A82C4C6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6313495"/>
              </p:ext>
            </p:extLst>
          </p:nvPr>
        </p:nvGraphicFramePr>
        <p:xfrm>
          <a:off x="1817784" y="2557462"/>
          <a:ext cx="9078816" cy="30349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269704">
                  <a:extLst>
                    <a:ext uri="{9D8B030D-6E8A-4147-A177-3AD203B41FA5}">
                      <a16:colId xmlns:a16="http://schemas.microsoft.com/office/drawing/2014/main" val="3176082267"/>
                    </a:ext>
                  </a:extLst>
                </a:gridCol>
                <a:gridCol w="2269704">
                  <a:extLst>
                    <a:ext uri="{9D8B030D-6E8A-4147-A177-3AD203B41FA5}">
                      <a16:colId xmlns:a16="http://schemas.microsoft.com/office/drawing/2014/main" val="4261534168"/>
                    </a:ext>
                  </a:extLst>
                </a:gridCol>
                <a:gridCol w="2269704">
                  <a:extLst>
                    <a:ext uri="{9D8B030D-6E8A-4147-A177-3AD203B41FA5}">
                      <a16:colId xmlns:a16="http://schemas.microsoft.com/office/drawing/2014/main" val="2564208747"/>
                    </a:ext>
                  </a:extLst>
                </a:gridCol>
                <a:gridCol w="2269704">
                  <a:extLst>
                    <a:ext uri="{9D8B030D-6E8A-4147-A177-3AD203B41FA5}">
                      <a16:colId xmlns:a16="http://schemas.microsoft.com/office/drawing/2014/main" val="3791568584"/>
                    </a:ext>
                  </a:extLst>
                </a:gridCol>
              </a:tblGrid>
              <a:tr h="478976"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מדד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סוג המדד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הגודל קובע?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הכוון קובע?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939972"/>
                  </a:ext>
                </a:extLst>
              </a:tr>
              <a:tr h="478976">
                <a:tc>
                  <a:txBody>
                    <a:bodyPr/>
                    <a:lstStyle/>
                    <a:p>
                      <a:pPr algn="ctr" rtl="1"/>
                      <a:r>
                        <a:rPr lang="en-US"/>
                        <a:t>L1 Distance</a:t>
                      </a:r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מרחק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202022"/>
                  </a:ext>
                </a:extLst>
              </a:tr>
              <a:tr h="478976"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L2 Distance</a:t>
                      </a:r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מרחק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044990"/>
                  </a:ext>
                </a:extLst>
              </a:tr>
              <a:tr h="478976">
                <a:tc>
                  <a:txBody>
                    <a:bodyPr/>
                    <a:lstStyle/>
                    <a:p>
                      <a:pPr algn="ctr" rtl="1"/>
                      <a:r>
                        <a:rPr lang="en-US"/>
                        <a:t>Inner product similarity</a:t>
                      </a:r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דמיון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כן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81119"/>
                  </a:ext>
                </a:extLst>
              </a:tr>
              <a:tr h="478976">
                <a:tc>
                  <a:txBody>
                    <a:bodyPr/>
                    <a:lstStyle/>
                    <a:p>
                      <a:pPr algn="ctr" rtl="1"/>
                      <a:r>
                        <a:rPr lang="en-US"/>
                        <a:t>Cosine similarity</a:t>
                      </a:r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דמיון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כן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619532"/>
                  </a:ext>
                </a:extLst>
              </a:tr>
              <a:tr h="478976">
                <a:tc>
                  <a:txBody>
                    <a:bodyPr/>
                    <a:lstStyle/>
                    <a:p>
                      <a:pPr algn="ctr" rtl="1"/>
                      <a:r>
                        <a:rPr lang="en-US"/>
                        <a:t>Cosine Distance</a:t>
                      </a:r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מרחק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כן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095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237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אורגני">
  <a:themeElements>
    <a:clrScheme name="אורגני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אורגני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אורגני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1070</TotalTime>
  <Words>846</Words>
  <Application>Microsoft Office PowerPoint</Application>
  <PresentationFormat>מסך רחב</PresentationFormat>
  <Paragraphs>176</Paragraphs>
  <Slides>17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1" baseType="lpstr">
      <vt:lpstr>Arial</vt:lpstr>
      <vt:lpstr>Cambria Math</vt:lpstr>
      <vt:lpstr>Garamond</vt:lpstr>
      <vt:lpstr>אורגני</vt:lpstr>
      <vt:lpstr>פרק 1 – בסיס מתימטי 1.2 – דמיון ומרחק בין וקטורים</vt:lpstr>
      <vt:lpstr>חישוב מרחק בין שני וקטורים</vt:lpstr>
      <vt:lpstr>חישוב מרחק L2 בין שני וקטורים </vt:lpstr>
      <vt:lpstr>חישוב מרחק L2 בין שני וקטורים דוגמה חישובית</vt:lpstr>
      <vt:lpstr>חישוב מרחק L1 בין שני וקטורים </vt:lpstr>
      <vt:lpstr>חישוב מרחק L1 בין שני וקטורים דוגמה חישובית</vt:lpstr>
      <vt:lpstr>Inner product similarity </vt:lpstr>
      <vt:lpstr>Inner product similarity </vt:lpstr>
      <vt:lpstr>Inner product similarity משמעות התוצאות</vt:lpstr>
      <vt:lpstr>Inner product similarity דוגמה חישובית </vt:lpstr>
      <vt:lpstr>Cosine similarity </vt:lpstr>
      <vt:lpstr>Cosine similarity משמעות התוצאות</vt:lpstr>
      <vt:lpstr>Cosine similarity דוגמה חישובית</vt:lpstr>
      <vt:lpstr>Cosine distance </vt:lpstr>
      <vt:lpstr>Cosine distance משמעות התוצאות</vt:lpstr>
      <vt:lpstr>Cosine distance דוגמה חישובית</vt:lpstr>
      <vt:lpstr>סיכום כללי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פרק 1 – בסיס מתימטי 1.2 – דמיון ומרחק בין וקטורים</dc:title>
  <dc:creator>אריאל בר-יצחק</dc:creator>
  <cp:lastModifiedBy>אריאל דוד בר יצחק</cp:lastModifiedBy>
  <cp:revision>50</cp:revision>
  <dcterms:created xsi:type="dcterms:W3CDTF">2025-12-21T13:18:15Z</dcterms:created>
  <dcterms:modified xsi:type="dcterms:W3CDTF">2026-10-11T15:20:00Z</dcterms:modified>
</cp:coreProperties>
</file>