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80" r:id="rId1"/>
  </p:sldMasterIdLst>
  <p:sldIdLst>
    <p:sldId id="256" r:id="rId2"/>
    <p:sldId id="284" r:id="rId3"/>
    <p:sldId id="283" r:id="rId4"/>
    <p:sldId id="282" r:id="rId5"/>
    <p:sldId id="258" r:id="rId6"/>
    <p:sldId id="280" r:id="rId7"/>
    <p:sldId id="257" r:id="rId8"/>
    <p:sldId id="274" r:id="rId9"/>
    <p:sldId id="263" r:id="rId10"/>
    <p:sldId id="275" r:id="rId11"/>
    <p:sldId id="264" r:id="rId12"/>
    <p:sldId id="265" r:id="rId13"/>
    <p:sldId id="276" r:id="rId14"/>
    <p:sldId id="266" r:id="rId15"/>
    <p:sldId id="277" r:id="rId16"/>
    <p:sldId id="259" r:id="rId17"/>
    <p:sldId id="270" r:id="rId18"/>
    <p:sldId id="260" r:id="rId19"/>
    <p:sldId id="271" r:id="rId20"/>
    <p:sldId id="272" r:id="rId21"/>
    <p:sldId id="261" r:id="rId22"/>
    <p:sldId id="273" r:id="rId23"/>
    <p:sldId id="262" r:id="rId24"/>
    <p:sldId id="267" r:id="rId25"/>
    <p:sldId id="278" r:id="rId26"/>
    <p:sldId id="279" r:id="rId27"/>
    <p:sldId id="26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7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96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49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249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69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57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322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7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212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629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27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93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9875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805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25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9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15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16EB26-0AA9-478A-9432-0EB0D2218E8A}" type="datetimeFigureOut">
              <a:rPr lang="he-IL" smtClean="0"/>
              <a:t>כ"ד/תשרי/תשפ"ז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08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thinsight.org/vectors_cartesian_coordinates_2d_3d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.wikipedia.org/wiki/%D7%A7%D7%95%D7%91%D7%A5:3D_Vector.svg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hyperlink" Target="https://www.cuemath.com/geometry/subtracting-two-vectors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Scalar_multiplication" TargetMode="Externa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scienceparichay.com/article/numpy-elementwise-multiplication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hortle.ccsu.edu/vectorlessons/vch04/vch04_4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ortle.ccsu.edu/vectorlessons/vch04/vch04_4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h.libretexts.org/Bookshelves/Precalculus/Precalculus_1e_%28OpenStax%29/08%3A_Further_Applications_of_Trigonometry/8.03%3A_Polar_Coordinates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uemath.com/geometry/polar-coordinates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ikihow.com/Normalize-a-Vector" TargetMode="Externa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66436F05-21FB-ED26-0B2A-18DD386CBF9D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he-IL"/>
                  <a:t>פרק 1 – בסיס מתימטי</a:t>
                </a:r>
                <a:br>
                  <a:rPr lang="he-IL"/>
                </a:br>
                <a:r>
                  <a:rPr lang="he-IL"/>
                  <a:t>1.1 – 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/>
                  <a:t> </a:t>
                </a:r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66436F05-21FB-ED26-0B2A-18DD386CB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t="-27309" b="-2530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B222404-ED80-7733-5DF1-BE47282F17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מאת: אריאל בר-יצחק</a:t>
            </a:r>
          </a:p>
          <a:p>
            <a:r>
              <a:rPr lang="he-IL"/>
              <a:t>ייעוץ פדגוגי: ד"ר קובי מייק</a:t>
            </a:r>
          </a:p>
        </p:txBody>
      </p:sp>
    </p:spTree>
    <p:extLst>
      <p:ext uri="{BB962C8B-B14F-4D97-AF65-F5344CB8AC3E}">
        <p14:creationId xmlns:p14="http://schemas.microsoft.com/office/powerpoint/2010/main" val="288389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EF6822-02BA-9B51-54A2-F848AD50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מוטיבציה </a:t>
            </a:r>
            <a:r>
              <a:rPr lang="he-IL" dirty="0" err="1"/>
              <a:t>לוקטורים</a:t>
            </a:r>
            <a:r>
              <a:rPr lang="he-IL" dirty="0"/>
              <a:t> ביחידה 5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5883F1D-EFA4-942C-9CA8-46544BCD7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רשומת נתונים מיוצגת ע"י וקטור</a:t>
            </a:r>
          </a:p>
          <a:p>
            <a:r>
              <a:rPr lang="he-IL" dirty="0"/>
              <a:t>מאגר נתונים מיוצג ע"י מטריצה</a:t>
            </a:r>
          </a:p>
          <a:p>
            <a:r>
              <a:rPr lang="he-IL" dirty="0"/>
              <a:t>מרחק בין רשומות נתונים מחושב כמרחק </a:t>
            </a:r>
            <a:r>
              <a:rPr lang="he-IL" dirty="0" err="1"/>
              <a:t>וקטורי</a:t>
            </a:r>
            <a:endParaRPr lang="he-IL" dirty="0"/>
          </a:p>
          <a:p>
            <a:r>
              <a:rPr lang="he-IL" dirty="0"/>
              <a:t>דמיון בין רשומות נתונים מחושב כדמיון </a:t>
            </a:r>
            <a:r>
              <a:rPr lang="he-IL" dirty="0" err="1"/>
              <a:t>וקטורי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186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93BD-2688-56CD-E0D6-D4A99BB02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C1B583-4DF6-66A8-545A-7C40E7B8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דוגמה</a:t>
            </a:r>
            <a:br>
              <a:rPr lang="he-IL" dirty="0"/>
            </a:br>
            <a:r>
              <a:rPr lang="en-US" dirty="0"/>
              <a:t>Student Profile Dataset</a:t>
            </a:r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196AE7B-6B2C-5F83-9C05-5914F6B4A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02" y="2866809"/>
            <a:ext cx="9061596" cy="246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5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69C357-5B0D-04C3-716B-187EDC7F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A07944-725B-0720-8248-78ACE9B1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דוגמה</a:t>
            </a:r>
            <a:br>
              <a:rPr lang="he-IL" dirty="0"/>
            </a:br>
            <a:r>
              <a:rPr lang="en-US" dirty="0"/>
              <a:t>Student Profile Dataset</a:t>
            </a:r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24C98707-FD34-DCED-9620-69B799E92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57" y="2642934"/>
            <a:ext cx="6996643" cy="334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1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1D48-99F3-FCBB-0189-B700E4DA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1FCF0AC6-7998-7597-640F-CB5F0EEAE28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/>
                  <a:t>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1FCF0AC6-7998-7597-640F-CB5F0EEAE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4E83A44-E078-8DDD-31E7-44969F2F3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</a:t>
                </a:r>
                <a:r>
                  <a:rPr lang="he-IL" dirty="0"/>
                  <a:t> הוא סט המספרים הממשיים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/>
                  <a:t> רשימה סדורה של שני מספרים ממשיים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he-IL" dirty="0"/>
                  <a:t>מה וקטור מייצג</a:t>
                </a:r>
              </a:p>
              <a:p>
                <a:pPr lvl="1"/>
                <a:r>
                  <a:rPr lang="he-IL" dirty="0"/>
                  <a:t>קואורדינטה, נקודה במרחב דו ממדי (תזוזה מראשית הצירים)</a:t>
                </a:r>
              </a:p>
              <a:p>
                <a:pPr lvl="1"/>
                <a:r>
                  <a:rPr lang="he-IL" dirty="0"/>
                  <a:t>תזוזה במרחב דו ממדי</a:t>
                </a:r>
              </a:p>
              <a:p>
                <a:pPr lvl="1"/>
                <a:r>
                  <a:rPr lang="he-IL" dirty="0"/>
                  <a:t>וקטור נתונים עם שני מאפיינים</a:t>
                </a:r>
              </a:p>
              <a:p>
                <a:pPr marL="457200" lvl="1" indent="0">
                  <a:buNone/>
                </a:pPr>
                <a:endParaRPr lang="he-IL" dirty="0"/>
              </a:p>
              <a:p>
                <a:pPr marL="457200" lvl="1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4E83A44-E078-8DDD-31E7-44969F2F3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3853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כחול, כחול חשמלי, חשיכה, ליל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6C75960F-2B2B-07CF-5510-BFF370D93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70" y="2871788"/>
            <a:ext cx="2594698" cy="1457374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2773185-A02C-3352-AC9C-A2C9BE5E9FE5}"/>
              </a:ext>
            </a:extLst>
          </p:cNvPr>
          <p:cNvSpPr txBox="1"/>
          <p:nvPr/>
        </p:nvSpPr>
        <p:spPr>
          <a:xfrm>
            <a:off x="8999144" y="5942568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5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8026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1D48-99F3-FCBB-0189-B700E4DA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1FCF0AC6-7998-7597-640F-CB5F0EEAE28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/>
                  <a:t>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1FCF0AC6-7998-7597-640F-CB5F0EEAE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4E83A44-E078-8DDD-31E7-44969F2F3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</a:t>
                </a:r>
                <a:r>
                  <a:rPr lang="he-IL" dirty="0"/>
                  <a:t> הוא סט המספרים הממשיים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he-IL" dirty="0"/>
                  <a:t> רשימה סדורה של שלושה מספרים ממשיים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he-IL" dirty="0"/>
              </a:p>
              <a:p>
                <a:r>
                  <a:rPr lang="he-IL" dirty="0"/>
                  <a:t>מה וקטור מייצג</a:t>
                </a:r>
              </a:p>
              <a:p>
                <a:pPr lvl="1"/>
                <a:r>
                  <a:rPr lang="he-IL" dirty="0"/>
                  <a:t>קואורדינטה, נקודה במרחב תלת ממדי (תזוזה מראשית הצירים)</a:t>
                </a:r>
              </a:p>
              <a:p>
                <a:pPr lvl="1"/>
                <a:r>
                  <a:rPr lang="he-IL" dirty="0"/>
                  <a:t>תזוזה במרחב תלת ממדי</a:t>
                </a:r>
              </a:p>
              <a:p>
                <a:pPr lvl="1"/>
                <a:r>
                  <a:rPr lang="he-IL" dirty="0"/>
                  <a:t>וקטור נתונים עם שלושה מאפיינים</a:t>
                </a:r>
              </a:p>
              <a:p>
                <a:pPr lvl="1"/>
                <a:endParaRPr lang="he-IL" dirty="0"/>
              </a:p>
              <a:p>
                <a:pPr marL="457200" lvl="1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4E83A44-E078-8DDD-31E7-44969F2F3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3853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תמונה 5" descr="תמונה שמכילה צילום מסך, קו, קל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C8D6A0DE-03F3-5C79-B3FE-6F231DF06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357" y="2556932"/>
            <a:ext cx="2953693" cy="2796778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8420583-C8E9-743C-D108-25FAA050F00F}"/>
              </a:ext>
            </a:extLst>
          </p:cNvPr>
          <p:cNvSpPr txBox="1"/>
          <p:nvPr/>
        </p:nvSpPr>
        <p:spPr>
          <a:xfrm>
            <a:off x="8999144" y="5942568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5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014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B90FBDD0-6F92-88E5-9CE9-26E3A060AD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/>
                  <a:t>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B90FBDD0-6F92-88E5-9CE9-26E3A060A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A1590BF-6866-B01E-34EE-807F730A0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r"/>
                <a:r>
                  <a:rPr lang="en-US" dirty="0"/>
                  <a:t>R</a:t>
                </a:r>
                <a:r>
                  <a:rPr lang="he-IL" dirty="0"/>
                  <a:t> הוא סט המספרים הממשיים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/>
                  <a:t> רשימה סדורה של מספרים ממשיים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he-IL" dirty="0"/>
              </a:p>
              <a:p>
                <a:r>
                  <a:rPr lang="he-IL" dirty="0"/>
                  <a:t>מה וקטור מייצג</a:t>
                </a:r>
              </a:p>
              <a:p>
                <a:pPr lvl="1"/>
                <a:r>
                  <a:rPr lang="he-IL" dirty="0"/>
                  <a:t>נקודה במרחב </a:t>
                </a:r>
                <a:r>
                  <a:rPr lang="en-US" dirty="0"/>
                  <a:t>n</a:t>
                </a:r>
                <a:r>
                  <a:rPr lang="he-IL" dirty="0"/>
                  <a:t> ממדי (תזוזה מראשית הצירים)</a:t>
                </a:r>
              </a:p>
              <a:p>
                <a:pPr lvl="1"/>
                <a:r>
                  <a:rPr lang="he-IL" dirty="0"/>
                  <a:t>תזוזה במרחב </a:t>
                </a:r>
                <a:r>
                  <a:rPr lang="en-US" dirty="0"/>
                  <a:t>n</a:t>
                </a:r>
                <a:r>
                  <a:rPr lang="he-IL" dirty="0"/>
                  <a:t> ממדי</a:t>
                </a:r>
              </a:p>
              <a:p>
                <a:pPr lvl="1"/>
                <a:r>
                  <a:rPr lang="he-IL" dirty="0"/>
                  <a:t>וקטור נתונים עם </a:t>
                </a:r>
                <a:r>
                  <a:rPr lang="en-US" dirty="0"/>
                  <a:t>n</a:t>
                </a:r>
                <a:r>
                  <a:rPr lang="he-IL" dirty="0"/>
                  <a:t> מאפיינים</a:t>
                </a:r>
              </a:p>
              <a:p>
                <a:pPr marL="457200" lvl="1" indent="0">
                  <a:buNone/>
                </a:pPr>
                <a:endParaRPr lang="he-IL" dirty="0"/>
              </a:p>
              <a:p>
                <a:pPr marL="457200" lvl="1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A1590BF-6866-B01E-34EE-807F730A0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3853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08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F88C42B9-100F-FFB9-CAC2-4184164522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חיבור וחיסור 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/>
                  <a:t> </a:t>
                </a:r>
                <a:br>
                  <a:rPr lang="he-IL"/>
                </a:br>
                <a:endParaRPr lang="he-IL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F88C42B9-100F-FFB9-CAC2-418416452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4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FD779AC-F51F-7965-CC81-70641D979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2552" y="2918102"/>
                <a:ext cx="6105524" cy="1844398"/>
              </a:xfrm>
            </p:spPr>
            <p:txBody>
              <a:bodyPr>
                <a:normAutofit fontScale="925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FD779AC-F51F-7965-CC81-70641D979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2552" y="2918102"/>
                <a:ext cx="6105524" cy="18443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D4BF578-40EC-CDCE-9144-A2CADBBEE2BA}"/>
              </a:ext>
            </a:extLst>
          </p:cNvPr>
          <p:cNvSpPr txBox="1"/>
          <p:nvPr/>
        </p:nvSpPr>
        <p:spPr>
          <a:xfrm>
            <a:off x="9596673" y="5846544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  <p:pic>
        <p:nvPicPr>
          <p:cNvPr id="7" name="תמונה 6" descr="תמונה שמכילה קו, תרשים, משול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0F56789-FA72-9655-C950-7112C061E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337" y="2786958"/>
            <a:ext cx="2328863" cy="308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1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F88C42B9-100F-FFB9-CAC2-4184164522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חיבור וחיסור 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/>
                  <a:t> </a:t>
                </a:r>
                <a:br>
                  <a:rPr lang="he-IL"/>
                </a:br>
                <a:r>
                  <a:rPr lang="he-IL">
                    <a:solidFill>
                      <a:srgbClr val="0070C0"/>
                    </a:solidFill>
                  </a:rPr>
                  <a:t>דוגמה חישובית</a:t>
                </a:r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F88C42B9-100F-FFB9-CAC2-418416452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411" b="-205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FD779AC-F51F-7965-CC81-70641D979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−5.0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−1.0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−3.0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2.0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 algn="l" rtl="0">
                  <a:buNone/>
                </a:pPr>
                <a:endParaRPr lang="en-US" b="1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2.0,−8.0,−2.0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/>
              </a:p>
              <a:p>
                <a:pPr marL="0" indent="0" algn="ctr" rtl="0">
                  <a:buNone/>
                </a:pPr>
                <a:r>
                  <a:rPr lang="en-US" b="1"/>
                  <a:t>Numpy: </a:t>
                </a:r>
                <a:r>
                  <a:rPr lang="en-US"/>
                  <a:t>x+y</a:t>
                </a:r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4.0,−2.0,−6.0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 algn="ctr" rtl="0">
                  <a:buNone/>
                </a:pPr>
                <a:r>
                  <a:rPr lang="en-US" b="1"/>
                  <a:t>Numpy: </a:t>
                </a:r>
                <a:r>
                  <a:rPr lang="en-US"/>
                  <a:t>x-y </a:t>
                </a:r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FD779AC-F51F-7965-CC81-70641D979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61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198D-DAFE-3378-4339-EAFBA930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815E31DD-2A47-E286-8D0B-9A314F8E86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כפל וקטור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/>
                  <a:t> בסקלר</a:t>
                </a:r>
                <a:br>
                  <a:rPr lang="he-IL"/>
                </a:br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815E31DD-2A47-E286-8D0B-9A314F8E8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4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DD87895-4917-EF32-9CE5-C957AE355C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 algn="ctr" rtl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 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 algn="ctr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DD87895-4917-EF32-9CE5-C957AE355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צבעוני, קו, קל, ניאו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DC27D5E-5CF3-7B6D-084B-1EF61D229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011" y="3169444"/>
            <a:ext cx="4911978" cy="2726532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A1EEBBE-88C0-6636-FBBE-DAAB00D8B7AD}"/>
              </a:ext>
            </a:extLst>
          </p:cNvPr>
          <p:cNvSpPr txBox="1"/>
          <p:nvPr/>
        </p:nvSpPr>
        <p:spPr>
          <a:xfrm>
            <a:off x="9596673" y="5846544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5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28804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198D-DAFE-3378-4339-EAFBA930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815E31DD-2A47-E286-8D0B-9A314F8E86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כפל וקטור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/>
                  <a:t> בסקלר</a:t>
                </a:r>
                <a:br>
                  <a:rPr lang="he-IL"/>
                </a:br>
                <a:r>
                  <a:rPr lang="he-IL">
                    <a:solidFill>
                      <a:srgbClr val="0070C0"/>
                    </a:solidFill>
                  </a:rPr>
                  <a:t>דוגמה חישובית</a:t>
                </a:r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815E31DD-2A47-E286-8D0B-9A314F8E8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411" b="-205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DD87895-4917-EF32-9CE5-C957AE355C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−5.0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6.0,−10.0,−8.0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/>
              </a:p>
              <a:p>
                <a:pPr marL="0" indent="0" algn="ctr" rtl="0">
                  <a:buNone/>
                </a:pPr>
                <a:r>
                  <a:rPr lang="en-US" b="1"/>
                  <a:t>Numpy: </a:t>
                </a:r>
                <a:r>
                  <a:rPr lang="en-US"/>
                  <a:t>alpha*x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DD87895-4917-EF32-9CE5-C957AE355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831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1133-2F4E-C448-30DE-BE59860B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1B0364-7DEE-D3E6-D55B-34E22E5D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899" y="1054983"/>
            <a:ext cx="9034847" cy="955049"/>
          </a:xfrm>
        </p:spPr>
        <p:txBody>
          <a:bodyPr>
            <a:normAutofit fontScale="90000"/>
          </a:bodyPr>
          <a:lstStyle/>
          <a:p>
            <a:r>
              <a:rPr lang="he-IL"/>
              <a:t>כפל איבר-איבר של שני וקטורים</a:t>
            </a:r>
            <a:br>
              <a:rPr lang="en-US"/>
            </a:br>
            <a:r>
              <a:rPr lang="en-US"/>
              <a:t>Element-wise multiplication</a:t>
            </a:r>
            <a:br>
              <a:rPr lang="he-IL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C6181332-A8C8-9045-2426-1A7AAFA13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8301272" cy="2163349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C6181332-A8C8-9045-2426-1A7AAFA13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8301272" cy="21633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FBA8F95-0D04-A5F7-B4CD-9E67666D9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43" y="4162168"/>
            <a:ext cx="6315075" cy="151447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F54D3CB-622E-F271-5517-262050230B11}"/>
              </a:ext>
            </a:extLst>
          </p:cNvPr>
          <p:cNvSpPr txBox="1"/>
          <p:nvPr/>
        </p:nvSpPr>
        <p:spPr>
          <a:xfrm>
            <a:off x="9596673" y="5846544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74727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1133-2F4E-C448-30DE-BE59860B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1B0364-7DEE-D3E6-D55B-34E22E5D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245" y="833851"/>
            <a:ext cx="8730048" cy="1357414"/>
          </a:xfrm>
        </p:spPr>
        <p:txBody>
          <a:bodyPr>
            <a:normAutofit fontScale="90000"/>
          </a:bodyPr>
          <a:lstStyle/>
          <a:p>
            <a:r>
              <a:rPr lang="he-IL"/>
              <a:t>כפל איבר-איבר של שני וקטורים</a:t>
            </a:r>
            <a:br>
              <a:rPr lang="en-US"/>
            </a:br>
            <a:r>
              <a:rPr lang="en-US"/>
              <a:t>Element-wise multiplication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 חישובית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C6181332-A8C8-9045-2426-1A7AAFA13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0245" y="3290100"/>
                <a:ext cx="8211064" cy="2295154"/>
              </a:xfrm>
            </p:spPr>
            <p:txBody>
              <a:bodyPr>
                <a:normAutofit fontScale="925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−5.0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,−3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 algn="l" rtl="0">
                  <a:buNone/>
                </a:pPr>
                <a:endParaRPr lang="en-US" b="1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−3.0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15.0,−8.0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:r>
                  <a:rPr lang="en-US" b="1"/>
                  <a:t>Numpy: </a:t>
                </a:r>
                <a:r>
                  <a:rPr lang="en-US"/>
                  <a:t>x*y </a:t>
                </a:r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C6181332-A8C8-9045-2426-1A7AAFA13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0245" y="3290100"/>
                <a:ext cx="8211064" cy="2295154"/>
              </a:xfrm>
              <a:blipFill>
                <a:blip r:embed="rId2"/>
                <a:stretch>
                  <a:fillRect b="-15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915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4512-F622-ABCB-34F6-B1B7AAE7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635169-391E-85F7-1BE4-69C2069B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987" y="1253981"/>
            <a:ext cx="8136922" cy="657198"/>
          </a:xfrm>
        </p:spPr>
        <p:txBody>
          <a:bodyPr>
            <a:normAutofit fontScale="90000"/>
          </a:bodyPr>
          <a:lstStyle/>
          <a:p>
            <a:r>
              <a:rPr lang="he-IL"/>
              <a:t>מכפלה פנימית של שני וקטורים</a:t>
            </a:r>
            <a:br>
              <a:rPr lang="en-US"/>
            </a:br>
            <a:r>
              <a:rPr lang="en-US"/>
              <a:t>Dot product</a:t>
            </a:r>
            <a:br>
              <a:rPr lang="en-US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ABD91AB-7666-D3A2-0109-A5A9E5DBDB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9265508" cy="2056344"/>
              </a:xfrm>
            </p:spPr>
            <p:txBody>
              <a:bodyPr/>
              <a:lstStyle/>
              <a:p>
                <a:pPr marL="0" indent="0" algn="l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000" b="0" dirty="0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ABD91AB-7666-D3A2-0109-A5A9E5DBDB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9265508" cy="205634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צילום מסך, קו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531A40D-B586-FC28-B7B3-72323F4BA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628" y="4613276"/>
            <a:ext cx="65341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96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4512-F622-ABCB-34F6-B1B7AAE7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635169-391E-85F7-1BE4-69C2069B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074" y="982132"/>
            <a:ext cx="8861852" cy="1003187"/>
          </a:xfrm>
        </p:spPr>
        <p:txBody>
          <a:bodyPr>
            <a:normAutofit fontScale="90000"/>
          </a:bodyPr>
          <a:lstStyle/>
          <a:p>
            <a:r>
              <a:rPr lang="he-IL"/>
              <a:t>מכפלה פנימית של שני וקטורים</a:t>
            </a:r>
            <a:br>
              <a:rPr lang="en-US"/>
            </a:br>
            <a:r>
              <a:rPr lang="en-US"/>
              <a:t>Dot product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 חישובית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ABD91AB-7666-D3A2-0109-A5A9E5DBDB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60158" y="2845256"/>
                <a:ext cx="8598242" cy="2237490"/>
              </a:xfrm>
            </p:spPr>
            <p:txBody>
              <a:bodyPr>
                <a:normAutofit/>
              </a:bodyPr>
              <a:lstStyle/>
              <a:p>
                <a:pPr marL="0" indent="0" algn="ctr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−5.0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,−3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 algn="ctr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−3.0+15.0+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−8.0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=4.0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spcAft>
                    <a:spcPts val="1200"/>
                  </a:spcAft>
                  <a:buNone/>
                </a:pPr>
                <a:r>
                  <a:rPr lang="en-US" b="1"/>
                  <a:t>Numpy: </a:t>
                </a:r>
                <a:r>
                  <a:rPr lang="en-US"/>
                  <a:t>x@y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ABD91AB-7666-D3A2-0109-A5A9E5DBDB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60158" y="2845256"/>
                <a:ext cx="8598242" cy="223749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81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1EB8DE-0CF3-476F-3351-C59439CF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אורך </a:t>
            </a:r>
            <a:r>
              <a:rPr lang="en-US" dirty="0"/>
              <a:t> L1 norm</a:t>
            </a:r>
            <a:r>
              <a:rPr lang="he-IL" dirty="0"/>
              <a:t> </a:t>
            </a:r>
            <a:r>
              <a:rPr lang="he-IL"/>
              <a:t>של וקטור</a:t>
            </a:r>
            <a:br>
              <a:rPr lang="he-IL"/>
            </a:b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3271DFD-89DB-35D6-5FEF-813FD2028D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5846804" cy="2179825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</m:d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3271DFD-89DB-35D6-5FEF-813FD2028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5846804" cy="21798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98563E4-3354-7917-34CC-E9FF51CF0257}"/>
              </a:ext>
            </a:extLst>
          </p:cNvPr>
          <p:cNvSpPr txBox="1"/>
          <p:nvPr/>
        </p:nvSpPr>
        <p:spPr>
          <a:xfrm>
            <a:off x="8999144" y="5942568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3"/>
              </a:rPr>
              <a:t>מקור תמונה</a:t>
            </a:r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7C89ECF-7B11-3E4D-E64D-C9CB90FBEFE7}"/>
              </a:ext>
            </a:extLst>
          </p:cNvPr>
          <p:cNvSpPr txBox="1"/>
          <p:nvPr/>
        </p:nvSpPr>
        <p:spPr>
          <a:xfrm>
            <a:off x="1709746" y="4367425"/>
            <a:ext cx="47228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Alao known as the </a:t>
            </a:r>
            <a:r>
              <a:rPr lang="nl-NL" dirty="0"/>
              <a:t>Manhattan (Taxicab) norm </a:t>
            </a:r>
            <a:endParaRPr lang="he-IL" dirty="0"/>
          </a:p>
        </p:txBody>
      </p:sp>
      <p:pic>
        <p:nvPicPr>
          <p:cNvPr id="6" name="תמונה 5" descr="תמונה שמכילה קו, עלילה, תרשים, מדרו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E26EA21-298D-3C07-F94B-8EB708B47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635" y="2607889"/>
            <a:ext cx="3178619" cy="282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9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1EB8DE-0CF3-476F-3351-C59439CF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אורך </a:t>
            </a:r>
            <a:r>
              <a:rPr lang="en-US"/>
              <a:t> L1 norm</a:t>
            </a:r>
            <a:r>
              <a:rPr lang="he-IL"/>
              <a:t> של וקטור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 חישובית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3271DFD-89DB-35D6-5FEF-813FD2028D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−5.0, −3.0, +2.0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=5.0+3.0+2.0=10.0</m:t>
                      </m:r>
                    </m:oMath>
                  </m:oMathPara>
                </a14:m>
                <a:endParaRPr lang="en-US" b="1"/>
              </a:p>
              <a:p>
                <a:pPr marL="0" indent="0" algn="l" rtl="0">
                  <a:buNone/>
                </a:pPr>
                <a:endParaRPr lang="en-US" b="1"/>
              </a:p>
              <a:p>
                <a:pPr marL="0" indent="0" algn="ctr" rtl="0">
                  <a:buNone/>
                </a:pPr>
                <a:r>
                  <a:rPr lang="en-US" b="1"/>
                  <a:t>Numpy: </a:t>
                </a:r>
                <a:r>
                  <a:rPr lang="en-US"/>
                  <a:t>np.linalg.norm(x,ord=1)</a:t>
                </a:r>
              </a:p>
              <a:p>
                <a:pPr marL="0" indent="0" algn="l" rtl="0">
                  <a:buNone/>
                </a:pPr>
                <a:endParaRPr lang="en-US" b="0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3271DFD-89DB-35D6-5FEF-813FD2028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507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04D3-7004-C650-5DC6-6477E13E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8A14C5-F584-CCB8-2213-AE781025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אורך </a:t>
            </a:r>
            <a:r>
              <a:rPr lang="en-US"/>
              <a:t> L2 norm</a:t>
            </a:r>
            <a:r>
              <a:rPr lang="he-IL"/>
              <a:t> של וקטור</a:t>
            </a:r>
            <a:br>
              <a:rPr lang="he-IL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7B34B0E-8444-39D9-187F-54F1EF47E7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269" y="2985300"/>
                <a:ext cx="5223585" cy="176793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 algn="l" rtl="0">
                  <a:buNone/>
                </a:pPr>
                <a:r>
                  <a:rPr lang="en-US" dirty="0"/>
                  <a:t>				</a:t>
                </a: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7B34B0E-8444-39D9-187F-54F1EF47E7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269" y="2985300"/>
                <a:ext cx="5223585" cy="176793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 descr="תמונה שמכילה קו, עלילה, תרשים, מדרו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CE6DCCB-A876-C5B5-F9F6-1331F5B6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854" y="2600529"/>
            <a:ext cx="3391017" cy="3012788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FAFB1C2-1395-2212-53B3-EF331C2E3794}"/>
              </a:ext>
            </a:extLst>
          </p:cNvPr>
          <p:cNvSpPr txBox="1"/>
          <p:nvPr/>
        </p:nvSpPr>
        <p:spPr>
          <a:xfrm>
            <a:off x="8999144" y="5942568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A8047EB-B18E-E820-52AF-44DA663B8DF8}"/>
              </a:ext>
            </a:extLst>
          </p:cNvPr>
          <p:cNvSpPr txBox="1"/>
          <p:nvPr/>
        </p:nvSpPr>
        <p:spPr>
          <a:xfrm>
            <a:off x="1829016" y="4568566"/>
            <a:ext cx="382192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also known as the Euclidean norm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28334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04D3-7004-C650-5DC6-6477E13E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8A14C5-F584-CCB8-2213-AE781025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אורך </a:t>
            </a:r>
            <a:r>
              <a:rPr lang="en-US"/>
              <a:t> L2 norm</a:t>
            </a:r>
            <a:r>
              <a:rPr lang="he-IL"/>
              <a:t> של וקטור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 חישובית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7B34B0E-8444-39D9-187F-54F1EF47E7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−5.0, −3.0, +2.0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ctr" rtl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25.0+9.0+4.0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38.0</m:t>
                        </m:r>
                      </m:e>
                    </m:rad>
                  </m:oMath>
                </a14:m>
                <a:r>
                  <a:rPr lang="en-US" b="0" dirty="0"/>
                  <a:t> </a:t>
                </a:r>
                <a:r>
                  <a:rPr lang="en-US" b="0"/>
                  <a:t>= 6.16</a:t>
                </a:r>
              </a:p>
              <a:p>
                <a:pPr marL="0" indent="0" algn="ctr" rtl="0">
                  <a:buNone/>
                </a:pPr>
                <a:endParaRPr lang="en-US" b="1"/>
              </a:p>
              <a:p>
                <a:pPr marL="0" indent="0" algn="ctr" rtl="0">
                  <a:buNone/>
                </a:pPr>
                <a:r>
                  <a:rPr lang="en-US" b="1"/>
                  <a:t>Numpy: </a:t>
                </a:r>
                <a:r>
                  <a:rPr lang="en-US"/>
                  <a:t>np.linalg.norm(x,ord=2)</a:t>
                </a:r>
              </a:p>
              <a:p>
                <a:pPr marL="0" indent="0" algn="l" rtl="0">
                  <a:buNone/>
                </a:pPr>
                <a:endParaRPr lang="en-US" b="0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E7B34B0E-8444-39D9-187F-54F1EF47E7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3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595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CEB57A-3130-18C1-1A60-B05BE150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המרה מייצוג </a:t>
            </a:r>
            <a:r>
              <a:rPr lang="he-IL" dirty="0" err="1"/>
              <a:t>קרטזי</a:t>
            </a:r>
            <a:r>
              <a:rPr lang="he-IL" dirty="0"/>
              <a:t> לפולארי - </a:t>
            </a:r>
            <a:r>
              <a:rPr lang="he-IL"/>
              <a:t>חומר רשות</a:t>
            </a:r>
            <a:br>
              <a:rPr lang="he-IL"/>
            </a:b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B936619E-A789-58BA-1A4A-8DAACADF1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858" y="2764739"/>
                <a:ext cx="3824416" cy="3191218"/>
              </a:xfrm>
            </p:spPr>
            <p:txBody>
              <a:bodyPr>
                <a:normAutofit/>
              </a:bodyPr>
              <a:lstStyle/>
              <a:p>
                <a:pPr marL="0" indent="0" algn="l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l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he-IL" dirty="0"/>
              </a:p>
              <a:p>
                <a:pPr marL="0" indent="0" algn="l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he-IL" dirty="0"/>
              </a:p>
              <a:p>
                <a:pPr marL="0" indent="0" algn="l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&gt;0, </m:t>
                      </m:r>
                      <m:r>
                        <a:rPr lang="he-I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he-I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𝑟𝑐𝑡𝑎𝑛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pPr marL="0" indent="0" algn="l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:endParaRPr lang="he-IL" dirty="0"/>
              </a:p>
              <a:p>
                <a:pPr marL="0" indent="0" algn="r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B936619E-A789-58BA-1A4A-8DAACADF1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858" y="2764739"/>
                <a:ext cx="3824416" cy="319121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תמונה 6" descr="תמונה שמכילה קו, תרשים, עלילה, מספר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3471EDD9-E5C3-FB9E-8C6F-19E0B4176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103" y="2355530"/>
            <a:ext cx="5846029" cy="3481208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766CF23-F3D9-E610-B237-1302BC45111D}"/>
              </a:ext>
            </a:extLst>
          </p:cNvPr>
          <p:cNvSpPr txBox="1"/>
          <p:nvPr/>
        </p:nvSpPr>
        <p:spPr>
          <a:xfrm>
            <a:off x="9596673" y="5846544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74184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CEB57A-3130-18C1-1A60-B05BE150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המרה מייצוג </a:t>
            </a:r>
            <a:r>
              <a:rPr lang="he-IL" dirty="0" err="1"/>
              <a:t>קרטזי</a:t>
            </a:r>
            <a:r>
              <a:rPr lang="he-IL" dirty="0"/>
              <a:t> לפולארי - </a:t>
            </a:r>
            <a:r>
              <a:rPr lang="he-IL"/>
              <a:t>חומר רשות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 חישובית</a:t>
            </a:r>
            <a:r>
              <a:rPr lang="he-IL"/>
              <a:t> </a:t>
            </a:r>
            <a:br>
              <a:rPr lang="he-IL"/>
            </a:b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74DC9DCF-8407-25F2-6DE9-4B3D723172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5402" y="2634898"/>
                <a:ext cx="5094847" cy="2410815"/>
              </a:xfrm>
              <a:prstGeom prst="rect">
                <a:avLst/>
              </a:prstGeom>
            </p:spPr>
            <p:txBody>
              <a:bodyPr vert="horz" lIns="91440" tIns="45720" rIns="91440" bIns="45720" rtlCol="1">
                <a:normAutofit/>
              </a:bodyPr>
              <a:lstStyle>
                <a:lvl1pPr marL="228600" indent="-228600" algn="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,3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</m:e>
                      </m:d>
                    </m:oMath>
                  </m:oMathPara>
                </a14:m>
                <a:endParaRPr lang="he-IL" sz="190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e>
                            <m:sup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e>
                            <m:sup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9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</m:e>
                      </m:ra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=3.61</m:t>
                      </m:r>
                    </m:oMath>
                  </m:oMathPara>
                </a14:m>
                <a:endParaRPr lang="en-US" sz="190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sz="1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9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9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sz="19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9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9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9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≈°56.31</m:t>
                      </m:r>
                    </m:oMath>
                  </m:oMathPara>
                </a14:m>
                <a:endParaRPr lang="he-IL" sz="190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sz="1900" b="0" i="1" smtClean="0">
                          <a:latin typeface="Cambria Math" panose="02040503050406030204" pitchFamily="18" charset="0"/>
                        </a:rPr>
                        <m:t>3.61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°56.31)</m:t>
                      </m:r>
                    </m:oMath>
                  </m:oMathPara>
                </a14:m>
                <a:endParaRPr lang="he-IL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he-IL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74DC9DCF-8407-25F2-6DE9-4B3D72317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2" y="2634898"/>
                <a:ext cx="5094847" cy="24108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9FBDE432-4338-9F41-FE9F-6212AB14F713}"/>
              </a:ext>
            </a:extLst>
          </p:cNvPr>
          <p:cNvSpPr txBox="1">
            <a:spLocks/>
          </p:cNvSpPr>
          <p:nvPr/>
        </p:nvSpPr>
        <p:spPr>
          <a:xfrm>
            <a:off x="5670761" y="2608420"/>
            <a:ext cx="5225837" cy="2622608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spcAft>
                <a:spcPts val="1200"/>
              </a:spcAft>
              <a:buNone/>
            </a:pPr>
            <a:r>
              <a:rPr lang="en-US" sz="1900" b="1"/>
              <a:t>Numpy: 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en-US" sz="1900"/>
              <a:t>r=np.linalg.norm(x,ord=2)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en-US" sz="1900"/>
              <a:t>theta_rad = np.atan2(3.0,2.0)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en-US" sz="1900"/>
              <a:t>theta_deg = np.degrees(theta_rad)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pt-BR" sz="1800"/>
              <a:t>v=np.array([r,theta_deg])</a:t>
            </a:r>
          </a:p>
          <a:p>
            <a:pPr marL="0" indent="0" algn="ctr" rtl="0">
              <a:spcAft>
                <a:spcPts val="1200"/>
              </a:spcAft>
              <a:buNone/>
            </a:pPr>
            <a:endParaRPr lang="pt-BR" sz="1800"/>
          </a:p>
          <a:p>
            <a:pPr marL="0" indent="0" algn="ctr" rtl="0">
              <a:spcAft>
                <a:spcPts val="1200"/>
              </a:spcAft>
              <a:buNone/>
            </a:pPr>
            <a:endParaRPr lang="en-US" sz="1900"/>
          </a:p>
          <a:p>
            <a:pPr marL="0" indent="0" algn="ctr" rtl="0">
              <a:spcAft>
                <a:spcPts val="1200"/>
              </a:spcAft>
              <a:buNone/>
            </a:pPr>
            <a:endParaRPr lang="en-US" sz="1900"/>
          </a:p>
          <a:p>
            <a:pPr marL="0" indent="0" algn="l" rtl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 sz="2400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/>
          </a:p>
          <a:p>
            <a:pPr marL="0" indent="0">
              <a:buFont typeface="Arial" panose="020B0604020202020204" pitchFamily="34" charset="0"/>
              <a:buNone/>
            </a:pPr>
            <a:endParaRPr lang="he-IL"/>
          </a:p>
          <a:p>
            <a:pPr marL="0" indent="0">
              <a:buFont typeface="Arial" panose="020B0604020202020204" pitchFamily="34" charset="0"/>
              <a:buNone/>
            </a:pP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8690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E207-3EF3-CFAD-283B-62D9A78D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B67E1B-4832-6383-822B-5F212324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המרה מייצוג פולארי </a:t>
            </a:r>
            <a:r>
              <a:rPr lang="he-IL" dirty="0" err="1"/>
              <a:t>לקרטזי</a:t>
            </a:r>
            <a:r>
              <a:rPr lang="he-IL" dirty="0"/>
              <a:t> – </a:t>
            </a:r>
            <a:r>
              <a:rPr lang="he-IL"/>
              <a:t>חומר רשות</a:t>
            </a:r>
            <a:br>
              <a:rPr lang="he-IL"/>
            </a:b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F5C9F195-15B1-0320-52CD-8F6930C271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3361" y="2795416"/>
                <a:ext cx="4019025" cy="160337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he-IL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he-IL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/>
              </a:p>
              <a:p>
                <a:pPr marL="0" indent="0">
                  <a:buNone/>
                </a:pPr>
                <a:endParaRPr lang="he-IL"/>
              </a:p>
              <a:p>
                <a:pPr marL="0" indent="0">
                  <a:buNone/>
                </a:pPr>
                <a:endParaRPr lang="he-IL"/>
              </a:p>
              <a:p>
                <a:pPr marL="0" indent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F5C9F195-15B1-0320-52CD-8F6930C27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361" y="2795416"/>
                <a:ext cx="4019025" cy="1603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צילום מסך, גופן, כתב יד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5EE8E9EA-7CAB-F4D4-466D-14DDE1F70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718" y="2585555"/>
            <a:ext cx="3335379" cy="2820229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17D8F8A-D027-5116-03DB-D218188672D8}"/>
              </a:ext>
            </a:extLst>
          </p:cNvPr>
          <p:cNvSpPr txBox="1"/>
          <p:nvPr/>
        </p:nvSpPr>
        <p:spPr>
          <a:xfrm>
            <a:off x="9596673" y="5846544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6385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E207-3EF3-CFAD-283B-62D9A78D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B67E1B-4832-6383-822B-5F212324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המרה מייצוג פולארי </a:t>
            </a:r>
            <a:r>
              <a:rPr lang="he-IL" dirty="0" err="1"/>
              <a:t>לקרטזי</a:t>
            </a:r>
            <a:r>
              <a:rPr lang="he-IL" dirty="0"/>
              <a:t> – </a:t>
            </a:r>
            <a:r>
              <a:rPr lang="he-IL"/>
              <a:t>חומר רשות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 חישובית</a:t>
            </a:r>
            <a:endParaRPr lang="he-IL" dirty="0"/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C6890B7B-8336-4957-80F6-C517CD91E20D}"/>
              </a:ext>
            </a:extLst>
          </p:cNvPr>
          <p:cNvSpPr txBox="1">
            <a:spLocks/>
          </p:cNvSpPr>
          <p:nvPr/>
        </p:nvSpPr>
        <p:spPr>
          <a:xfrm>
            <a:off x="5731076" y="2380433"/>
            <a:ext cx="5165522" cy="289178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he-IL"/>
          </a:p>
          <a:p>
            <a:pPr marL="0" indent="0" algn="ctr">
              <a:buNone/>
            </a:pPr>
            <a:r>
              <a:rPr lang="en-US" b="1"/>
              <a:t>Numpy:</a:t>
            </a:r>
          </a:p>
          <a:p>
            <a:pPr marL="0" indent="0" algn="ctr">
              <a:buNone/>
            </a:pPr>
            <a:r>
              <a:rPr lang="pt-BR"/>
              <a:t>x = r*np.cos(theta_rad)</a:t>
            </a:r>
          </a:p>
          <a:p>
            <a:pPr marL="0" indent="0" algn="ctr">
              <a:buNone/>
            </a:pPr>
            <a:r>
              <a:rPr lang="pt-BR"/>
              <a:t>y = r*np.sin(theta</a:t>
            </a:r>
            <a:r>
              <a:rPr lang="en-US"/>
              <a:t>_rad</a:t>
            </a:r>
            <a:r>
              <a:rPr lang="pt-BR"/>
              <a:t>)</a:t>
            </a:r>
            <a:endParaRPr lang="he-IL"/>
          </a:p>
          <a:p>
            <a:pPr marL="0" indent="0" algn="ctr">
              <a:buNone/>
            </a:pPr>
            <a:r>
              <a:rPr lang="es-ES"/>
              <a:t>v = np.array([x,y])</a:t>
            </a:r>
          </a:p>
          <a:p>
            <a:pPr marL="0" indent="0" algn="ctr">
              <a:buNone/>
            </a:pPr>
            <a:endParaRPr lang="pt-BR"/>
          </a:p>
          <a:p>
            <a:pPr marL="0" indent="0">
              <a:buFont typeface="Arial" panose="020B0604020202020204" pitchFamily="34" charset="0"/>
              <a:buNone/>
            </a:pPr>
            <a:endParaRPr lang="he-IL"/>
          </a:p>
          <a:p>
            <a:pPr marL="0" indent="0">
              <a:buFont typeface="Arial" panose="020B0604020202020204" pitchFamily="34" charset="0"/>
              <a:buNone/>
            </a:pPr>
            <a:endParaRPr lang="he-IL"/>
          </a:p>
          <a:p>
            <a:pPr marL="0" indent="0">
              <a:buFont typeface="Arial" panose="020B0604020202020204" pitchFamily="34" charset="0"/>
              <a:buNone/>
            </a:pP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ציין מיקום תוכן 2">
                <a:extLst>
                  <a:ext uri="{FF2B5EF4-FFF2-40B4-BE49-F238E27FC236}">
                    <a16:creationId xmlns:a16="http://schemas.microsoft.com/office/drawing/2014/main" id="{DD2033D6-07BD-88AA-DA5D-ADD6F8114B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080" y="2652283"/>
                <a:ext cx="5317920" cy="2471652"/>
              </a:xfrm>
              <a:prstGeom prst="rect">
                <a:avLst/>
              </a:prstGeom>
            </p:spPr>
            <p:txBody>
              <a:bodyPr vert="horz" lIns="91440" tIns="45720" rIns="91440" bIns="45720" rtlCol="1">
                <a:normAutofit/>
              </a:bodyPr>
              <a:lstStyle>
                <a:lvl1pPr marL="228600" indent="-228600" algn="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he-IL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3.61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°56.31</m:t>
                          </m:r>
                        </m:e>
                      </m:d>
                    </m:oMath>
                  </m:oMathPara>
                </a14:m>
                <a:endParaRPr lang="he-IL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=3.61</m:t>
                      </m:r>
                      <m:func>
                        <m:func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°56.31≈2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</m:t>
                          </m:r>
                        </m:e>
                      </m:func>
                    </m:oMath>
                  </m:oMathPara>
                </a14:m>
                <a:endParaRPr lang="he-IL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=3.61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°56.31</m:t>
                          </m:r>
                        </m:e>
                      </m:fun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7" name="מציין מיקום תוכן 2">
                <a:extLst>
                  <a:ext uri="{FF2B5EF4-FFF2-40B4-BE49-F238E27FC236}">
                    <a16:creationId xmlns:a16="http://schemas.microsoft.com/office/drawing/2014/main" id="{DD2033D6-07BD-88AA-DA5D-ADD6F811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0" y="2652283"/>
                <a:ext cx="5317920" cy="2471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586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DD5C9B8A-87D4-C81A-5510-48273A57C0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נרמול 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he-IL"/>
                </a:br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DD5C9B8A-87D4-C81A-5510-48273A57C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4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תוכן 4">
                <a:extLst>
                  <a:ext uri="{FF2B5EF4-FFF2-40B4-BE49-F238E27FC236}">
                    <a16:creationId xmlns:a16="http://schemas.microsoft.com/office/drawing/2014/main" id="{AE110408-9668-8B48-DBF9-AB23CFE52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453" y="3045584"/>
                <a:ext cx="5241325" cy="1905357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5" name="מציין מיקום תוכן 4">
                <a:extLst>
                  <a:ext uri="{FF2B5EF4-FFF2-40B4-BE49-F238E27FC236}">
                    <a16:creationId xmlns:a16="http://schemas.microsoft.com/office/drawing/2014/main" id="{AE110408-9668-8B48-DBF9-AB23CFE52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453" y="3045584"/>
                <a:ext cx="5241325" cy="19053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 descr="תמונה שמכילה קו, גופן, עלילה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C9CF93B-279F-B845-9F66-F18557E36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30" y="2591964"/>
            <a:ext cx="3693060" cy="28125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2F41CD5-24A8-DFA9-6039-D6ACF3AFF1A6}"/>
              </a:ext>
            </a:extLst>
          </p:cNvPr>
          <p:cNvSpPr txBox="1"/>
          <p:nvPr/>
        </p:nvSpPr>
        <p:spPr>
          <a:xfrm>
            <a:off x="9596673" y="5846544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5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12030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DD5C9B8A-87D4-C81A-5510-48273A57C0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נרמול </a:t>
                </a:r>
                <a:r>
                  <a:rPr lang="en-US"/>
                  <a:t>L1</a:t>
                </a:r>
                <a:r>
                  <a:rPr lang="he-IL"/>
                  <a:t> של 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he-IL"/>
                </a:br>
                <a:r>
                  <a:rPr lang="he-IL">
                    <a:solidFill>
                      <a:srgbClr val="0070C0"/>
                    </a:solidFill>
                  </a:rPr>
                  <a:t>דוגמה חישובית</a:t>
                </a:r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DD5C9B8A-87D4-C81A-5510-48273A57C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813" b="-205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ציין מיקום תוכן 4">
                <a:extLst>
                  <a:ext uri="{FF2B5EF4-FFF2-40B4-BE49-F238E27FC236}">
                    <a16:creationId xmlns:a16="http://schemas.microsoft.com/office/drawing/2014/main" id="{043166FA-30D8-571A-55F5-9254BD83FB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558" y="2790171"/>
                <a:ext cx="6180323" cy="2819796"/>
              </a:xfrm>
              <a:prstGeom prst="rect">
                <a:avLst/>
              </a:prstGeom>
            </p:spPr>
            <p:txBody>
              <a:bodyPr vert="horz" lIns="91440" tIns="45720" rIns="91440" bIns="45720" rtlCol="1">
                <a:normAutofit fontScale="77500" lnSpcReduction="20000"/>
              </a:bodyPr>
              <a:lstStyle>
                <a:lvl1pPr marL="228600" indent="-228600" algn="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5.0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US" dirty="0"/>
              </a:p>
              <a:p>
                <a:pPr marL="0" indent="0" algn="l" rtl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−5.0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3.0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2.0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:r>
                  <a:rPr lang="en-US"/>
                  <a:t>				</a:t>
                </a:r>
              </a:p>
              <a:p>
                <a:pPr marL="0" indent="0" algn="l" rtl="0">
                  <a:spcAft>
                    <a:spcPts val="1200"/>
                  </a:spcAft>
                  <a:buNone/>
                </a:pPr>
                <a:endParaRPr lang="en-US" b="1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 algn="l" rtl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6" name="מציין מיקום תוכן 4">
                <a:extLst>
                  <a:ext uri="{FF2B5EF4-FFF2-40B4-BE49-F238E27FC236}">
                    <a16:creationId xmlns:a16="http://schemas.microsoft.com/office/drawing/2014/main" id="{043166FA-30D8-571A-55F5-9254BD83F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58" y="2790171"/>
                <a:ext cx="6180323" cy="2819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מציין מיקום תוכן 4">
            <a:extLst>
              <a:ext uri="{FF2B5EF4-FFF2-40B4-BE49-F238E27FC236}">
                <a16:creationId xmlns:a16="http://schemas.microsoft.com/office/drawing/2014/main" id="{37398B24-5D7F-4762-76AE-C2D16B9BF4FA}"/>
              </a:ext>
            </a:extLst>
          </p:cNvPr>
          <p:cNvSpPr txBox="1">
            <a:spLocks/>
          </p:cNvSpPr>
          <p:nvPr/>
        </p:nvSpPr>
        <p:spPr>
          <a:xfrm>
            <a:off x="6096000" y="2579262"/>
            <a:ext cx="5261134" cy="199274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spcAft>
                <a:spcPts val="1200"/>
              </a:spcAft>
              <a:buNone/>
            </a:pPr>
            <a:r>
              <a:rPr lang="en-US" sz="2400" b="1"/>
              <a:t>Numpy: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en-US" sz="2400"/>
              <a:t>x_norm = np.linalg.norm(x,ord=1)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nl-NL" sz="2400"/>
              <a:t>l1_norm = x/x_norm</a:t>
            </a:r>
          </a:p>
          <a:p>
            <a:pPr marL="0" indent="0" algn="l" rtl="0">
              <a:spcAft>
                <a:spcPts val="1200"/>
              </a:spcAft>
              <a:buNone/>
            </a:pPr>
            <a:endParaRPr lang="en-US"/>
          </a:p>
          <a:p>
            <a:pPr marL="0" indent="0" algn="l" rtl="0">
              <a:spcAft>
                <a:spcPts val="1200"/>
              </a:spcAft>
              <a:buNone/>
            </a:pPr>
            <a:endParaRPr lang="en-US" b="1"/>
          </a:p>
          <a:p>
            <a:pPr marL="0" indent="0" algn="l" rtl="0">
              <a:spcAft>
                <a:spcPts val="1200"/>
              </a:spcAft>
              <a:buNone/>
            </a:pPr>
            <a:endParaRPr lang="en-US" dirty="0"/>
          </a:p>
          <a:p>
            <a:pPr marL="0" indent="0" algn="l" rtl="0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l" rtl="0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l" rtl="0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l" rtl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 dirty="0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 dirty="0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08619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DD5C9B8A-87D4-C81A-5510-48273A57C0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נרמול </a:t>
                </a:r>
                <a:r>
                  <a:rPr lang="en-US"/>
                  <a:t>L2</a:t>
                </a:r>
                <a:r>
                  <a:rPr lang="he-IL"/>
                  <a:t> של וקטורים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he-IL"/>
                </a:br>
                <a:r>
                  <a:rPr lang="he-IL">
                    <a:solidFill>
                      <a:srgbClr val="0070C0"/>
                    </a:solidFill>
                  </a:rPr>
                  <a:t>דוגמה חישובית</a:t>
                </a:r>
                <a:endParaRPr lang="he-IL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DD5C9B8A-87D4-C81A-5510-48273A57C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813" b="-205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ציין מיקום תוכן 4">
                <a:extLst>
                  <a:ext uri="{FF2B5EF4-FFF2-40B4-BE49-F238E27FC236}">
                    <a16:creationId xmlns:a16="http://schemas.microsoft.com/office/drawing/2014/main" id="{56E18B7B-9C4A-8480-AB1C-999DAF68CE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781" y="2747421"/>
                <a:ext cx="5918442" cy="3128447"/>
              </a:xfrm>
              <a:prstGeom prst="rect">
                <a:avLst/>
              </a:prstGeom>
            </p:spPr>
            <p:txBody>
              <a:bodyPr vert="horz" lIns="91440" tIns="45720" rIns="91440" bIns="45720" rtlCol="1">
                <a:normAutofit/>
              </a:bodyPr>
              <a:lstStyle>
                <a:lvl1pPr marL="228600" indent="-228600" algn="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,−3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marL="0" indent="0" algn="l" rtl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e-IL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he-IL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+9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</m:e>
                      </m:ra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38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.0</m:t>
                          </m:r>
                        </m:e>
                      </m:ra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=6.61</m:t>
                      </m:r>
                    </m:oMath>
                  </m:oMathPara>
                </a14:m>
                <a:endParaRPr lang="en-US" sz="2000" b="0" i="1">
                  <a:latin typeface="Cambria Math" panose="02040503050406030204" pitchFamily="18" charset="0"/>
                </a:endParaRPr>
              </a:p>
              <a:p>
                <a:pPr marL="0" indent="0" algn="l" rtl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−5.0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i="0"/>
                            <m:t>6.16</m:t>
                          </m:r>
                        </m:den>
                      </m:f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3.0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i="0"/>
                            <m:t>6.16</m:t>
                          </m:r>
                        </m:den>
                      </m:f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2.0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i="0"/>
                            <m:t>6.16</m:t>
                          </m:r>
                        </m:den>
                      </m:f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000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−0.81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−0.49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0.32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:endParaRPr lang="en-US"/>
              </a:p>
              <a:p>
                <a:pPr marL="0" indent="0" algn="l" rtl="0">
                  <a:spcAft>
                    <a:spcPts val="1200"/>
                  </a:spcAft>
                  <a:buNone/>
                </a:pPr>
                <a:endParaRPr lang="en-US"/>
              </a:p>
              <a:p>
                <a:pPr marL="0" indent="0" algn="l" rtl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en-US"/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endParaRPr lang="en-US"/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endParaRPr lang="en-US"/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endParaRPr lang="en-US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he-IL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he-IL"/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7" name="מציין מיקום תוכן 4">
                <a:extLst>
                  <a:ext uri="{FF2B5EF4-FFF2-40B4-BE49-F238E27FC236}">
                    <a16:creationId xmlns:a16="http://schemas.microsoft.com/office/drawing/2014/main" id="{56E18B7B-9C4A-8480-AB1C-999DAF68C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81" y="2747421"/>
                <a:ext cx="5918442" cy="3128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מציין מיקום תוכן 4">
            <a:extLst>
              <a:ext uri="{FF2B5EF4-FFF2-40B4-BE49-F238E27FC236}">
                <a16:creationId xmlns:a16="http://schemas.microsoft.com/office/drawing/2014/main" id="{8955FFDD-6D9B-7E6F-4351-E4673FB0A712}"/>
              </a:ext>
            </a:extLst>
          </p:cNvPr>
          <p:cNvSpPr txBox="1">
            <a:spLocks/>
          </p:cNvSpPr>
          <p:nvPr/>
        </p:nvSpPr>
        <p:spPr>
          <a:xfrm>
            <a:off x="5803556" y="2648208"/>
            <a:ext cx="5683663" cy="290190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spcAft>
                <a:spcPts val="1200"/>
              </a:spcAft>
              <a:buNone/>
            </a:pPr>
            <a:r>
              <a:rPr lang="en-US" sz="2000" b="1"/>
              <a:t>Numpy: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en-US" sz="2400"/>
              <a:t>x_norm = np.linalg.norm(x,ord=2)</a:t>
            </a:r>
          </a:p>
          <a:p>
            <a:pPr marL="0" indent="0" algn="ctr" rtl="0">
              <a:spcAft>
                <a:spcPts val="1200"/>
              </a:spcAft>
              <a:buNone/>
            </a:pPr>
            <a:r>
              <a:rPr lang="nl-NL" sz="2400"/>
              <a:t>l2_norm = x/x_norm</a:t>
            </a:r>
          </a:p>
          <a:p>
            <a:pPr marL="0" indent="0" algn="l" rtl="0">
              <a:spcAft>
                <a:spcPts val="1200"/>
              </a:spcAft>
              <a:buNone/>
            </a:pPr>
            <a:endParaRPr lang="en-US" sz="2400"/>
          </a:p>
          <a:p>
            <a:pPr marL="0" indent="0" algn="l" rtl="0">
              <a:spcAft>
                <a:spcPts val="1200"/>
              </a:spcAft>
              <a:buNone/>
            </a:pPr>
            <a:endParaRPr lang="en-US"/>
          </a:p>
          <a:p>
            <a:pPr marL="0" indent="0" algn="l" rtl="0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/>
          </a:p>
          <a:p>
            <a:pPr marL="0" indent="0" algn="l" rtl="0">
              <a:buFont typeface="Arial" panose="020B0604020202020204" pitchFamily="34" charset="0"/>
              <a:buNone/>
            </a:pPr>
            <a:endParaRPr lang="en-US"/>
          </a:p>
          <a:p>
            <a:pPr marL="0" indent="0" algn="l" rtl="0">
              <a:buFont typeface="Arial" panose="020B0604020202020204" pitchFamily="34" charset="0"/>
              <a:buNone/>
            </a:pPr>
            <a:endParaRPr lang="en-US"/>
          </a:p>
          <a:p>
            <a:pPr marL="0" indent="0" algn="l" rtl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/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2328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2A5F-E87B-08B4-0255-FC1EF439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C84CBA54-0E77-A2F0-806A-A4846AB7A8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/>
                  <a:t>הוכחה שאורך וקטורים ב</a:t>
                </a:r>
                <a14:m>
                  <m:oMath xmlns:m="http://schemas.openxmlformats.org/officeDocument/2006/math">
                    <m:r>
                      <a:rPr lang="he-IL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/>
                  <a:t>מנורמלים הוא 1</a:t>
                </a:r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C84CBA54-0E77-A2F0-806A-A4846AB7A8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תוכן 4">
                <a:extLst>
                  <a:ext uri="{FF2B5EF4-FFF2-40B4-BE49-F238E27FC236}">
                    <a16:creationId xmlns:a16="http://schemas.microsoft.com/office/drawing/2014/main" id="{71CA5CE6-7509-4584-EA96-7D901EFFE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4848" y="2847117"/>
                <a:ext cx="9244913" cy="287818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he-IL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he-IL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1200"/>
                  </a:spcAft>
                  <a:buNone/>
                </a:pPr>
                <a:r>
                  <a:rPr lang="he-IL" dirty="0"/>
                  <a:t>כאשר האורך מחושב באותה דרך שבה הוא נורמל (</a:t>
                </a:r>
                <a:r>
                  <a:rPr lang="en-US" dirty="0"/>
                  <a:t>L1</a:t>
                </a:r>
                <a:r>
                  <a:rPr lang="he-IL" dirty="0"/>
                  <a:t> או </a:t>
                </a:r>
                <a:r>
                  <a:rPr lang="en-US" dirty="0"/>
                  <a:t>L2</a:t>
                </a:r>
                <a:r>
                  <a:rPr lang="he-IL" dirty="0"/>
                  <a:t>)</a:t>
                </a:r>
                <a:endParaRPr lang="en-US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5" name="מציין מיקום תוכן 4">
                <a:extLst>
                  <a:ext uri="{FF2B5EF4-FFF2-40B4-BE49-F238E27FC236}">
                    <a16:creationId xmlns:a16="http://schemas.microsoft.com/office/drawing/2014/main" id="{71CA5CE6-7509-4584-EA96-7D901EFFE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4848" y="2847117"/>
                <a:ext cx="9244913" cy="287818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000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630</TotalTime>
  <Words>939</Words>
  <Application>Microsoft Office PowerPoint</Application>
  <PresentationFormat>מסך רחב</PresentationFormat>
  <Paragraphs>228</Paragraphs>
  <Slides>27</Slides>
  <Notes>0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27</vt:i4>
      </vt:variant>
    </vt:vector>
  </HeadingPairs>
  <TitlesOfParts>
    <vt:vector size="31" baseType="lpstr">
      <vt:lpstr>Arial</vt:lpstr>
      <vt:lpstr>Cambria Math</vt:lpstr>
      <vt:lpstr>Garamond</vt:lpstr>
      <vt:lpstr>אורגני</vt:lpstr>
      <vt:lpstr>פרק 1 – בסיס מתימטי 1.1 – וקטורים ב R^n </vt:lpstr>
      <vt:lpstr>מוטיבציה לוקטורים ביחידה 5</vt:lpstr>
      <vt:lpstr>דוגמה Student Profile Dataset</vt:lpstr>
      <vt:lpstr>דוגמה Student Profile Dataset</vt:lpstr>
      <vt:lpstr>וקטורים ב R^2</vt:lpstr>
      <vt:lpstr>וקטורים ב R^3</vt:lpstr>
      <vt:lpstr>וקטורים ב R^n</vt:lpstr>
      <vt:lpstr>חיבור וחיסור וקטורים ב R^n  </vt:lpstr>
      <vt:lpstr>חיבור וחיסור וקטורים ב R^n  דוגמה חישובית</vt:lpstr>
      <vt:lpstr>כפל וקטור ב R^n בסקלר </vt:lpstr>
      <vt:lpstr>כפל וקטור ב R^n בסקלר דוגמה חישובית</vt:lpstr>
      <vt:lpstr>כפל איבר-איבר של שני וקטורים Element-wise multiplication </vt:lpstr>
      <vt:lpstr>כפל איבר-איבר של שני וקטורים Element-wise multiplication דוגמה חישובית</vt:lpstr>
      <vt:lpstr>מכפלה פנימית של שני וקטורים Dot product </vt:lpstr>
      <vt:lpstr>מכפלה פנימית של שני וקטורים Dot product דוגמה חישובית</vt:lpstr>
      <vt:lpstr>אורך  L1 norm של וקטור </vt:lpstr>
      <vt:lpstr>אורך  L1 norm של וקטור דוגמה חישובית</vt:lpstr>
      <vt:lpstr>אורך  L2 norm של וקטור </vt:lpstr>
      <vt:lpstr>אורך  L2 norm של וקטור דוגמה חישובית</vt:lpstr>
      <vt:lpstr>המרה מייצוג קרטזי לפולארי - חומר רשות </vt:lpstr>
      <vt:lpstr>המרה מייצוג קרטזי לפולארי - חומר רשות דוגמה חישובית  </vt:lpstr>
      <vt:lpstr>המרה מייצוג פולארי לקרטזי – חומר רשות </vt:lpstr>
      <vt:lpstr>המרה מייצוג פולארי לקרטזי – חומר רשות דוגמה חישובית</vt:lpstr>
      <vt:lpstr>נרמול וקטורים ב R^n </vt:lpstr>
      <vt:lpstr>נרמול L1 של וקטורים ב 〖 R〗^n דוגמה חישובית</vt:lpstr>
      <vt:lpstr>נרמול L2 של וקטורים ב R^n דוגמה חישובית</vt:lpstr>
      <vt:lpstr>הוכחה שאורך וקטורים ב R^nמנורמלים הוא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פרק 1 – בסיס מתימטי 1.1 – וקטורים ב R^n </dc:title>
  <dc:creator>אריאל בר-יצחק</dc:creator>
  <cp:lastModifiedBy>אריאל דוד בר יצחק</cp:lastModifiedBy>
  <cp:revision>42</cp:revision>
  <dcterms:created xsi:type="dcterms:W3CDTF">2025-12-21T13:18:15Z</dcterms:created>
  <dcterms:modified xsi:type="dcterms:W3CDTF">2026-10-05T16:27:48Z</dcterms:modified>
</cp:coreProperties>
</file>