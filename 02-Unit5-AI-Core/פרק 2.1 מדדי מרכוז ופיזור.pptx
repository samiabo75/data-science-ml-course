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5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3" r:id="rId7"/>
    <p:sldId id="274" r:id="rId8"/>
    <p:sldId id="264" r:id="rId9"/>
    <p:sldId id="265" r:id="rId10"/>
    <p:sldId id="283" r:id="rId11"/>
    <p:sldId id="279" r:id="rId12"/>
    <p:sldId id="281" r:id="rId13"/>
    <p:sldId id="282" r:id="rId14"/>
    <p:sldId id="266" r:id="rId15"/>
    <p:sldId id="275" r:id="rId16"/>
    <p:sldId id="267" r:id="rId17"/>
    <p:sldId id="269" r:id="rId18"/>
    <p:sldId id="268" r:id="rId19"/>
    <p:sldId id="276" r:id="rId20"/>
    <p:sldId id="261" r:id="rId21"/>
    <p:sldId id="277" r:id="rId22"/>
    <p:sldId id="262" r:id="rId23"/>
    <p:sldId id="278" r:id="rId24"/>
    <p:sldId id="271" r:id="rId25"/>
    <p:sldId id="273" r:id="rId26"/>
  </p:sldIdLst>
  <p:sldSz cx="12192000" cy="6858000"/>
  <p:notesSz cx="6858000" cy="9144000"/>
  <p:embeddedFontLst>
    <p:embeddedFont>
      <p:font typeface="Cambria Math" panose="02040503050406030204" pitchFamily="18" charset="0"/>
      <p:regular r:id="rId28"/>
    </p:embeddedFont>
    <p:embeddedFont>
      <p:font typeface="Garamond" panose="02020404030301010803" pitchFamily="18" charset="0"/>
      <p:regular r:id="rId29"/>
      <p:bold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yhVWeSBUQ52v9ndg6+EfCkPo4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שקופית כותרת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8" name="Google Shape;18;p4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4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0" name="Google Shape;20;p4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4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 rtl="1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 rtl="1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 rtl="1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 rtl="1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27" name="Google Shape;27;p4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מקטע עליונה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41" name="Google Shape;41;p6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59" name="Google Shape;59;p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עם כיתוב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עם כיתוב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פנורמית עם כיתוב">
  <p:cSld name="תמונה פנורמית עם כיתוב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כיתוב">
  <p:cSld name="כותרת וכיתוב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98" name="Google Shape;98;p14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ציטוט עם כיתוב">
  <p:cSld name="ציטוט עם כיתוב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15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רטיס שם">
  <p:cSld name="כרטיס שם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רטיס שם עם ציטוט">
  <p:cSld name="כרטיס שם עם ציטוט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17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נכון או לא נכון">
  <p:cSld name="נכון או לא נכון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2" name="Google Shape;132;p18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טקסט אנכי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9" name="Google Shape;139;p1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אנכית וטקסט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3" descr="HD-PanelContent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3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9" name="Google Shape;9;p3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3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r" rtl="1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r" rtl="1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ledidi.com/academy/measures-of-central-tendency-mean-median-and-mod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hyperlink" Target="https://deepai.org/machine-learning-glossary-and-terms/varianc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iw-IL" sz="4400" dirty="0"/>
              <a:t>פר</a:t>
            </a:r>
            <a:r>
              <a:rPr lang="he-IL" sz="4400" dirty="0"/>
              <a:t>ק 2 -</a:t>
            </a:r>
            <a:r>
              <a:rPr lang="iw-IL" sz="4400" dirty="0"/>
              <a:t> בסיס סטטיסטי</a:t>
            </a:r>
            <a:br>
              <a:rPr lang="iw-IL" sz="4400" dirty="0"/>
            </a:br>
            <a:r>
              <a:rPr lang="he-IL" sz="4400"/>
              <a:t> 2.1 </a:t>
            </a:r>
            <a:r>
              <a:rPr lang="iw-IL" sz="4400"/>
              <a:t>מדדי </a:t>
            </a:r>
            <a:r>
              <a:rPr lang="iw-IL" sz="4400" dirty="0"/>
              <a:t>מרכוז ופיזור</a:t>
            </a:r>
            <a:endParaRPr dirty="0"/>
          </a:p>
        </p:txBody>
      </p:sp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iw-IL" dirty="0"/>
              <a:t>מאת</a:t>
            </a:r>
            <a:r>
              <a:rPr lang="he-IL"/>
              <a:t>:</a:t>
            </a:r>
            <a:r>
              <a:rPr lang="iw-IL"/>
              <a:t> </a:t>
            </a:r>
            <a:r>
              <a:rPr lang="iw-IL" dirty="0"/>
              <a:t>אריאל בר-יצחק</a:t>
            </a:r>
            <a:endParaRPr dirty="0"/>
          </a:p>
          <a:p>
            <a:pPr marL="0" lvl="0" indent="0" algn="ctr" rtl="1">
              <a:spcBef>
                <a:spcPts val="1020"/>
              </a:spcBef>
              <a:spcAft>
                <a:spcPts val="0"/>
              </a:spcAft>
              <a:buSzPts val="2415"/>
              <a:buNone/>
            </a:pPr>
            <a:r>
              <a:rPr lang="iw-IL" dirty="0"/>
              <a:t>ייעוץ פדגוגי:</a:t>
            </a:r>
            <a:r>
              <a:rPr lang="he-IL" dirty="0"/>
              <a:t> </a:t>
            </a:r>
            <a:r>
              <a:rPr lang="iw-IL" dirty="0"/>
              <a:t>ד"ר קובי מייק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iw-IL"/>
              <a:t>אוכלוסייה ומדגם</a:t>
            </a:r>
            <a:endParaRPr/>
          </a:p>
        </p:txBody>
      </p:sp>
      <p:sp>
        <p:nvSpPr>
          <p:cNvPr id="158" name="Google Shape;158;p2"/>
          <p:cNvSpPr txBox="1">
            <a:spLocks noGrp="1"/>
          </p:cNvSpPr>
          <p:nvPr>
            <p:ph type="body" idx="1"/>
          </p:nvPr>
        </p:nvSpPr>
        <p:spPr>
          <a:xfrm>
            <a:off x="858795" y="2691139"/>
            <a:ext cx="10210258" cy="268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iw-IL" b="1" dirty="0"/>
              <a:t>האוכלוסייה</a:t>
            </a:r>
            <a:r>
              <a:rPr lang="iw-IL" dirty="0"/>
              <a:t> היא כל </a:t>
            </a:r>
            <a:r>
              <a:rPr lang="he-IL" dirty="0"/>
              <a:t>הקבוצה</a:t>
            </a:r>
            <a:r>
              <a:rPr lang="iw-IL" dirty="0"/>
              <a:t> שמעניינ</a:t>
            </a:r>
            <a:r>
              <a:rPr lang="he-IL" dirty="0"/>
              <a:t>ת</a:t>
            </a:r>
            <a:r>
              <a:rPr lang="iw-IL" dirty="0"/>
              <a:t> אותנו במחקר</a:t>
            </a:r>
            <a:endParaRPr dirty="0"/>
          </a:p>
          <a:p>
            <a:pPr marL="0" lvl="0" indent="0" algn="r" rtl="1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iw-IL"/>
              <a:t>דוגמא</a:t>
            </a:r>
            <a:r>
              <a:rPr lang="he-IL"/>
              <a:t>:</a:t>
            </a:r>
            <a:r>
              <a:rPr lang="iw-IL"/>
              <a:t> כל </a:t>
            </a:r>
            <a:r>
              <a:rPr lang="iw-IL" dirty="0"/>
              <a:t>תלמידי ישראל בכיתה י"ב</a:t>
            </a:r>
            <a:endParaRPr dirty="0"/>
          </a:p>
          <a:p>
            <a:pPr marL="0" lvl="0" indent="0" algn="r" rtl="1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iw-IL" b="1" dirty="0"/>
              <a:t>מדגם</a:t>
            </a:r>
            <a:r>
              <a:rPr lang="iw-IL" dirty="0"/>
              <a:t> הוא תת-קבוצה מתוך האוכלוסייה שנבחרת כדי ללמוד על האוכלוסייה כולה.</a:t>
            </a:r>
            <a:endParaRPr dirty="0"/>
          </a:p>
          <a:p>
            <a:pPr marL="0" lvl="0" indent="0" algn="r" rtl="1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iw-IL"/>
              <a:t>דוגמ</a:t>
            </a:r>
            <a:r>
              <a:rPr lang="he-IL"/>
              <a:t>א: 500</a:t>
            </a:r>
            <a:r>
              <a:rPr lang="iw-IL"/>
              <a:t> </a:t>
            </a:r>
            <a:r>
              <a:rPr lang="iw-IL" dirty="0"/>
              <a:t>תלמידים מתוך כלל תלמידי ישראל בכיתה י"ב</a:t>
            </a:r>
            <a:endParaRPr dirty="0"/>
          </a:p>
          <a:p>
            <a:pPr marL="0" lvl="0" indent="0" algn="r" rtl="1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iw-IL" dirty="0"/>
              <a:t>המדגם משמש אותנו כשלא </a:t>
            </a:r>
            <a:r>
              <a:rPr lang="he-IL" dirty="0"/>
              <a:t>ניתן (או לא כדאי) לאסוף נתונים מהאוכלוסייה כולה</a:t>
            </a: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ctr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E20245-3EC0-CE92-9E56-356E50C21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מדדים של אוכלוסייה ומדגם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טבלה 5">
                <a:extLst>
                  <a:ext uri="{FF2B5EF4-FFF2-40B4-BE49-F238E27FC236}">
                    <a16:creationId xmlns:a16="http://schemas.microsoft.com/office/drawing/2014/main" id="{7C749EB9-046A-4DB8-58A2-28C240E41B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612580"/>
                  </p:ext>
                </p:extLst>
              </p:nvPr>
            </p:nvGraphicFramePr>
            <p:xfrm>
              <a:off x="1594224" y="2895600"/>
              <a:ext cx="9003552" cy="2756150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3001184">
                      <a:extLst>
                        <a:ext uri="{9D8B030D-6E8A-4147-A177-3AD203B41FA5}">
                          <a16:colId xmlns:a16="http://schemas.microsoft.com/office/drawing/2014/main" val="3898985351"/>
                        </a:ext>
                      </a:extLst>
                    </a:gridCol>
                    <a:gridCol w="3001184">
                      <a:extLst>
                        <a:ext uri="{9D8B030D-6E8A-4147-A177-3AD203B41FA5}">
                          <a16:colId xmlns:a16="http://schemas.microsoft.com/office/drawing/2014/main" val="2998703309"/>
                        </a:ext>
                      </a:extLst>
                    </a:gridCol>
                    <a:gridCol w="3001184">
                      <a:extLst>
                        <a:ext uri="{9D8B030D-6E8A-4147-A177-3AD203B41FA5}">
                          <a16:colId xmlns:a16="http://schemas.microsoft.com/office/drawing/2014/main" val="771262329"/>
                        </a:ext>
                      </a:extLst>
                    </a:gridCol>
                  </a:tblGrid>
                  <a:tr h="44616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נושא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אוכלוסייה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מדגם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9478500"/>
                      </a:ext>
                    </a:extLst>
                  </a:tr>
                  <a:tr h="4619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היקף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כל הנתונים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חלק מהנתונים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8878412"/>
                      </a:ext>
                    </a:extLst>
                  </a:tr>
                  <a:tr h="4619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מספר הדוגמאות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2000" dirty="0"/>
                            <a:t>N</a:t>
                          </a:r>
                          <a:endParaRPr lang="he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2000" dirty="0"/>
                            <a:t>n</a:t>
                          </a:r>
                          <a:endParaRPr lang="he-I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9985563"/>
                      </a:ext>
                    </a:extLst>
                  </a:tr>
                  <a:tr h="4619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ממוצע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µ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̅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he-I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5501072"/>
                      </a:ext>
                    </a:extLst>
                  </a:tr>
                  <a:tr h="4619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שונות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he-I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e-IL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he-IL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he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he-IL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he-I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3850133"/>
                      </a:ext>
                    </a:extLst>
                  </a:tr>
                  <a:tr h="4619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אי-ודאות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אין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יש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02337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טבלה 5">
                <a:extLst>
                  <a:ext uri="{FF2B5EF4-FFF2-40B4-BE49-F238E27FC236}">
                    <a16:creationId xmlns:a16="http://schemas.microsoft.com/office/drawing/2014/main" id="{7C749EB9-046A-4DB8-58A2-28C240E41B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612580"/>
                  </p:ext>
                </p:extLst>
              </p:nvPr>
            </p:nvGraphicFramePr>
            <p:xfrm>
              <a:off x="1594224" y="2895600"/>
              <a:ext cx="9003552" cy="2756150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3001184">
                      <a:extLst>
                        <a:ext uri="{9D8B030D-6E8A-4147-A177-3AD203B41FA5}">
                          <a16:colId xmlns:a16="http://schemas.microsoft.com/office/drawing/2014/main" val="3898985351"/>
                        </a:ext>
                      </a:extLst>
                    </a:gridCol>
                    <a:gridCol w="3001184">
                      <a:extLst>
                        <a:ext uri="{9D8B030D-6E8A-4147-A177-3AD203B41FA5}">
                          <a16:colId xmlns:a16="http://schemas.microsoft.com/office/drawing/2014/main" val="2998703309"/>
                        </a:ext>
                      </a:extLst>
                    </a:gridCol>
                    <a:gridCol w="3001184">
                      <a:extLst>
                        <a:ext uri="{9D8B030D-6E8A-4147-A177-3AD203B41FA5}">
                          <a16:colId xmlns:a16="http://schemas.microsoft.com/office/drawing/2014/main" val="771262329"/>
                        </a:ext>
                      </a:extLst>
                    </a:gridCol>
                  </a:tblGrid>
                  <a:tr h="44616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נושא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אוכלוסייה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מדגם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9478500"/>
                      </a:ext>
                    </a:extLst>
                  </a:tr>
                  <a:tr h="4619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היקף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כל הנתונים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חלק מהנתונים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8878412"/>
                      </a:ext>
                    </a:extLst>
                  </a:tr>
                  <a:tr h="4619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מספר הדוגמאות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2000" dirty="0"/>
                            <a:t>N</a:t>
                          </a:r>
                          <a:endParaRPr lang="he-IL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2000" dirty="0"/>
                            <a:t>n</a:t>
                          </a:r>
                          <a:endParaRPr lang="he-IL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9985563"/>
                      </a:ext>
                    </a:extLst>
                  </a:tr>
                  <a:tr h="4619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ממוצע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µ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1316" r="-811" b="-2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501072"/>
                      </a:ext>
                    </a:extLst>
                  </a:tr>
                  <a:tr h="4619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שונות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07" t="-401316" r="-101016" b="-1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401316" r="-811" b="-1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3850133"/>
                      </a:ext>
                    </a:extLst>
                  </a:tr>
                  <a:tr h="4619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אי-ודאות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אין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2000" dirty="0"/>
                            <a:t>יש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02337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264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3BDF2E-F9F0-A714-177E-3B6ADE89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אוכלוסייה ומדגם</a:t>
            </a:r>
            <a:br>
              <a:rPr lang="he-IL" dirty="0"/>
            </a:br>
            <a:r>
              <a:rPr lang="he-IL" dirty="0"/>
              <a:t>בלמידת מכונה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0C7C304-3781-CF35-9983-6AA265AEB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ביישומי למידת מכונה מתייחסים לנתונים שיש לנו </a:t>
            </a:r>
            <a:r>
              <a:rPr lang="he-IL" b="1" dirty="0"/>
              <a:t>כאוכלוסייה</a:t>
            </a:r>
            <a:r>
              <a:rPr lang="he-IL" dirty="0"/>
              <a:t> (הוא “כל העולם” של המודל), ולא </a:t>
            </a:r>
            <a:r>
              <a:rPr lang="he-IL" b="1" dirty="0"/>
              <a:t>כמדגם.</a:t>
            </a:r>
          </a:p>
          <a:p>
            <a:pPr lvl="1"/>
            <a:r>
              <a:rPr lang="he-IL" dirty="0"/>
              <a:t>לדוגמה: כאשר נבצע טרנספורמציות על נתונים (כמו: תקנון נתונים) נתייחס לנתונים כאילו שהם האוכלוסייה כולה. </a:t>
            </a:r>
          </a:p>
          <a:p>
            <a:r>
              <a:rPr lang="he-IL" dirty="0"/>
              <a:t>כאשר נבצע סקירה של הנתונים (כגון: סטטיסטיקה תיאורית, ויזואליזציה) נתייחס לנתונים כאילו הם מדגם</a:t>
            </a:r>
          </a:p>
        </p:txBody>
      </p:sp>
    </p:spTree>
    <p:extLst>
      <p:ext uri="{BB962C8B-B14F-4D97-AF65-F5344CB8AC3E}">
        <p14:creationId xmlns:p14="http://schemas.microsoft.com/office/powerpoint/2010/main" val="434494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CDB3C0E-0F04-EB8D-5D35-264E225F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ממוצע </a:t>
            </a:r>
            <a:r>
              <a:rPr lang="en-US" dirty="0"/>
              <a:t>mean)</a:t>
            </a:r>
            <a:r>
              <a:rPr lang="he-I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7FEA1497-A77C-C02C-1897-EB291443F62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266486" y="3949556"/>
                <a:ext cx="2501149" cy="1622866"/>
              </a:xfrm>
            </p:spPr>
            <p:txBody>
              <a:bodyPr/>
              <a:lstStyle/>
              <a:p>
                <a:pPr marL="97155" indent="0" algn="ctr">
                  <a:buNone/>
                </a:pPr>
                <a:r>
                  <a:rPr lang="he-IL" dirty="0"/>
                  <a:t>ממוצע אוכלוסייה</a:t>
                </a:r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he-I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he-I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7FEA1497-A77C-C02C-1897-EB291443F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66486" y="3949556"/>
                <a:ext cx="2501149" cy="162286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טקסט 2">
                <a:extLst>
                  <a:ext uri="{FF2B5EF4-FFF2-40B4-BE49-F238E27FC236}">
                    <a16:creationId xmlns:a16="http://schemas.microsoft.com/office/drawing/2014/main" id="{880874FE-F277-DF9F-D3EF-9E9FB2C8A5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67001" y="3949556"/>
                <a:ext cx="3228473" cy="1778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0045" algn="r" rtl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1pPr>
                <a:lvl2pPr marL="914400" marR="0" lvl="1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0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2pPr>
                <a:lvl3pPr marL="1371600" marR="0" lvl="2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8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3pPr>
                <a:lvl4pPr marL="1828800" marR="0" lvl="3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6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4pPr>
                <a:lvl5pPr marL="2286000" marR="0" lvl="4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5pPr>
                <a:lvl6pPr marL="2743200" marR="0" lvl="5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6pPr>
                <a:lvl7pPr marL="3200400" marR="0" lvl="6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7pPr>
                <a:lvl8pPr marL="3657600" marR="0" lvl="7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8pPr>
                <a:lvl9pPr marL="4114800" marR="0" lvl="8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9pPr>
              </a:lstStyle>
              <a:p>
                <a:pPr marL="97155" indent="0" algn="ctr">
                  <a:buFont typeface="Arial"/>
                  <a:buNone/>
                </a:pPr>
                <a:r>
                  <a:rPr lang="he-IL" dirty="0"/>
                  <a:t>ממוצע מדגם</a:t>
                </a:r>
              </a:p>
              <a:p>
                <a:pPr marL="97155" indent="0" algn="l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he-I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" name="מציין מיקום טקסט 2">
                <a:extLst>
                  <a:ext uri="{FF2B5EF4-FFF2-40B4-BE49-F238E27FC236}">
                    <a16:creationId xmlns:a16="http://schemas.microsoft.com/office/drawing/2014/main" id="{880874FE-F277-DF9F-D3EF-9E9FB2C8A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1" y="3949556"/>
                <a:ext cx="3228473" cy="1778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CA3E4D6-1007-48C8-8A0B-0F445C672135}"/>
              </a:ext>
            </a:extLst>
          </p:cNvPr>
          <p:cNvSpPr txBox="1"/>
          <p:nvPr/>
        </p:nvSpPr>
        <p:spPr>
          <a:xfrm>
            <a:off x="1739153" y="2900940"/>
            <a:ext cx="9076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b="1" dirty="0"/>
              <a:t>ממוצע</a:t>
            </a:r>
            <a:r>
              <a:rPr lang="he-IL" sz="2400" dirty="0"/>
              <a:t> הוא מדד מרכזי המתאר את הערך הטיפוסי של קבוצת נתונים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he-IL" sz="2400" dirty="0"/>
              <a:t>חישוב הממוצע: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3011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FB1B64-2D2D-78BF-210F-24BC8ACF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חציון (</a:t>
            </a:r>
            <a:r>
              <a:rPr lang="en-US" dirty="0"/>
              <a:t>median</a:t>
            </a:r>
            <a:r>
              <a:rPr lang="he-IL" dirty="0"/>
              <a:t>)</a:t>
            </a:r>
            <a:endParaRPr lang="he-IL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56B631-50AC-4DA6-85DC-AF506C47CA96}"/>
                  </a:ext>
                </a:extLst>
              </p:cNvPr>
              <p:cNvSpPr txBox="1"/>
              <p:nvPr/>
            </p:nvSpPr>
            <p:spPr>
              <a:xfrm>
                <a:off x="867334" y="2644170"/>
                <a:ext cx="907676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he-IL" sz="2400" dirty="0"/>
                  <a:t>החציון הוא הערך שמחלק את הנתונים לשני חצאים שווים:</a:t>
                </a:r>
              </a:p>
              <a:p>
                <a:pPr algn="r" rtl="1">
                  <a:buFont typeface="Arial" panose="020B0604020202020204" pitchFamily="34" charset="0"/>
                  <a:buChar char="•"/>
                </a:pPr>
                <a:r>
                  <a:rPr lang="he-IL" sz="2400" dirty="0"/>
                  <a:t>חצי מהערכים </a:t>
                </a:r>
                <a:r>
                  <a:rPr lang="he-IL" sz="2400" b="1" dirty="0"/>
                  <a:t>קטנים או שווים</a:t>
                </a:r>
                <a:r>
                  <a:rPr lang="he-IL" sz="2400" dirty="0"/>
                  <a:t> לו</a:t>
                </a:r>
              </a:p>
              <a:p>
                <a:pPr algn="r" rtl="1">
                  <a:buFont typeface="Arial" panose="020B0604020202020204" pitchFamily="34" charset="0"/>
                  <a:buChar char="•"/>
                </a:pPr>
                <a:r>
                  <a:rPr lang="he-IL" sz="2400" dirty="0"/>
                  <a:t>חצי מהערכים </a:t>
                </a:r>
                <a:r>
                  <a:rPr lang="he-IL" sz="2400" b="1" dirty="0"/>
                  <a:t>גדולים או שווים</a:t>
                </a:r>
                <a:r>
                  <a:rPr lang="he-IL" sz="2400" dirty="0"/>
                  <a:t> לו</a:t>
                </a:r>
              </a:p>
              <a:p>
                <a:pPr algn="r" rtl="1">
                  <a:buFont typeface="Arial" panose="020B0604020202020204" pitchFamily="34" charset="0"/>
                  <a:buChar char="•"/>
                </a:pPr>
                <a:endParaRPr lang="he-IL" sz="2400" dirty="0"/>
              </a:p>
              <a:p>
                <a:pPr algn="r" rtl="1">
                  <a:buFont typeface="Arial" panose="020B0604020202020204" pitchFamily="34" charset="0"/>
                  <a:buChar char="•"/>
                </a:pPr>
                <a:r>
                  <a:rPr lang="he-IL" sz="2400" dirty="0"/>
                  <a:t>דוגמה: </a:t>
                </a:r>
              </a:p>
              <a:p>
                <a:pPr algn="r" rtl="1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(2.0, 4.0, 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6.0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7.0, 10.0)</m:t>
                      </m:r>
                    </m:oMath>
                  </m:oMathPara>
                </a14:m>
                <a:endParaRPr lang="he-IL" sz="2400" dirty="0"/>
              </a:p>
              <a:p>
                <a:pPr algn="r" rtl="1">
                  <a:buFont typeface="Arial" panose="020B0604020202020204" pitchFamily="34" charset="0"/>
                  <a:buChar char="•"/>
                </a:pPr>
                <a:endParaRPr lang="he-IL" sz="2400" dirty="0"/>
              </a:p>
              <a:p>
                <a:pPr algn="r" rtl="1"/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56B631-50AC-4DA6-85DC-AF506C47C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34" y="2644170"/>
                <a:ext cx="9076765" cy="3046988"/>
              </a:xfrm>
              <a:prstGeom prst="rect">
                <a:avLst/>
              </a:prstGeom>
              <a:blipFill>
                <a:blip r:embed="rId2"/>
                <a:stretch>
                  <a:fillRect t="-1400" r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643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FB1B64-2D2D-78BF-210F-24BC8ACF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/>
              <a:t>חישוב החציון</a:t>
            </a:r>
            <a:endParaRPr lang="he-IL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1749C99D-ED22-A410-FB83-5A4506F0808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dirty="0"/>
                  <a:t>שלב ראשון מיון הערכים</a:t>
                </a:r>
              </a:p>
              <a:p>
                <a:pPr marL="97155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  <a:p>
                <a:r>
                  <a:rPr lang="he-IL" dirty="0"/>
                  <a:t>שלב שני </a:t>
                </a:r>
              </a:p>
              <a:p>
                <a:pPr lvl="1"/>
                <a:r>
                  <a:rPr lang="he-IL" dirty="0"/>
                  <a:t>אם </a:t>
                </a:r>
                <a:r>
                  <a:rPr lang="en-US" dirty="0"/>
                  <a:t>n</a:t>
                </a:r>
                <a:r>
                  <a:rPr lang="he-IL" dirty="0"/>
                  <a:t> הוא אי-זוגי</a:t>
                </a:r>
              </a:p>
              <a:p>
                <a:pPr marL="554356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median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he-IL" b="0" dirty="0"/>
              </a:p>
              <a:p>
                <a:pPr lvl="1"/>
                <a:r>
                  <a:rPr lang="he-IL" dirty="0"/>
                  <a:t>אם </a:t>
                </a:r>
                <a:r>
                  <a:rPr lang="en-US" dirty="0"/>
                  <a:t>n</a:t>
                </a:r>
                <a:r>
                  <a:rPr lang="he-IL" dirty="0"/>
                  <a:t> הוא זוגי</a:t>
                </a:r>
              </a:p>
              <a:p>
                <a:pPr marL="55435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1749C99D-ED22-A410-FB83-5A4506F080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780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FB1B64-2D2D-78BF-210F-24BC8ACF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חישוב החציון</a:t>
            </a:r>
            <a:br>
              <a:rPr lang="he-IL" dirty="0"/>
            </a:br>
            <a:r>
              <a:rPr lang="he-IL" dirty="0">
                <a:solidFill>
                  <a:srgbClr val="0070C0"/>
                </a:solidFill>
              </a:rPr>
              <a:t>דוגמה </a:t>
            </a:r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he-IL" dirty="0">
                <a:solidFill>
                  <a:srgbClr val="0070C0"/>
                </a:solidFill>
              </a:rPr>
              <a:t> אי-זוגי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1749C99D-ED22-A410-FB83-5A4506F0808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dirty="0"/>
                  <a:t>נתונים הערכים:</a:t>
                </a:r>
              </a:p>
              <a:p>
                <a:pPr marL="97155" indent="0" algn="ctr" rtl="0">
                  <a:buNone/>
                </a:pPr>
                <a:r>
                  <a:rPr lang="en-US" dirty="0"/>
                  <a:t>x=(7.0, 2.0, 10.0, 4.0, 6.0)		n=5	</a:t>
                </a:r>
              </a:p>
              <a:p>
                <a:r>
                  <a:rPr lang="he-IL" dirty="0"/>
                  <a:t>שלב ראשון מיון הערכים</a:t>
                </a:r>
              </a:p>
              <a:p>
                <a:pPr marL="97155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(2.0, 4.0, 6.0, 7.0, 10.0)</m:t>
                      </m:r>
                    </m:oMath>
                  </m:oMathPara>
                </a14:m>
                <a:endParaRPr lang="he-IL" dirty="0"/>
              </a:p>
              <a:p>
                <a:r>
                  <a:rPr lang="he-IL" dirty="0"/>
                  <a:t>שלב שני אם </a:t>
                </a:r>
                <a:r>
                  <a:rPr lang="en-US" dirty="0"/>
                  <a:t>n</a:t>
                </a:r>
                <a:r>
                  <a:rPr lang="he-IL" dirty="0"/>
                  <a:t> הוא אי-זוגי</a:t>
                </a:r>
              </a:p>
              <a:p>
                <a:pPr marL="554356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begChr m:val="["/>
                          <m:endChr m:val="]"/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=6.0</m:t>
                      </m:r>
                    </m:oMath>
                  </m:oMathPara>
                </a14:m>
                <a:endParaRPr lang="he-IL" b="0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1749C99D-ED22-A410-FB83-5A4506F080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42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FB1B64-2D2D-78BF-210F-24BC8ACF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חישוב החציון</a:t>
            </a:r>
            <a:br>
              <a:rPr lang="he-IL" dirty="0"/>
            </a:br>
            <a:r>
              <a:rPr lang="he-IL" dirty="0">
                <a:solidFill>
                  <a:srgbClr val="0070C0"/>
                </a:solidFill>
              </a:rPr>
              <a:t>דוגמה </a:t>
            </a:r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he-IL" dirty="0">
                <a:solidFill>
                  <a:srgbClr val="0070C0"/>
                </a:solidFill>
              </a:rPr>
              <a:t> זוגי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1749C99D-ED22-A410-FB83-5A4506F0808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dirty="0"/>
                  <a:t>נתונים הערכים:</a:t>
                </a:r>
              </a:p>
              <a:p>
                <a:pPr marL="97155" indent="0" algn="ctr" rtl="0">
                  <a:buNone/>
                </a:pPr>
                <a:r>
                  <a:rPr lang="en-US" dirty="0"/>
                  <a:t>x=(12.0, 5.0, 8.0 ,3.0)	n=4</a:t>
                </a:r>
              </a:p>
              <a:p>
                <a:r>
                  <a:rPr lang="he-IL" dirty="0"/>
                  <a:t>שלב ראשון מיון הערכים</a:t>
                </a:r>
              </a:p>
              <a:p>
                <a:pPr marL="97155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(3.0, 5.0, 8.0,12.0)</m:t>
                      </m:r>
                    </m:oMath>
                  </m:oMathPara>
                </a14:m>
                <a:endParaRPr lang="he-IL" dirty="0"/>
              </a:p>
              <a:p>
                <a:r>
                  <a:rPr lang="he-IL" dirty="0"/>
                  <a:t>שלב שני אם </a:t>
                </a:r>
                <a:r>
                  <a:rPr lang="en-US" dirty="0"/>
                  <a:t>n</a:t>
                </a:r>
                <a:r>
                  <a:rPr lang="he-IL" dirty="0"/>
                  <a:t> הוא זוגי</a:t>
                </a:r>
              </a:p>
              <a:p>
                <a:pPr marL="55435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𝑚𝑒𝑑𝑖𝑎𝑛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x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5.0+8.0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13.0</m:t>
                          </m:r>
                        </m:num>
                        <m:den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=6.5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1749C99D-ED22-A410-FB83-5A4506F080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723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220AD7-46E6-F1F0-2C06-6C49C4DB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 dirty="0"/>
              <a:t>Q1,Q2,Q3,IQR</a:t>
            </a:r>
            <a:endParaRPr lang="he-IL" dirty="0"/>
          </a:p>
        </p:txBody>
      </p:sp>
      <p:sp>
        <p:nvSpPr>
          <p:cNvPr id="4" name="Google Shape;158;p2">
            <a:extLst>
              <a:ext uri="{FF2B5EF4-FFF2-40B4-BE49-F238E27FC236}">
                <a16:creationId xmlns:a16="http://schemas.microsoft.com/office/drawing/2014/main" id="{F6BA1156-0BC4-6C6E-2DE6-6B59FE384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93133" y="2485569"/>
            <a:ext cx="8239123" cy="150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0045" algn="r" rtl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60044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60044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60045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60045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60045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60045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60045" algn="r" rt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20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indent="0" algn="ctr" rtl="0">
              <a:spcBef>
                <a:spcPts val="0"/>
              </a:spcBef>
              <a:buSzPts val="2760"/>
              <a:buFont typeface="Arial"/>
              <a:buNone/>
            </a:pPr>
            <a:r>
              <a:rPr lang="en-US" dirty="0"/>
              <a:t>Q1 = 25</a:t>
            </a:r>
            <a:r>
              <a:rPr lang="en-US" baseline="30000" dirty="0"/>
              <a:t>th</a:t>
            </a:r>
            <a:r>
              <a:rPr lang="en-US" dirty="0"/>
              <a:t> percentile =Q1 = </a:t>
            </a:r>
            <a:r>
              <a:rPr lang="he-IL" dirty="0"/>
              <a:t>רבעון ראשון</a:t>
            </a:r>
          </a:p>
          <a:p>
            <a:pPr marL="0" indent="0" algn="ctr" rtl="0">
              <a:spcBef>
                <a:spcPts val="0"/>
              </a:spcBef>
              <a:buSzPts val="2760"/>
              <a:buFont typeface="Arial"/>
              <a:buNone/>
            </a:pPr>
            <a:r>
              <a:rPr lang="en-US" dirty="0"/>
              <a:t>Q2 = 50</a:t>
            </a:r>
            <a:r>
              <a:rPr lang="en-US" baseline="30000" dirty="0"/>
              <a:t>th</a:t>
            </a:r>
            <a:r>
              <a:rPr lang="en-US" dirty="0"/>
              <a:t> percentile =Q2 = </a:t>
            </a:r>
            <a:r>
              <a:rPr lang="he-IL" dirty="0"/>
              <a:t>חציון</a:t>
            </a:r>
          </a:p>
          <a:p>
            <a:pPr marL="0" indent="0" algn="ctr" rtl="0">
              <a:spcBef>
                <a:spcPts val="0"/>
              </a:spcBef>
              <a:buSzPts val="2760"/>
              <a:buFont typeface="Arial"/>
              <a:buNone/>
            </a:pPr>
            <a:r>
              <a:rPr lang="en-US" dirty="0"/>
              <a:t>Q3 = 75</a:t>
            </a:r>
            <a:r>
              <a:rPr lang="en-US" baseline="30000" dirty="0"/>
              <a:t>th</a:t>
            </a:r>
            <a:r>
              <a:rPr lang="en-US" dirty="0"/>
              <a:t> percentile =Q3 = </a:t>
            </a:r>
            <a:r>
              <a:rPr lang="he-IL" dirty="0"/>
              <a:t>רבעון שלישי </a:t>
            </a:r>
          </a:p>
          <a:p>
            <a:pPr marL="0" indent="0" algn="ctr" rtl="0">
              <a:spcBef>
                <a:spcPts val="0"/>
              </a:spcBef>
              <a:buSzPts val="2760"/>
              <a:buFont typeface="Arial"/>
              <a:buNone/>
            </a:pPr>
            <a:r>
              <a:rPr lang="en-US" dirty="0"/>
              <a:t>Q3 – Q1 = IQR(Interquartile Range) = </a:t>
            </a:r>
            <a:r>
              <a:rPr lang="he-IL" dirty="0"/>
              <a:t>טווח בין רבעוני</a:t>
            </a:r>
          </a:p>
          <a:p>
            <a:pPr marL="0" indent="0" algn="ctr" rtl="0">
              <a:spcBef>
                <a:spcPts val="0"/>
              </a:spcBef>
              <a:buSzPts val="2760"/>
              <a:buFont typeface="Arial"/>
              <a:buNone/>
            </a:pPr>
            <a:endParaRPr lang="he-IL" dirty="0"/>
          </a:p>
          <a:p>
            <a:pPr marL="0" indent="0" algn="ctr" rtl="0">
              <a:spcBef>
                <a:spcPts val="1080"/>
              </a:spcBef>
              <a:buSzPts val="2760"/>
              <a:buFont typeface="Arial"/>
              <a:buNone/>
            </a:pPr>
            <a:endParaRPr lang="he-IL" dirty="0"/>
          </a:p>
          <a:p>
            <a:pPr marL="0" indent="0" algn="ctr" rtl="0">
              <a:spcBef>
                <a:spcPts val="1080"/>
              </a:spcBef>
              <a:buSzPts val="2760"/>
              <a:buFont typeface="Arial"/>
              <a:buNone/>
            </a:pPr>
            <a:endParaRPr lang="he-IL" dirty="0"/>
          </a:p>
          <a:p>
            <a:pPr marL="0" indent="0" algn="ctr" rtl="0">
              <a:spcBef>
                <a:spcPts val="1080"/>
              </a:spcBef>
              <a:buSzPts val="2760"/>
              <a:buFont typeface="Arial"/>
              <a:buNone/>
            </a:pPr>
            <a:endParaRPr lang="he-IL" dirty="0"/>
          </a:p>
          <a:p>
            <a:pPr marL="0" indent="0" algn="ctr" rtl="0">
              <a:spcBef>
                <a:spcPts val="1080"/>
              </a:spcBef>
              <a:buSzPts val="2760"/>
              <a:buFont typeface="Arial"/>
              <a:buNone/>
            </a:pPr>
            <a:endParaRPr lang="he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312620F-87B6-B4B3-EBDB-A4F6159B8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725" y="4019744"/>
            <a:ext cx="5505452" cy="185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545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AD4265-26CB-DFB2-A736-5923A51CC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חישוב </a:t>
            </a:r>
            <a:r>
              <a:rPr lang="en-US" dirty="0"/>
              <a:t>Q1,Q3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014A48E-C59E-2627-B3F6-DFA579184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97155" indent="0">
              <a:buNone/>
            </a:pPr>
            <a:r>
              <a:rPr lang="he-IL" dirty="0"/>
              <a:t>נשתמש בשיטת החלוקה לחצאים (</a:t>
            </a:r>
            <a:r>
              <a:rPr lang="en-US" dirty="0"/>
              <a:t>Tukey’s hinges</a:t>
            </a:r>
            <a:r>
              <a:rPr lang="he-IL" dirty="0"/>
              <a:t>). </a:t>
            </a:r>
          </a:p>
          <a:p>
            <a:r>
              <a:rPr lang="he-IL" dirty="0"/>
              <a:t>שלב 1: מיון הערכים</a:t>
            </a:r>
          </a:p>
          <a:p>
            <a:r>
              <a:rPr lang="he-IL" dirty="0"/>
              <a:t>שלב 2: מציאת החציון</a:t>
            </a:r>
          </a:p>
          <a:p>
            <a:r>
              <a:rPr lang="he-IL" dirty="0"/>
              <a:t>שלב 3: נפצל את הערכים לחצי תחתון + חצי עליון, </a:t>
            </a:r>
            <a:r>
              <a:rPr lang="he-IL" u="sng" dirty="0"/>
              <a:t>ללא החציון</a:t>
            </a:r>
          </a:p>
          <a:p>
            <a:r>
              <a:rPr lang="he-IL" dirty="0"/>
              <a:t>שלב 4: מצא את החציון של חצי תחתון (</a:t>
            </a:r>
            <a:r>
              <a:rPr lang="en-US" dirty="0"/>
              <a:t>Q1</a:t>
            </a:r>
            <a:r>
              <a:rPr lang="he-IL" dirty="0"/>
              <a:t>) וחצי עליון (</a:t>
            </a:r>
            <a:r>
              <a:rPr lang="en-US" dirty="0"/>
              <a:t>Q3</a:t>
            </a:r>
            <a:r>
              <a:rPr lang="he-IL" dirty="0"/>
              <a:t>)</a:t>
            </a:r>
          </a:p>
          <a:p>
            <a:endParaRPr lang="he-IL" dirty="0"/>
          </a:p>
          <a:p>
            <a:pPr marL="97155" indent="0">
              <a:buNone/>
            </a:pPr>
            <a:r>
              <a:rPr lang="he-IL" dirty="0"/>
              <a:t>(*) יש לציין שבספריות בפיתון (כגון </a:t>
            </a:r>
            <a:r>
              <a:rPr lang="en-US" dirty="0" err="1"/>
              <a:t>Numpy</a:t>
            </a:r>
            <a:r>
              <a:rPr lang="he-IL" dirty="0"/>
              <a:t>) משתמשים בשיטות אחרות כגון </a:t>
            </a:r>
            <a:r>
              <a:rPr lang="en-US" dirty="0"/>
              <a:t>Interpolation</a:t>
            </a:r>
            <a:r>
              <a:rPr lang="he-IL" dirty="0"/>
              <a:t> שנותנות ביצועים סטטיסטיים מדויקים יותר.</a:t>
            </a:r>
          </a:p>
          <a:p>
            <a:pPr marL="97155" indent="0">
              <a:buNone/>
            </a:pPr>
            <a:endParaRPr lang="he-IL" dirty="0"/>
          </a:p>
          <a:p>
            <a:pPr marL="97155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97254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81DDC-42B1-4B46-22F4-9940AD02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3C02A20-8898-765A-3838-2F64E1FF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חישוב </a:t>
            </a:r>
            <a:r>
              <a:rPr lang="en-US" dirty="0"/>
              <a:t>Q1,Q3</a:t>
            </a:r>
            <a:br>
              <a:rPr lang="he-IL" dirty="0"/>
            </a:br>
            <a:r>
              <a:rPr lang="he-IL" dirty="0">
                <a:solidFill>
                  <a:srgbClr val="0070C0"/>
                </a:solidFill>
              </a:rPr>
              <a:t>דוגמה </a:t>
            </a:r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he-IL" dirty="0">
                <a:solidFill>
                  <a:srgbClr val="0070C0"/>
                </a:solidFill>
              </a:rPr>
              <a:t> אי-זוגי 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95DE3DBD-2E1C-BD8C-84DC-16A593E814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dirty="0"/>
                  <a:t>נתונים הערכים: </a:t>
                </a:r>
                <a:r>
                  <a:rPr lang="en-US" dirty="0"/>
                  <a:t>x=(7.0, 2.0, 10.0, 4.0, 6.0)	</a:t>
                </a:r>
              </a:p>
              <a:p>
                <a:r>
                  <a:rPr lang="he-IL" dirty="0"/>
                  <a:t>שלב ראשון מיון הערכים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(2.0, 4.0, 6.0, 7.0, 10.0)</m:t>
                    </m:r>
                  </m:oMath>
                </a14:m>
                <a:endParaRPr lang="he-IL" dirty="0"/>
              </a:p>
              <a:p>
                <a:r>
                  <a:rPr lang="he-IL" dirty="0"/>
                  <a:t>שלב שני חישוב החציון. חשבנו מקודם  </a:t>
                </a:r>
                <a:r>
                  <a:rPr lang="en-US" dirty="0"/>
                  <a:t>median=6.0</a:t>
                </a:r>
                <a:endParaRPr lang="he-IL" dirty="0"/>
              </a:p>
              <a:p>
                <a:r>
                  <a:rPr lang="he-IL" dirty="0"/>
                  <a:t>שלב שלישי פיצול החצאים, ללא החציון: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(2.0, 4.0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7.0, 10.0)</m:t>
                    </m:r>
                  </m:oMath>
                </a14:m>
                <a:endParaRPr lang="en-US" dirty="0"/>
              </a:p>
              <a:p>
                <a:pPr marL="97155" indent="0" algn="r">
                  <a:buNone/>
                </a:pPr>
                <a:r>
                  <a:rPr lang="he-IL" dirty="0"/>
                  <a:t>שלב רביעי חישוב הרבעונים: </a:t>
                </a:r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2.0+4.0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=3.0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.0+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.0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8.5</m:t>
                      </m:r>
                    </m:oMath>
                  </m:oMathPara>
                </a14:m>
                <a:endParaRPr lang="he-IL" dirty="0"/>
              </a:p>
              <a:p>
                <a:pPr marL="97155" indent="0" algn="l" rtl="0">
                  <a:buNone/>
                </a:pPr>
                <a:endParaRPr lang="he-IL" dirty="0"/>
              </a:p>
              <a:p>
                <a:pPr marL="97155" indent="0" algn="l" rtl="0">
                  <a:buNone/>
                </a:pPr>
                <a:endParaRPr lang="he-IL" dirty="0"/>
              </a:p>
              <a:p>
                <a:pPr marL="97155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95DE3DBD-2E1C-BD8C-84DC-16A593E81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211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F41C2-A92A-1025-84BD-A98CDFA8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C90898A-E060-F486-CCE0-B3F83E33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חישוב </a:t>
            </a:r>
            <a:r>
              <a:rPr lang="en-US" dirty="0"/>
              <a:t>Q1,Q3</a:t>
            </a:r>
            <a:br>
              <a:rPr lang="he-IL" dirty="0"/>
            </a:br>
            <a:r>
              <a:rPr lang="he-IL" dirty="0">
                <a:solidFill>
                  <a:srgbClr val="0070C0"/>
                </a:solidFill>
              </a:rPr>
              <a:t>דוגמה </a:t>
            </a:r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he-IL" dirty="0">
                <a:solidFill>
                  <a:srgbClr val="0070C0"/>
                </a:solidFill>
              </a:rPr>
              <a:t> זוגי 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7CEF8CB5-31EE-2CF5-C4EA-CA2FE8D42D5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dirty="0"/>
                  <a:t>נתונים הערכים: </a:t>
                </a:r>
                <a:r>
                  <a:rPr lang="en-US" dirty="0"/>
                  <a:t>x=(12.0, 5.0, 8.0 ,3.0) 	</a:t>
                </a:r>
              </a:p>
              <a:p>
                <a:r>
                  <a:rPr lang="he-IL" dirty="0"/>
                  <a:t>שלב ראשון מיון הערכים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(3.0, 5.0, 8.0,12.0)</m:t>
                    </m:r>
                  </m:oMath>
                </a14:m>
                <a:endParaRPr lang="he-IL" dirty="0"/>
              </a:p>
              <a:p>
                <a:r>
                  <a:rPr lang="he-IL" dirty="0"/>
                  <a:t>שלב שני חישוב החציון. חשבנו מקודם  </a:t>
                </a:r>
                <a:r>
                  <a:rPr lang="en-US" dirty="0"/>
                  <a:t>median=6.5</a:t>
                </a:r>
                <a:endParaRPr lang="he-IL" dirty="0"/>
              </a:p>
              <a:p>
                <a:r>
                  <a:rPr lang="he-IL" dirty="0"/>
                  <a:t>שלב שלישי פיצול החצאים, ללא החציון: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5.0), (8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.0, 12.0)</m:t>
                    </m:r>
                  </m:oMath>
                </a14:m>
                <a:endParaRPr lang="en-US" dirty="0"/>
              </a:p>
              <a:p>
                <a:pPr marL="97155" indent="0" algn="r">
                  <a:buNone/>
                </a:pPr>
                <a:r>
                  <a:rPr lang="he-IL" dirty="0"/>
                  <a:t>שלב רביעי חישוב הרבעונים: </a:t>
                </a:r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3.0+5.0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=4.0 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.0+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.0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10.0</m:t>
                      </m:r>
                    </m:oMath>
                  </m:oMathPara>
                </a14:m>
                <a:endParaRPr lang="he-IL" dirty="0"/>
              </a:p>
              <a:p>
                <a:pPr marL="97155" indent="0" algn="l" rtl="0">
                  <a:buNone/>
                </a:pPr>
                <a:endParaRPr lang="he-IL" dirty="0"/>
              </a:p>
              <a:p>
                <a:pPr marL="97155" indent="0" algn="l" rtl="0">
                  <a:buNone/>
                </a:pPr>
                <a:endParaRPr lang="he-IL" dirty="0"/>
              </a:p>
              <a:p>
                <a:pPr marL="97155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7CEF8CB5-31EE-2CF5-C4EA-CA2FE8D42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738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AE6907-51AF-9889-2629-8E4A64F8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השכיח (</a:t>
            </a:r>
            <a:r>
              <a:rPr lang="en-US" dirty="0"/>
              <a:t>mode</a:t>
            </a:r>
            <a:r>
              <a:rPr lang="he-IL" dirty="0"/>
              <a:t>)</a:t>
            </a:r>
            <a:endParaRPr lang="he-IL" dirty="0">
              <a:solidFill>
                <a:srgbClr val="0070C0"/>
              </a:solidFill>
            </a:endParaRP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C8A4C9B-A5D5-F126-65E7-DAE060323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b="1" dirty="0"/>
              <a:t>שכיח</a:t>
            </a:r>
            <a:r>
              <a:rPr lang="he-IL" dirty="0"/>
              <a:t> הוא הערך שמופיע </a:t>
            </a:r>
            <a:r>
              <a:rPr lang="he-IL" b="1" dirty="0"/>
              <a:t>בתדירות הגבוהה ביותר</a:t>
            </a:r>
            <a:r>
              <a:rPr lang="he-IL" dirty="0"/>
              <a:t> בקבוצת נתונים.</a:t>
            </a:r>
          </a:p>
          <a:p>
            <a:r>
              <a:rPr lang="he-IL" dirty="0">
                <a:latin typeface="Cambria Math" panose="02040503050406030204" pitchFamily="18" charset="0"/>
              </a:rPr>
              <a:t>דוגמה:</a:t>
            </a:r>
          </a:p>
          <a:p>
            <a:r>
              <a:rPr lang="he-IL" b="0" dirty="0">
                <a:latin typeface="Cambria Math" panose="02040503050406030204" pitchFamily="18" charset="0"/>
              </a:rPr>
              <a:t>(בננה, </a:t>
            </a:r>
            <a:r>
              <a:rPr lang="he-IL" b="0" dirty="0">
                <a:solidFill>
                  <a:srgbClr val="FF0000"/>
                </a:solidFill>
                <a:latin typeface="Cambria Math" panose="02040503050406030204" pitchFamily="18" charset="0"/>
              </a:rPr>
              <a:t>תפוח</a:t>
            </a:r>
            <a:r>
              <a:rPr lang="he-IL" b="0" dirty="0">
                <a:latin typeface="Cambria Math" panose="02040503050406030204" pitchFamily="18" charset="0"/>
              </a:rPr>
              <a:t>, בננה, </a:t>
            </a:r>
            <a:r>
              <a:rPr lang="he-IL" b="0" dirty="0">
                <a:solidFill>
                  <a:srgbClr val="FF0000"/>
                </a:solidFill>
                <a:latin typeface="Cambria Math" panose="02040503050406030204" pitchFamily="18" charset="0"/>
              </a:rPr>
              <a:t>תפוח</a:t>
            </a:r>
            <a:r>
              <a:rPr lang="he-IL" b="0" dirty="0">
                <a:latin typeface="Cambria Math" panose="02040503050406030204" pitchFamily="18" charset="0"/>
              </a:rPr>
              <a:t>, </a:t>
            </a:r>
            <a:r>
              <a:rPr lang="he-IL" b="0" dirty="0">
                <a:solidFill>
                  <a:srgbClr val="FF0000"/>
                </a:solidFill>
                <a:latin typeface="Cambria Math" panose="02040503050406030204" pitchFamily="18" charset="0"/>
              </a:rPr>
              <a:t>תפוח</a:t>
            </a:r>
            <a:r>
              <a:rPr lang="he-IL" b="0" dirty="0">
                <a:latin typeface="Cambria Math" panose="02040503050406030204" pitchFamily="18" charset="0"/>
              </a:rPr>
              <a:t>, תות)</a:t>
            </a:r>
          </a:p>
          <a:p>
            <a:r>
              <a:rPr lang="he-IL" dirty="0">
                <a:latin typeface="Cambria Math" panose="02040503050406030204" pitchFamily="18" charset="0"/>
              </a:rPr>
              <a:t>השכיח הוא: </a:t>
            </a:r>
            <a:r>
              <a:rPr lang="he-IL" dirty="0">
                <a:solidFill>
                  <a:srgbClr val="FF0000"/>
                </a:solidFill>
                <a:latin typeface="Cambria Math" panose="02040503050406030204" pitchFamily="18" charset="0"/>
              </a:rPr>
              <a:t>תפוח</a:t>
            </a:r>
            <a:endParaRPr lang="he-IL" b="0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 marL="97155" indent="0" algn="l" rtl="0">
              <a:buNone/>
            </a:pPr>
            <a:endParaRPr lang="he-IL" b="0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630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AE6907-51AF-9889-2629-8E4A64F8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חישוב השכיח (</a:t>
            </a:r>
            <a:r>
              <a:rPr lang="en-US" dirty="0"/>
              <a:t>mode</a:t>
            </a:r>
            <a:r>
              <a:rPr lang="he-IL" dirty="0"/>
              <a:t>)</a:t>
            </a:r>
            <a:endParaRPr lang="he-IL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2C8A4C9B-A5D5-F126-65E7-DAE06032320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b="1" dirty="0"/>
                  <a:t>שכיח</a:t>
                </a:r>
                <a:r>
                  <a:rPr lang="he-IL" dirty="0"/>
                  <a:t> הוא הערך שמופיע </a:t>
                </a:r>
                <a:r>
                  <a:rPr lang="he-IL" b="1" dirty="0"/>
                  <a:t>בתדירות הגבוהה ביותר</a:t>
                </a:r>
                <a:r>
                  <a:rPr lang="he-IL" dirty="0"/>
                  <a:t> בקבוצת נתונים.</a:t>
                </a:r>
                <a:endParaRPr lang="he-IL" b="0" i="1" dirty="0">
                  <a:latin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endParaRPr lang="he-IL" b="0" i="1" dirty="0">
                  <a:latin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𝑚𝑜𝑑𝑒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</m:fun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𝑓𝑟𝑒𝑞𝑢𝑒𝑛𝑐𝑦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97155" indent="0" algn="l" rtl="0">
                  <a:buNone/>
                </a:pPr>
                <a:endParaRPr lang="en-US" b="0" dirty="0"/>
              </a:p>
              <a:p>
                <a:pPr marL="97155" indent="0" algn="r">
                  <a:buNone/>
                </a:pPr>
                <a:r>
                  <a:rPr lang="he-IL" b="0" dirty="0"/>
                  <a:t>עשוי להיות מצבים בהם:</a:t>
                </a:r>
              </a:p>
              <a:p>
                <a:r>
                  <a:rPr lang="he-IL" dirty="0"/>
                  <a:t>אין שכיח (כל הערכים ייחודיים).</a:t>
                </a:r>
              </a:p>
              <a:p>
                <a:r>
                  <a:rPr lang="he-IL" b="0" dirty="0"/>
                  <a:t>יש יותר משכיח אחד (</a:t>
                </a:r>
                <a:r>
                  <a:rPr lang="en-US" b="0" dirty="0"/>
                  <a:t>bimodal, multimodal</a:t>
                </a:r>
                <a:r>
                  <a:rPr lang="he-IL" b="0" dirty="0"/>
                  <a:t>).</a:t>
                </a:r>
                <a:endParaRPr lang="en-US" b="0" dirty="0"/>
              </a:p>
              <a:p>
                <a:pPr marL="97155" indent="0" algn="l" rtl="0">
                  <a:buNone/>
                </a:pPr>
                <a:endParaRPr lang="en-US" dirty="0"/>
              </a:p>
              <a:p>
                <a:pPr marL="97155" indent="0" algn="l" rtl="0">
                  <a:buNone/>
                </a:pPr>
                <a:endParaRPr lang="en-US" dirty="0"/>
              </a:p>
              <a:p>
                <a:pPr marL="97155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2C8A4C9B-A5D5-F126-65E7-DAE0603232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865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AE6907-51AF-9889-2629-8E4A64F8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חישוב השכיח (</a:t>
            </a:r>
            <a:r>
              <a:rPr lang="en-US"/>
              <a:t>mode</a:t>
            </a:r>
            <a:r>
              <a:rPr lang="he-IL"/>
              <a:t>)</a:t>
            </a:r>
            <a:br>
              <a:rPr lang="he-IL"/>
            </a:br>
            <a:r>
              <a:rPr lang="he-IL">
                <a:solidFill>
                  <a:srgbClr val="0070C0"/>
                </a:solidFill>
              </a:rPr>
              <a:t>דוגמה</a:t>
            </a:r>
            <a:endParaRPr lang="he-IL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2C8A4C9B-A5D5-F126-65E7-DAE06032320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𝑚𝑜𝑑𝑒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</m:fun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𝑓𝑟𝑒𝑞𝑢𝑒𝑛𝑐𝑦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97155" indent="0" algn="l" rtl="0">
                  <a:buNone/>
                </a:pPr>
                <a:r>
                  <a:rPr lang="en-US" dirty="0"/>
                  <a:t>		</a:t>
                </a:r>
              </a:p>
              <a:p>
                <a:pPr marL="97155" indent="0" algn="l" rtl="0">
                  <a:buNone/>
                </a:pPr>
                <a:r>
                  <a:rPr lang="en-US" b="0" dirty="0"/>
                  <a:t>			x=(3.0, 1.0, 3.0, 4.0, 3</a:t>
                </a:r>
                <a:r>
                  <a:rPr lang="en-US" dirty="0"/>
                  <a:t>.0</a:t>
                </a:r>
                <a:r>
                  <a:rPr lang="en-US" b="0" dirty="0"/>
                  <a:t>, 3.0, 4.0, 4.0, 5.0, 1.0)</a:t>
                </a:r>
              </a:p>
              <a:p>
                <a:pPr marL="97155" indent="0" algn="l" rtl="0">
                  <a:buNone/>
                </a:pPr>
                <a:endParaRPr lang="en-US" dirty="0"/>
              </a:p>
              <a:p>
                <a:pPr marL="97155" indent="0" algn="l" rtl="0">
                  <a:buNone/>
                </a:pPr>
                <a:r>
                  <a:rPr lang="en-US" dirty="0"/>
                  <a:t>			frequency(x): {1.0 : 2, 3.0 : 4, 4.0 : 3, 5.0 : 1}</a:t>
                </a:r>
              </a:p>
              <a:p>
                <a:pPr marL="97155" indent="0" algn="l" rtl="0">
                  <a:buNone/>
                </a:pPr>
                <a:r>
                  <a:rPr lang="en-US" dirty="0"/>
                  <a:t>			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e>
                        </m:fun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𝑓𝑟𝑒𝑞𝑢𝑒𝑛𝑐𝑦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=3.0</a:t>
                </a:r>
              </a:p>
              <a:p>
                <a:pPr marL="97155" indent="0" algn="l" rtl="0">
                  <a:buNone/>
                </a:pPr>
                <a:endParaRPr lang="en-US" dirty="0"/>
              </a:p>
              <a:p>
                <a:pPr marL="97155" indent="0" algn="r">
                  <a:buNone/>
                </a:pPr>
                <a:r>
                  <a:rPr lang="he-IL" sz="1600" dirty="0"/>
                  <a:t>הערה: זהו </a:t>
                </a:r>
                <a:r>
                  <a:rPr lang="en-US" sz="1600" dirty="0"/>
                  <a:t>argmax</a:t>
                </a:r>
                <a:r>
                  <a:rPr lang="he-IL" sz="1600" dirty="0"/>
                  <a:t> מתמטי ולא </a:t>
                </a:r>
                <a:r>
                  <a:rPr lang="en-US" sz="1600" dirty="0" err="1"/>
                  <a:t>np.argmax</a:t>
                </a:r>
                <a:endParaRPr lang="he-IL" sz="1600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2C8A4C9B-A5D5-F126-65E7-DAE0603232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818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505DE8-D2A3-EE1D-61DA-46FAF4E9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התפלגות נתונים סימטרית ואסימטרית (</a:t>
            </a:r>
            <a:r>
              <a:rPr lang="en-US" dirty="0"/>
              <a:t>skew</a:t>
            </a:r>
            <a:r>
              <a:rPr lang="he-IL" dirty="0"/>
              <a:t>)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DADA62A4-3D43-5622-837A-646515A11A6F}"/>
              </a:ext>
            </a:extLst>
          </p:cNvPr>
          <p:cNvSpPr txBox="1"/>
          <p:nvPr/>
        </p:nvSpPr>
        <p:spPr>
          <a:xfrm>
            <a:off x="10507715" y="5352648"/>
            <a:ext cx="77776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hlinkClick r:id="rId2"/>
              </a:rPr>
              <a:t>מקור התמונה</a:t>
            </a:r>
            <a:endParaRPr lang="he-IL"/>
          </a:p>
        </p:txBody>
      </p:sp>
      <p:pic>
        <p:nvPicPr>
          <p:cNvPr id="12" name="תמונה 11" descr="תמונה שמכילה קו, עלילה, תרשים, טקס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E6BDB48-A218-CF8C-A223-CDCCD20DA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433" y="2428673"/>
            <a:ext cx="7705725" cy="2781300"/>
          </a:xfrm>
          <a:prstGeom prst="rect">
            <a:avLst/>
          </a:prstGeom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A55ED725-A302-4245-7D68-79759B28FD89}"/>
              </a:ext>
            </a:extLst>
          </p:cNvPr>
          <p:cNvSpPr txBox="1"/>
          <p:nvPr/>
        </p:nvSpPr>
        <p:spPr>
          <a:xfrm>
            <a:off x="2518967" y="5369187"/>
            <a:ext cx="2039006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התפלגות בעלת זנב שמאלי</a:t>
            </a:r>
            <a:endParaRPr lang="en-US" dirty="0"/>
          </a:p>
          <a:p>
            <a:pPr algn="ctr"/>
            <a:r>
              <a:rPr lang="en-US" dirty="0"/>
              <a:t>Left skewed</a:t>
            </a:r>
          </a:p>
          <a:p>
            <a:pPr algn="ctr"/>
            <a:r>
              <a:rPr lang="en-US" dirty="0"/>
              <a:t>Mean&lt;Median&lt;Mode</a:t>
            </a:r>
            <a:endParaRPr lang="he-IL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635A9657-C7B6-7A1A-ED22-ACCA42D42AA4}"/>
              </a:ext>
            </a:extLst>
          </p:cNvPr>
          <p:cNvSpPr txBox="1"/>
          <p:nvPr/>
        </p:nvSpPr>
        <p:spPr>
          <a:xfrm>
            <a:off x="7110766" y="5369065"/>
            <a:ext cx="2264979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התפלגות בעלת זנב ימני</a:t>
            </a:r>
            <a:endParaRPr lang="en-US" dirty="0"/>
          </a:p>
          <a:p>
            <a:pPr algn="ctr"/>
            <a:r>
              <a:rPr lang="en-US" dirty="0"/>
              <a:t>Right skewed</a:t>
            </a:r>
          </a:p>
          <a:p>
            <a:pPr algn="ctr"/>
            <a:r>
              <a:rPr lang="en-US" dirty="0"/>
              <a:t>Mode&lt;Median&lt;Mean</a:t>
            </a:r>
            <a:endParaRPr lang="he-IL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7F66EE49-B934-CFD3-6B36-B5B5D6392BF6}"/>
              </a:ext>
            </a:extLst>
          </p:cNvPr>
          <p:cNvSpPr txBox="1"/>
          <p:nvPr/>
        </p:nvSpPr>
        <p:spPr>
          <a:xfrm>
            <a:off x="4777417" y="5369065"/>
            <a:ext cx="2264979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dirty="0"/>
              <a:t>התפלגות סימטרית</a:t>
            </a:r>
            <a:endParaRPr lang="en-US" dirty="0"/>
          </a:p>
          <a:p>
            <a:pPr algn="ctr"/>
            <a:r>
              <a:rPr lang="en-US" dirty="0"/>
              <a:t>No skew</a:t>
            </a:r>
          </a:p>
          <a:p>
            <a:pPr algn="ctr"/>
            <a:r>
              <a:rPr lang="en-US" dirty="0" err="1"/>
              <a:t>Mode≈Median≈Mean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93012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290507-7223-996D-0231-C0538D625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כיצד נבחר מדדי ריכוז?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779FF69-A348-5D85-39B2-C947F2134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ממוצע: כאשר הנתונים סימטריים, אין חריגים קיצוניים, חשוב לנו הערכה כללית</a:t>
            </a:r>
          </a:p>
          <a:p>
            <a:r>
              <a:rPr lang="he-IL" dirty="0"/>
              <a:t>חציון: כאשר הנתונים מוטים, יש ערכים חריגים, רוצים ערך טיפוסי שאינו מושפע מערכי קיצון</a:t>
            </a:r>
          </a:p>
          <a:p>
            <a:r>
              <a:rPr lang="he-IL" dirty="0"/>
              <a:t>שכיח: כאשר הנתונים הם קטגוריאליים (משתנה בדיד) וחשוב לנו המקרה השכיח.</a:t>
            </a:r>
          </a:p>
          <a:p>
            <a:pPr lv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61776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A6FA-7F0D-5E2F-0E23-BCDDB45F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359C1D-6BA8-1752-2D18-33CA52DC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שונות</a:t>
            </a:r>
            <a:endParaRPr lang="he-IL" dirty="0"/>
          </a:p>
        </p:txBody>
      </p:sp>
      <p:sp>
        <p:nvSpPr>
          <p:cNvPr id="8" name="מציין מיקום טקסט 7">
            <a:extLst>
              <a:ext uri="{FF2B5EF4-FFF2-40B4-BE49-F238E27FC236}">
                <a16:creationId xmlns:a16="http://schemas.microsoft.com/office/drawing/2014/main" id="{EE205C9C-1F99-5CC3-2853-F55674C0D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0525" y="2681696"/>
            <a:ext cx="9086906" cy="3194172"/>
          </a:xfrm>
        </p:spPr>
        <p:txBody>
          <a:bodyPr/>
          <a:lstStyle/>
          <a:p>
            <a:r>
              <a:rPr lang="he-IL"/>
              <a:t>שונות (</a:t>
            </a:r>
            <a:r>
              <a:rPr lang="en-US"/>
              <a:t>variance</a:t>
            </a:r>
            <a:r>
              <a:rPr lang="he-IL"/>
              <a:t>) היא מדד סטטיסטי שמודד כמה הנתונים מפוזרים סביב הממוצע. כלומר: עד כמה הערכים "מתרחקים" מהממוצע.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60BF4889-47CE-E854-4022-1D70D760DB57}"/>
              </a:ext>
            </a:extLst>
          </p:cNvPr>
          <p:cNvSpPr txBox="1"/>
          <p:nvPr/>
        </p:nvSpPr>
        <p:spPr>
          <a:xfrm>
            <a:off x="9349665" y="5216101"/>
            <a:ext cx="777766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2"/>
              </a:rPr>
              <a:t>מקור התמונה</a:t>
            </a:r>
            <a:endParaRPr lang="he-IL" dirty="0"/>
          </a:p>
        </p:txBody>
      </p:sp>
      <p:pic>
        <p:nvPicPr>
          <p:cNvPr id="3" name="תמונה 2" descr="1024px-Comparison_standard_deviations.svg.png">
            <a:extLst>
              <a:ext uri="{FF2B5EF4-FFF2-40B4-BE49-F238E27FC236}">
                <a16:creationId xmlns:a16="http://schemas.microsoft.com/office/drawing/2014/main" id="{6C7C5365-7B92-2423-40C8-379209EA7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690" y="3743215"/>
            <a:ext cx="3225732" cy="238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47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722402A-FC6A-6654-3998-2C062684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שונות אוכלוסייה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טקסט 2">
                <a:extLst>
                  <a:ext uri="{FF2B5EF4-FFF2-40B4-BE49-F238E27FC236}">
                    <a16:creationId xmlns:a16="http://schemas.microsoft.com/office/drawing/2014/main" id="{64A29E59-52DD-3A27-D8F4-EC2B746AE8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74399" y="2457753"/>
                <a:ext cx="4010530" cy="1613485"/>
              </a:xfrm>
            </p:spPr>
            <p:txBody>
              <a:bodyPr>
                <a:normAutofit/>
              </a:bodyPr>
              <a:lstStyle/>
              <a:p>
                <a:pPr marL="97155" indent="0" algn="ctr">
                  <a:buNone/>
                </a:pPr>
                <a:r>
                  <a:rPr lang="he-IL" dirty="0"/>
                  <a:t>שונות אוכלוסייה</a:t>
                </a:r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e-I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e-I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4" name="מציין מיקום טקסט 2">
                <a:extLst>
                  <a:ext uri="{FF2B5EF4-FFF2-40B4-BE49-F238E27FC236}">
                    <a16:creationId xmlns:a16="http://schemas.microsoft.com/office/drawing/2014/main" id="{64A29E59-52DD-3A27-D8F4-EC2B746AE8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74399" y="2457753"/>
                <a:ext cx="4010530" cy="161348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172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0BF25-2C65-EF10-A7EC-6CFE8528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A1B6E1-72D4-5B9D-5798-778A0D07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שונות מדגם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ציין מיקום טקסט 2">
                <a:extLst>
                  <a:ext uri="{FF2B5EF4-FFF2-40B4-BE49-F238E27FC236}">
                    <a16:creationId xmlns:a16="http://schemas.microsoft.com/office/drawing/2014/main" id="{865393AE-3F22-91B7-752B-33C5A221D1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90735" y="2615008"/>
                <a:ext cx="4010530" cy="16134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0045" algn="r" rtl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1pPr>
                <a:lvl2pPr marL="914400" marR="0" lvl="1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0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2pPr>
                <a:lvl3pPr marL="1371600" marR="0" lvl="2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8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3pPr>
                <a:lvl4pPr marL="1828800" marR="0" lvl="3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6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4pPr>
                <a:lvl5pPr marL="2286000" marR="0" lvl="4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5pPr>
                <a:lvl6pPr marL="2743200" marR="0" lvl="5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6pPr>
                <a:lvl7pPr marL="3200400" marR="0" lvl="6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7pPr>
                <a:lvl8pPr marL="3657600" marR="0" lvl="7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8pPr>
                <a:lvl9pPr marL="4114800" marR="0" lvl="8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9pPr>
              </a:lstStyle>
              <a:p>
                <a:pPr marL="97155" indent="0" algn="ctr">
                  <a:buFont typeface="Arial"/>
                  <a:buNone/>
                </a:pPr>
                <a:r>
                  <a:rPr lang="he-IL" dirty="0"/>
                  <a:t>שונות מדגם</a:t>
                </a:r>
              </a:p>
              <a:p>
                <a:pPr marL="97155" indent="0" algn="l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e-I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e-IL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Font typeface="Arial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מציין מיקום טקסט 2">
                <a:extLst>
                  <a:ext uri="{FF2B5EF4-FFF2-40B4-BE49-F238E27FC236}">
                    <a16:creationId xmlns:a16="http://schemas.microsoft.com/office/drawing/2014/main" id="{865393AE-3F22-91B7-752B-33C5A221D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735" y="2615008"/>
                <a:ext cx="4010530" cy="16134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מציין מיקום טקסט 2">
                <a:extLst>
                  <a:ext uri="{FF2B5EF4-FFF2-40B4-BE49-F238E27FC236}">
                    <a16:creationId xmlns:a16="http://schemas.microsoft.com/office/drawing/2014/main" id="{1C278A73-C2F8-AE98-169C-1A31E73DF8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78372" y="4421668"/>
                <a:ext cx="5222893" cy="1303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0045" algn="r" rtl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1pPr>
                <a:lvl2pPr marL="914400" marR="0" lvl="1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0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2pPr>
                <a:lvl3pPr marL="1371600" marR="0" lvl="2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8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3pPr>
                <a:lvl4pPr marL="1828800" marR="0" lvl="3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6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4pPr>
                <a:lvl5pPr marL="2286000" marR="0" lvl="4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5pPr>
                <a:lvl6pPr marL="2743200" marR="0" lvl="5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6pPr>
                <a:lvl7pPr marL="3200400" marR="0" lvl="6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7pPr>
                <a:lvl8pPr marL="3657600" marR="0" lvl="7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8pPr>
                <a:lvl9pPr marL="4114800" marR="0" lvl="8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9pPr>
              </a:lstStyle>
              <a:p>
                <a:pPr marL="97155" indent="0">
                  <a:buNone/>
                </a:pPr>
                <a:r>
                  <a:rPr lang="he-IL" dirty="0"/>
                  <a:t>ממוצע המדגם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he-IL" dirty="0"/>
                  <a:t> משמש כהערכה של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he-IL" dirty="0"/>
                  <a:t>. המרחקים ממנו בממוצע קטנים יותר ולכן נשתמש ב </a:t>
                </a:r>
                <a:r>
                  <a:rPr lang="en-US" dirty="0"/>
                  <a:t>n-1</a:t>
                </a:r>
                <a:r>
                  <a:rPr lang="he-IL" dirty="0"/>
                  <a:t> (תיקון </a:t>
                </a:r>
                <a:r>
                  <a:rPr lang="en-US" dirty="0"/>
                  <a:t>Bessel</a:t>
                </a:r>
                <a:r>
                  <a:rPr lang="he-IL" dirty="0"/>
                  <a:t>).</a:t>
                </a:r>
              </a:p>
            </p:txBody>
          </p:sp>
        </mc:Choice>
        <mc:Fallback xmlns="">
          <p:sp>
            <p:nvSpPr>
              <p:cNvPr id="6" name="מציין מיקום טקסט 2">
                <a:extLst>
                  <a:ext uri="{FF2B5EF4-FFF2-40B4-BE49-F238E27FC236}">
                    <a16:creationId xmlns:a16="http://schemas.microsoft.com/office/drawing/2014/main" id="{1C278A73-C2F8-AE98-169C-1A31E73DF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372" y="4421668"/>
                <a:ext cx="5222893" cy="1303867"/>
              </a:xfrm>
              <a:prstGeom prst="rect">
                <a:avLst/>
              </a:prstGeom>
              <a:blipFill>
                <a:blip r:embed="rId3"/>
                <a:stretch>
                  <a:fillRect b="-56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512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722402A-FC6A-6654-3998-2C062684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סטיית תקן אוכלוסייה ומדגם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טקסט 2">
                <a:extLst>
                  <a:ext uri="{FF2B5EF4-FFF2-40B4-BE49-F238E27FC236}">
                    <a16:creationId xmlns:a16="http://schemas.microsoft.com/office/drawing/2014/main" id="{64A29E59-52DD-3A27-D8F4-EC2B746AE8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86068" y="2557465"/>
                <a:ext cx="4010530" cy="2333318"/>
              </a:xfrm>
            </p:spPr>
            <p:txBody>
              <a:bodyPr>
                <a:normAutofit/>
              </a:bodyPr>
              <a:lstStyle/>
              <a:p>
                <a:pPr marL="97155" indent="0" algn="ctr">
                  <a:buNone/>
                </a:pPr>
                <a:r>
                  <a:rPr lang="he-IL" dirty="0"/>
                  <a:t>סטיית תקן אוכלוסייה</a:t>
                </a:r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he-I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he-I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he-I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he-I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he-I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4" name="מציין מיקום טקסט 2">
                <a:extLst>
                  <a:ext uri="{FF2B5EF4-FFF2-40B4-BE49-F238E27FC236}">
                    <a16:creationId xmlns:a16="http://schemas.microsoft.com/office/drawing/2014/main" id="{64A29E59-52DD-3A27-D8F4-EC2B746AE8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86068" y="2557465"/>
                <a:ext cx="4010530" cy="233331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ציין מיקום טקסט 2">
                <a:extLst>
                  <a:ext uri="{FF2B5EF4-FFF2-40B4-BE49-F238E27FC236}">
                    <a16:creationId xmlns:a16="http://schemas.microsoft.com/office/drawing/2014/main" id="{1ACBFF46-8A0A-332D-A613-9F044D20CE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44311" y="2627424"/>
                <a:ext cx="4563541" cy="2120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0045" algn="r" rtl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1pPr>
                <a:lvl2pPr marL="914400" marR="0" lvl="1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0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2pPr>
                <a:lvl3pPr marL="1371600" marR="0" lvl="2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8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3pPr>
                <a:lvl4pPr marL="1828800" marR="0" lvl="3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6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4pPr>
                <a:lvl5pPr marL="2286000" marR="0" lvl="4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5pPr>
                <a:lvl6pPr marL="2743200" marR="0" lvl="5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6pPr>
                <a:lvl7pPr marL="3200400" marR="0" lvl="6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7pPr>
                <a:lvl8pPr marL="3657600" marR="0" lvl="7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8pPr>
                <a:lvl9pPr marL="4114800" marR="0" lvl="8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9pPr>
              </a:lstStyle>
              <a:p>
                <a:pPr marL="97155" indent="0" algn="ctr">
                  <a:buFont typeface="Arial"/>
                  <a:buNone/>
                </a:pPr>
                <a:r>
                  <a:rPr lang="he-IL" dirty="0"/>
                  <a:t>סטיית תקן מדגם</a:t>
                </a:r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he-I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he-I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e-I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he-IL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he-IL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Font typeface="Arial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מציין מיקום טקסט 2">
                <a:extLst>
                  <a:ext uri="{FF2B5EF4-FFF2-40B4-BE49-F238E27FC236}">
                    <a16:creationId xmlns:a16="http://schemas.microsoft.com/office/drawing/2014/main" id="{1ACBFF46-8A0A-332D-A613-9F044D20C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311" y="2627424"/>
                <a:ext cx="4563541" cy="21207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5FE106C2-895F-FDA0-6046-D57C77BEFFB7}"/>
                  </a:ext>
                </a:extLst>
              </p:cNvPr>
              <p:cNvSpPr txBox="1"/>
              <p:nvPr/>
            </p:nvSpPr>
            <p:spPr>
              <a:xfrm>
                <a:off x="3224493" y="4572002"/>
                <a:ext cx="611455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1">
                  <a:buNone/>
                </a:pPr>
                <a:r>
                  <a:rPr lang="he-IL"/>
                  <a:t>דוגמא ממוצע גבהים (מבוגרים)</a:t>
                </a:r>
              </a:p>
              <a:p>
                <a:pPr algn="ctr" rtl="1">
                  <a:buNone/>
                </a:pPr>
                <a:r>
                  <a:rPr lang="he-IL"/>
                  <a:t>ממוצע גובה ~</a:t>
                </a:r>
                <a:r>
                  <a:rPr lang="en-US"/>
                  <a:t>175</a:t>
                </a:r>
                <a:r>
                  <a:rPr lang="he-IL"/>
                  <a:t> ס"מ</a:t>
                </a:r>
              </a:p>
              <a:p>
                <a:pPr algn="ctr" rtl="1">
                  <a:buNone/>
                </a:pPr>
                <a:r>
                  <a:rPr lang="he-IL"/>
                  <a:t>סטיית תקן (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he-IL"/>
                  <a:t>) ~7 ס"מ</a:t>
                </a:r>
              </a:p>
              <a:p>
                <a:pPr algn="ctr" rtl="1">
                  <a:buNone/>
                </a:pPr>
                <a:r>
                  <a:rPr lang="he-IL"/>
                  <a:t>שונות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/>
                  <a:t>) ~49 סמ"ר</a:t>
                </a:r>
              </a:p>
            </p:txBody>
          </p:sp>
        </mc:Choice>
        <mc:Fallback xmlns="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5FE106C2-895F-FDA0-6046-D57C77BEF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493" y="4572002"/>
                <a:ext cx="6114552" cy="954107"/>
              </a:xfrm>
              <a:prstGeom prst="rect">
                <a:avLst/>
              </a:prstGeom>
              <a:blipFill>
                <a:blip r:embed="rId4"/>
                <a:stretch>
                  <a:fillRect t="-1274" b="-50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9855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8BA6EE-711A-F81E-880E-23969AF3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שונות וסטיית תקן</a:t>
            </a:r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7A621ACF-FBFC-9EEB-3A97-35CCB8750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664882"/>
              </p:ext>
            </p:extLst>
          </p:nvPr>
        </p:nvGraphicFramePr>
        <p:xfrm>
          <a:off x="2192422" y="3142024"/>
          <a:ext cx="8127999" cy="2286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906120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3034710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35285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היבט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שונות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סטיית תקן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9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מה מודדים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פיזור סביב הממוצע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פיזור סביב הממוצע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891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יחידות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יחידות בריבוע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אותן יחידות כמו הנתונים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18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יתרון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נוחה לחישוב וניתוח מתמטי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קלה להבנה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82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שימוש עיקרי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חישובים, תאוריה, </a:t>
                      </a:r>
                      <a:r>
                        <a:rPr lang="en-US" sz="2000"/>
                        <a:t>ML</a:t>
                      </a:r>
                      <a:endParaRPr lang="he-IL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/>
                        <a:t>פרשנות, הצגה, הסבר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727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061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7CCC-49D8-783E-99CD-E5BF0621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4FD5D0-A5F9-14A9-988F-AF5FB57D42E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5400" y="847491"/>
            <a:ext cx="9601200" cy="1303337"/>
          </a:xfrm>
        </p:spPr>
        <p:txBody>
          <a:bodyPr>
            <a:normAutofit/>
          </a:bodyPr>
          <a:lstStyle/>
          <a:p>
            <a:r>
              <a:rPr lang="he-IL">
                <a:solidFill>
                  <a:srgbClr val="0070C0"/>
                </a:solidFill>
              </a:rPr>
              <a:t>דוגמה חישוב שונות אוכלוסיה</a:t>
            </a:r>
            <a:endParaRPr lang="he-IL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טקסט 2">
                <a:extLst>
                  <a:ext uri="{FF2B5EF4-FFF2-40B4-BE49-F238E27FC236}">
                    <a16:creationId xmlns:a16="http://schemas.microsoft.com/office/drawing/2014/main" id="{8B114843-4FC5-F295-D5FD-1D9365B106CB}"/>
                  </a:ext>
                </a:extLst>
              </p:cNvPr>
              <p:cNvSpPr>
                <a:spLocks noGrp="1"/>
              </p:cNvSpPr>
              <p:nvPr>
                <p:ph type="body" idx="4294967295"/>
              </p:nvPr>
            </p:nvSpPr>
            <p:spPr>
              <a:xfrm>
                <a:off x="8078524" y="2375816"/>
                <a:ext cx="3375809" cy="1670201"/>
              </a:xfrm>
            </p:spPr>
            <p:txBody>
              <a:bodyPr>
                <a:normAutofit/>
              </a:bodyPr>
              <a:lstStyle/>
              <a:p>
                <a:pPr marL="97155" indent="0" algn="ctr">
                  <a:buNone/>
                </a:pPr>
                <a:r>
                  <a:rPr lang="he-IL" dirty="0"/>
                  <a:t>שונות אוכלוסייה</a:t>
                </a:r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e-I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e-IL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4" name="מציין מיקום טקסט 2">
                <a:extLst>
                  <a:ext uri="{FF2B5EF4-FFF2-40B4-BE49-F238E27FC236}">
                    <a16:creationId xmlns:a16="http://schemas.microsoft.com/office/drawing/2014/main" id="{8B114843-4FC5-F295-D5FD-1D9365B106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8078524" y="2375816"/>
                <a:ext cx="3375809" cy="167020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ציין מיקום טקסט 2">
                <a:extLst>
                  <a:ext uri="{FF2B5EF4-FFF2-40B4-BE49-F238E27FC236}">
                    <a16:creationId xmlns:a16="http://schemas.microsoft.com/office/drawing/2014/main" id="{C30D9CAC-C83D-1453-834E-C739929008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7666" y="2071315"/>
                <a:ext cx="7184437" cy="3939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850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0045" algn="r" rtl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1pPr>
                <a:lvl2pPr marL="914400" marR="0" lvl="1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0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2pPr>
                <a:lvl3pPr marL="1371600" marR="0" lvl="2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8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3pPr>
                <a:lvl4pPr marL="1828800" marR="0" lvl="3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6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4pPr>
                <a:lvl5pPr marL="2286000" marR="0" lvl="4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5pPr>
                <a:lvl6pPr marL="2743200" marR="0" lvl="5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6pPr>
                <a:lvl7pPr marL="3200400" marR="0" lvl="6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7pPr>
                <a:lvl8pPr marL="3657600" marR="0" lvl="7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8pPr>
                <a:lvl9pPr marL="4114800" marR="0" lvl="8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9pPr>
              </a:lstStyle>
              <a:p>
                <a:r>
                  <a:rPr lang="he-IL" dirty="0"/>
                  <a:t>נתונים הערכים:</a:t>
                </a:r>
              </a:p>
              <a:p>
                <a:pPr marL="97155" indent="0" algn="ctr" rtl="0">
                  <a:buFont typeface="Arial"/>
                  <a:buNone/>
                </a:pPr>
                <a:r>
                  <a:rPr lang="en-US"/>
                  <a:t>x=(2.0, 7.0, 4</a:t>
                </a:r>
                <a:r>
                  <a:rPr lang="he-IL"/>
                  <a:t>.0</a:t>
                </a:r>
                <a:r>
                  <a:rPr lang="en-US"/>
                  <a:t>, 11.0)</a:t>
                </a:r>
                <a:r>
                  <a:rPr lang="en-US" dirty="0"/>
                  <a:t>		</a:t>
                </a:r>
                <a:r>
                  <a:rPr lang="en-US"/>
                  <a:t>n=4 </a:t>
                </a:r>
                <a:r>
                  <a:rPr lang="en-US" dirty="0"/>
                  <a:t>	</a:t>
                </a:r>
              </a:p>
              <a:p>
                <a:r>
                  <a:rPr lang="he-IL"/>
                  <a:t>חישוב ממוצע:</a:t>
                </a:r>
              </a:p>
              <a:p>
                <a:pPr marL="97155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he-I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he-I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.0+7.0+4.0+11.0</m:t>
                          </m:r>
                        </m:num>
                        <m:den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24.0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=6.0</m:t>
                      </m:r>
                    </m:oMath>
                  </m:oMathPara>
                </a14:m>
                <a:endParaRPr lang="he-IL" dirty="0"/>
              </a:p>
              <a:p>
                <a:r>
                  <a:rPr lang="he-IL"/>
                  <a:t>חישוב שונות אוכלוסיה:</a:t>
                </a:r>
                <a:br>
                  <a:rPr lang="en-US"/>
                </a:br>
                <a:endParaRPr lang="he-IL"/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(2.0−6.0)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(7.0−6.0)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(4.0−6.0)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(11.0−6.0)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en-US" b="0" i="1">
                    <a:latin typeface="Cambria Math" panose="02040503050406030204" pitchFamily="18" charset="0"/>
                  </a:rPr>
                </a:br>
                <a:br>
                  <a:rPr lang="en-US" b="0" i="1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16.0+1.0+4.0+25.0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46.0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=11.5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 marL="97155" indent="0" algn="l" rtl="0">
                  <a:buNone/>
                </a:pPr>
                <a:endParaRPr lang="en-US"/>
              </a:p>
              <a:p>
                <a:pPr marL="97155" indent="0" algn="l" rtl="0">
                  <a:buNone/>
                </a:pPr>
                <a:endParaRPr lang="he-IL"/>
              </a:p>
              <a:p>
                <a:endParaRPr lang="en-US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8" name="מציין מיקום טקסט 2">
                <a:extLst>
                  <a:ext uri="{FF2B5EF4-FFF2-40B4-BE49-F238E27FC236}">
                    <a16:creationId xmlns:a16="http://schemas.microsoft.com/office/drawing/2014/main" id="{C30D9CAC-C83D-1453-834E-C73992900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66" y="2071315"/>
                <a:ext cx="7184437" cy="3939194"/>
              </a:xfrm>
              <a:prstGeom prst="rect">
                <a:avLst/>
              </a:prstGeom>
              <a:blipFill>
                <a:blip r:embed="rId3"/>
                <a:stretch>
                  <a:fillRect t="-4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תיבת טקסט 2">
                <a:extLst>
                  <a:ext uri="{FF2B5EF4-FFF2-40B4-BE49-F238E27FC236}">
                    <a16:creationId xmlns:a16="http://schemas.microsoft.com/office/drawing/2014/main" id="{7985FB3D-FA29-0BB5-B2B6-D82171B1AAD8}"/>
                  </a:ext>
                </a:extLst>
              </p:cNvPr>
              <p:cNvSpPr txBox="1"/>
              <p:nvPr/>
            </p:nvSpPr>
            <p:spPr>
              <a:xfrm>
                <a:off x="7922103" y="5104737"/>
                <a:ext cx="3375809" cy="62299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:r>
                  <a:rPr lang="he-IL"/>
                  <a:t>חישוב סטיית תקן אוכלוסיה:</a:t>
                </a:r>
              </a:p>
              <a:p>
                <a:pPr algn="r" rtl="1"/>
                <a14:m>
                  <m:oMathPara xmlns:m="http://schemas.openxmlformats.org/officeDocument/2006/math">
                    <m:oMath>
                      <m:r>
                        <a:rPr lang="he-IL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11.5</m:t>
                          </m:r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≈3.39</m:t>
                      </m:r>
                    </m:oMath>
                  </m:oMathPara>
                </a14:m>
                <a:endParaRPr lang="he-IL" sz="1800"/>
              </a:p>
            </p:txBody>
          </p:sp>
        </mc:Choice>
        <mc:Fallback xmlns="">
          <p:sp>
            <p:nvSpPr>
              <p:cNvPr id="3" name="תיבת טקסט 2">
                <a:extLst>
                  <a:ext uri="{FF2B5EF4-FFF2-40B4-BE49-F238E27FC236}">
                    <a16:creationId xmlns:a16="http://schemas.microsoft.com/office/drawing/2014/main" id="{7985FB3D-FA29-0BB5-B2B6-D82171B1A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103" y="5104737"/>
                <a:ext cx="3375809" cy="622991"/>
              </a:xfrm>
              <a:prstGeom prst="rect">
                <a:avLst/>
              </a:prstGeom>
              <a:blipFill>
                <a:blip r:embed="rId4"/>
                <a:stretch>
                  <a:fillRect t="-971" r="-72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37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E6C3A-ACE3-350A-2296-41C397795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333330-6F5D-0110-899A-8914DB767B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95400" y="847491"/>
            <a:ext cx="9601200" cy="1303337"/>
          </a:xfrm>
        </p:spPr>
        <p:txBody>
          <a:bodyPr>
            <a:normAutofit/>
          </a:bodyPr>
          <a:lstStyle/>
          <a:p>
            <a:r>
              <a:rPr lang="he-IL">
                <a:solidFill>
                  <a:srgbClr val="0070C0"/>
                </a:solidFill>
              </a:rPr>
              <a:t>דוגמה חישוב שונות מדגם</a:t>
            </a:r>
            <a:endParaRPr lang="he-IL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מציין מיקום טקסט 2">
                <a:extLst>
                  <a:ext uri="{FF2B5EF4-FFF2-40B4-BE49-F238E27FC236}">
                    <a16:creationId xmlns:a16="http://schemas.microsoft.com/office/drawing/2014/main" id="{2680D4AE-6B26-0E55-F78A-10CD9D8344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7666" y="2071315"/>
                <a:ext cx="7184437" cy="3939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85000" lnSpcReduction="10000"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0045" algn="r" rtl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1pPr>
                <a:lvl2pPr marL="914400" marR="0" lvl="1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0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2pPr>
                <a:lvl3pPr marL="1371600" marR="0" lvl="2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8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3pPr>
                <a:lvl4pPr marL="1828800" marR="0" lvl="3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6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4pPr>
                <a:lvl5pPr marL="2286000" marR="0" lvl="4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5pPr>
                <a:lvl6pPr marL="2743200" marR="0" lvl="5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6pPr>
                <a:lvl7pPr marL="3200400" marR="0" lvl="6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7pPr>
                <a:lvl8pPr marL="3657600" marR="0" lvl="7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8pPr>
                <a:lvl9pPr marL="4114800" marR="0" lvl="8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9pPr>
              </a:lstStyle>
              <a:p>
                <a:r>
                  <a:rPr lang="he-IL" dirty="0"/>
                  <a:t>נתונים הערכים:</a:t>
                </a:r>
              </a:p>
              <a:p>
                <a:pPr marL="97155" indent="0" algn="ctr" rtl="0">
                  <a:buFont typeface="Arial"/>
                  <a:buNone/>
                </a:pPr>
                <a:r>
                  <a:rPr lang="en-US" dirty="0"/>
                  <a:t>x=(2.0, 7.0, 4</a:t>
                </a:r>
                <a:r>
                  <a:rPr lang="he-IL" dirty="0"/>
                  <a:t>.0</a:t>
                </a:r>
                <a:r>
                  <a:rPr lang="en-US" dirty="0"/>
                  <a:t>, 11.0)		n=4 	</a:t>
                </a:r>
              </a:p>
              <a:p>
                <a:r>
                  <a:rPr lang="he-IL" dirty="0"/>
                  <a:t>חישוב ממוצע:</a:t>
                </a:r>
              </a:p>
              <a:p>
                <a:pPr marL="97155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he-I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.0+7.0+4.0+11.0</m:t>
                          </m:r>
                        </m:num>
                        <m:den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24.0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=6.0</m:t>
                      </m:r>
                    </m:oMath>
                  </m:oMathPara>
                </a14:m>
                <a:endParaRPr lang="he-IL" dirty="0"/>
              </a:p>
              <a:p>
                <a:r>
                  <a:rPr lang="he-IL" dirty="0"/>
                  <a:t>חישוב שונות מדגם:</a:t>
                </a:r>
                <a:br>
                  <a:rPr lang="en-US" dirty="0"/>
                </a:br>
                <a:endParaRPr lang="he-IL" dirty="0"/>
              </a:p>
              <a:p>
                <a:pPr marL="97155" indent="0" algn="l" rtl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(2.0−6.0)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(7.0−6.0)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(4.0−6.0)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(11.0−6.0)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4−1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16.0+1.0+4.0+25.0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46.0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15.33</m:t>
                      </m:r>
                    </m:oMath>
                  </m:oMathPara>
                </a14:m>
                <a:endParaRPr lang="he-IL" dirty="0"/>
              </a:p>
              <a:p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8" name="מציין מיקום טקסט 2">
                <a:extLst>
                  <a:ext uri="{FF2B5EF4-FFF2-40B4-BE49-F238E27FC236}">
                    <a16:creationId xmlns:a16="http://schemas.microsoft.com/office/drawing/2014/main" id="{2680D4AE-6B26-0E55-F78A-10CD9D834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66" y="2071315"/>
                <a:ext cx="7184437" cy="3939194"/>
              </a:xfrm>
              <a:prstGeom prst="rect">
                <a:avLst/>
              </a:prstGeom>
              <a:blipFill>
                <a:blip r:embed="rId2"/>
                <a:stretch>
                  <a:fillRect t="-4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DB62DB98-AD83-823F-F502-D95319BCAE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22104" y="2427428"/>
                <a:ext cx="3376700" cy="1508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0045" algn="r" rtl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1pPr>
                <a:lvl2pPr marL="914400" marR="0" lvl="1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20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2pPr>
                <a:lvl3pPr marL="1371600" marR="0" lvl="2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8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3pPr>
                <a:lvl4pPr marL="1828800" marR="0" lvl="3" indent="-360044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6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4pPr>
                <a:lvl5pPr marL="2286000" marR="0" lvl="4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5pPr>
                <a:lvl6pPr marL="2743200" marR="0" lvl="5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6pPr>
                <a:lvl7pPr marL="3200400" marR="0" lvl="6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7pPr>
                <a:lvl8pPr marL="3657600" marR="0" lvl="7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8pPr>
                <a:lvl9pPr marL="4114800" marR="0" lvl="8" indent="-360045" algn="r" rt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Pts val="2070"/>
                  <a:buFont typeface="Arial"/>
                  <a:buChar char="•"/>
                  <a:defRPr sz="1400" b="0" i="0" u="none" strike="noStrike" cap="none">
                    <a:solidFill>
                      <a:srgbClr val="262626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lvl9pPr>
              </a:lstStyle>
              <a:p>
                <a:pPr marL="97155" indent="0" algn="ctr">
                  <a:buFont typeface="Arial"/>
                  <a:buNone/>
                </a:pPr>
                <a:r>
                  <a:rPr lang="he-IL" dirty="0"/>
                  <a:t>שונות מדגם</a:t>
                </a:r>
              </a:p>
              <a:p>
                <a:pPr marL="97155" indent="0" algn="l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he-I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e-I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he-IL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he-IL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97155" indent="0" algn="l" rtl="0">
                  <a:buFont typeface="Arial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מציין מיקום טקסט 2">
                <a:extLst>
                  <a:ext uri="{FF2B5EF4-FFF2-40B4-BE49-F238E27FC236}">
                    <a16:creationId xmlns:a16="http://schemas.microsoft.com/office/drawing/2014/main" id="{DB62DB98-AD83-823F-F502-D95319BCA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104" y="2427428"/>
                <a:ext cx="3376700" cy="15084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8583F618-8BED-6A03-7E58-D2F31A141768}"/>
                  </a:ext>
                </a:extLst>
              </p:cNvPr>
              <p:cNvSpPr txBox="1"/>
              <p:nvPr/>
            </p:nvSpPr>
            <p:spPr>
              <a:xfrm>
                <a:off x="7922103" y="5104737"/>
                <a:ext cx="3375809" cy="62299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:r>
                  <a:rPr lang="he-IL"/>
                  <a:t>חישוב סטיית תקן מדגם:</a:t>
                </a:r>
              </a:p>
              <a:p>
                <a:pPr algn="r" rtl="1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15.33</m:t>
                          </m:r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≈3.92</m:t>
                      </m:r>
                    </m:oMath>
                  </m:oMathPara>
                </a14:m>
                <a:endParaRPr lang="he-IL" sz="1800"/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8583F618-8BED-6A03-7E58-D2F31A141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103" y="5104737"/>
                <a:ext cx="3375809" cy="622991"/>
              </a:xfrm>
              <a:prstGeom prst="rect">
                <a:avLst/>
              </a:prstGeom>
              <a:blipFill>
                <a:blip r:embed="rId4"/>
                <a:stretch>
                  <a:fillRect t="-971" r="-72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7629957"/>
      </p:ext>
    </p:extLst>
  </p:cSld>
  <p:clrMapOvr>
    <a:masterClrMapping/>
  </p:clrMapOvr>
</p:sld>
</file>

<file path=ppt/theme/theme1.xml><?xml version="1.0" encoding="utf-8"?>
<a:theme xmlns:a="http://schemas.openxmlformats.org/drawingml/2006/main" name="אורגני">
  <a:themeElements>
    <a:clrScheme name="אורגני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1177</Words>
  <Application>Microsoft Office PowerPoint</Application>
  <PresentationFormat>מסך רחב</PresentationFormat>
  <Paragraphs>202</Paragraphs>
  <Slides>25</Slides>
  <Notes>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25</vt:i4>
      </vt:variant>
    </vt:vector>
  </HeadingPairs>
  <TitlesOfParts>
    <vt:vector size="29" baseType="lpstr">
      <vt:lpstr>Cambria Math</vt:lpstr>
      <vt:lpstr>Arial</vt:lpstr>
      <vt:lpstr>Garamond</vt:lpstr>
      <vt:lpstr>אורגני</vt:lpstr>
      <vt:lpstr>פרק 2 - בסיס סטטיסטי  2.1 מדדי מרכוז ופיזור</vt:lpstr>
      <vt:lpstr>אוכלוסייה ומדגם</vt:lpstr>
      <vt:lpstr>מדדים של אוכלוסייה ומדגם</vt:lpstr>
      <vt:lpstr>אוכלוסייה ומדגם בלמידת מכונה</vt:lpstr>
      <vt:lpstr>ממוצע mean))</vt:lpstr>
      <vt:lpstr>חציון (median)</vt:lpstr>
      <vt:lpstr>חישוב החציון</vt:lpstr>
      <vt:lpstr>חישוב החציון דוגמה n אי-זוגי</vt:lpstr>
      <vt:lpstr>חישוב החציון דוגמה n זוגי</vt:lpstr>
      <vt:lpstr>Q1,Q2,Q3,IQR</vt:lpstr>
      <vt:lpstr>חישוב Q1,Q3</vt:lpstr>
      <vt:lpstr>חישוב Q1,Q3 דוגמה n אי-זוגי </vt:lpstr>
      <vt:lpstr>חישוב Q1,Q3 דוגמה n זוגי </vt:lpstr>
      <vt:lpstr>השכיח (mode)</vt:lpstr>
      <vt:lpstr>חישוב השכיח (mode)</vt:lpstr>
      <vt:lpstr>חישוב השכיח (mode) דוגמה</vt:lpstr>
      <vt:lpstr>התפלגות נתונים סימטרית ואסימטרית (skew)</vt:lpstr>
      <vt:lpstr>כיצד נבחר מדדי ריכוז?</vt:lpstr>
      <vt:lpstr>שונות</vt:lpstr>
      <vt:lpstr>שונות אוכלוסייה</vt:lpstr>
      <vt:lpstr>שונות מדגם</vt:lpstr>
      <vt:lpstr>סטיית תקן אוכלוסייה ומדגם</vt:lpstr>
      <vt:lpstr>שונות וסטיית תקן</vt:lpstr>
      <vt:lpstr>דוגמה חישוב שונות אוכלוסיה</vt:lpstr>
      <vt:lpstr>דוגמה חישוב שונות מדגם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פרק 2 - בסיס סטטיסטי  2.1 מדדי מרכוז ופיזור</dc:title>
  <dc:creator>אריאל בר-יצחק</dc:creator>
  <cp:lastModifiedBy>אריאל דוד בר יצחק</cp:lastModifiedBy>
  <cp:revision>50</cp:revision>
  <dcterms:created xsi:type="dcterms:W3CDTF">2025-12-21T13:18:15Z</dcterms:created>
  <dcterms:modified xsi:type="dcterms:W3CDTF">2026-10-11T17:38:49Z</dcterms:modified>
</cp:coreProperties>
</file>