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1" r:id="rId4"/>
    <p:sldId id="258" r:id="rId5"/>
    <p:sldId id="259" r:id="rId6"/>
    <p:sldId id="265" r:id="rId7"/>
    <p:sldId id="272" r:id="rId8"/>
    <p:sldId id="273" r:id="rId9"/>
    <p:sldId id="260" r:id="rId10"/>
    <p:sldId id="262" r:id="rId11"/>
    <p:sldId id="263" r:id="rId12"/>
    <p:sldId id="269" r:id="rId13"/>
    <p:sldId id="264" r:id="rId14"/>
    <p:sldId id="270" r:id="rId15"/>
    <p:sldId id="266" r:id="rId16"/>
    <p:sldId id="271" r:id="rId17"/>
    <p:sldId id="274" r:id="rId18"/>
    <p:sldId id="268" r:id="rId19"/>
  </p:sldIdLst>
  <p:sldSz cx="12192000" cy="6858000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Garamond" panose="02020404030301010803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yhVWeSBUQ52v9ndg6+EfCkPo4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C7B2F17-12D8-6860-BD6B-F5D94DD8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EBA4CA7-7B38-CCCD-956F-613C266C35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9802248D-946B-FA1F-5ED8-92F937165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264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9851E77C-102D-9A81-A6FA-56C39143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DFB14CCD-DAC3-FB59-CDD0-B12A5F026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5C8A693E-7E1C-E0E0-7A9F-38930369D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13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5BD29D43-D1D7-AAA0-90DD-595DAB61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21E35104-E6F3-E742-893D-E9D16D8FC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D7195A7B-5834-FD8C-D593-B829156B9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6224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F981C0-632D-43AC-7034-0AFD14A6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904C7F1-699D-4E6A-3401-D21A227A0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05CD73B5-74A8-E52A-A29A-3B8551A13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583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65BFF2D-DD83-1006-2F42-D6DDC4E2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477EBE3C-6873-F0BD-0E48-173093F15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3B52B2CF-61E7-69DE-564B-75B66FA6E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2501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B31D426-BB06-F4B7-5AF4-5A638DE5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EB7A17B-5ADE-6D6C-D74E-A461BD36B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5CA751E7-068B-97C7-9F4D-D5D24F62A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5697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E029E7D-5850-CD52-D70A-EFF10A90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66D03A86-0556-D0D8-A487-B93A92810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F03DDBC2-2A5F-1C5A-DFC7-8D4BFE768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8333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שקופית כותרת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4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0" name="Google Shape;20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 rtl="1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 rtl="1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 rtl="1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 rtl="1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27" name="Google Shape;27;p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פנורמית עם כיתוב">
  <p:cSld name="תמונה פנורמית עם כיתוב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כיתוב">
  <p:cSld name="כותרת וכיתוב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98" name="Google Shape;98;p1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ציטוט עם כיתוב">
  <p:cSld name="ציטוט עם כיתוב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">
  <p:cSld name="כרטיס שם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 עם ציטוט">
  <p:cSld name="כרטיס שם עם ציטוט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נכון או לא נכון">
  <p:cSld name="נכון או לא נכון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3" descr="HD-PanelContent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9" name="Google Shape;9;p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r" rtl="1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r" rtl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.mit.edu/2012/explained-sigma-020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.mit.edu/2012/explained-sigma-020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ws.mit.edu/2012/explained-sigma-0209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rocklandpeakperformance.com/what-is-a-normal-distribution-in-statistic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ws.mit.edu/2012/explained-sigma-0209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iw-IL" sz="4400" dirty="0"/>
              <a:t>פר</a:t>
            </a:r>
            <a:r>
              <a:rPr lang="he-IL" sz="4400" dirty="0"/>
              <a:t>ק 2 -</a:t>
            </a:r>
            <a:r>
              <a:rPr lang="iw-IL" sz="4400" dirty="0"/>
              <a:t> בסיס סטטיסטי</a:t>
            </a:r>
            <a:br>
              <a:rPr lang="iw-IL" sz="4400" dirty="0"/>
            </a:br>
            <a:r>
              <a:rPr lang="he-IL" sz="4400"/>
              <a:t> 2.2 התפלגות נורמלית</a:t>
            </a:r>
            <a:endParaRPr dirty="0"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iw-IL" dirty="0"/>
              <a:t>מאת:</a:t>
            </a:r>
            <a:r>
              <a:rPr lang="he-IL"/>
              <a:t> א</a:t>
            </a:r>
            <a:r>
              <a:rPr lang="iw-IL" dirty="0"/>
              <a:t>ריאל בר-יצחק</a:t>
            </a:r>
            <a:endParaRPr lang="he-IL" dirty="0"/>
          </a:p>
          <a:p>
            <a:pPr marL="0" indent="0">
              <a:spcBef>
                <a:spcPts val="0"/>
              </a:spcBef>
            </a:pPr>
            <a:r>
              <a:rPr lang="iw-IL" dirty="0"/>
              <a:t>ייעוץ פדגוגי:</a:t>
            </a:r>
            <a:r>
              <a:rPr lang="he-IL" dirty="0"/>
              <a:t> ד</a:t>
            </a:r>
            <a:r>
              <a:rPr lang="iw-IL" dirty="0"/>
              <a:t>"ר קובי מייק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/>
              <a:t>התפלגות נורמלית</a:t>
            </a:r>
            <a:endParaRPr/>
          </a:p>
        </p:txBody>
      </p:sp>
      <p:sp>
        <p:nvSpPr>
          <p:cNvPr id="158" name="Google Shape;158;p2"/>
          <p:cNvSpPr txBox="1">
            <a:spLocks noGrp="1"/>
          </p:cNvSpPr>
          <p:nvPr>
            <p:ph type="body" idx="1"/>
          </p:nvPr>
        </p:nvSpPr>
        <p:spPr>
          <a:xfrm>
            <a:off x="858795" y="2691139"/>
            <a:ext cx="10210258" cy="268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he-IL" b="1"/>
              <a:t>התפלגות נורמלית </a:t>
            </a:r>
            <a:r>
              <a:rPr lang="he-IL"/>
              <a:t>היא התפלגות הסתברות רציפה שבה הנתונים מרוכזים סביב ערך מרכזי ויוצרים עקומת פעמון סימטרית.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  <p:pic>
        <p:nvPicPr>
          <p:cNvPr id="3" name="תמונה 2" descr="תמונה שמכילה טקסט, עלילה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370439-B3A6-F98E-6025-0D6FA838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113" y="3429000"/>
            <a:ext cx="5646320" cy="269574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779A1E1-AE06-AA0B-9077-BE5AE45A4233}"/>
              </a:ext>
            </a:extLst>
          </p:cNvPr>
          <p:cNvSpPr txBox="1"/>
          <p:nvPr/>
        </p:nvSpPr>
        <p:spPr>
          <a:xfrm>
            <a:off x="9368590" y="5220217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4"/>
              </a:rPr>
              <a:t>מקור התמונה</a:t>
            </a:r>
            <a:endParaRPr lang="he-I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578C9F1-11F9-BBBF-FEE9-82A87527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C3BE1996-5E13-F02B-C10B-FBB7214FA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/>
              <a:t>התפלגות נורמלית</a:t>
            </a:r>
            <a:endParaRPr/>
          </a:p>
        </p:txBody>
      </p:sp>
      <p:sp>
        <p:nvSpPr>
          <p:cNvPr id="158" name="Google Shape;158;p2">
            <a:extLst>
              <a:ext uri="{FF2B5EF4-FFF2-40B4-BE49-F238E27FC236}">
                <a16:creationId xmlns:a16="http://schemas.microsoft.com/office/drawing/2014/main" id="{622DCDA5-8C16-DE77-F547-4E4EEFC9F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8795" y="2691139"/>
            <a:ext cx="10210258" cy="268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he-IL" b="1"/>
              <a:t>התפלגות נורמלית </a:t>
            </a:r>
            <a:r>
              <a:rPr lang="he-IL"/>
              <a:t>היא מאד נפוצה, להלן מספר דוגמאות: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גובה של אנשים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משקל של אנשים 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ציונים במבחנים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טמפרטורת הגוף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מידת נעליים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endParaRPr lang="he-IL" b="1"/>
          </a:p>
          <a:p>
            <a:pPr marL="342900" indent="-342900">
              <a:spcBef>
                <a:spcPts val="0"/>
              </a:spcBef>
              <a:buSzPts val="2760"/>
            </a:pPr>
            <a:endParaRPr lang="he-IL" b="1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547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0CC061C-C241-DC73-A18C-7585E7BB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94180136-0CA2-625B-DAE2-848B5FC28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/>
              <a:t>התפלגות נורמלית</a:t>
            </a:r>
            <a:endParaRPr/>
          </a:p>
        </p:txBody>
      </p:sp>
      <p:sp>
        <p:nvSpPr>
          <p:cNvPr id="158" name="Google Shape;158;p2">
            <a:extLst>
              <a:ext uri="{FF2B5EF4-FFF2-40B4-BE49-F238E27FC236}">
                <a16:creationId xmlns:a16="http://schemas.microsoft.com/office/drawing/2014/main" id="{F545AB56-68AC-2846-7F1F-E2E386D3A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8795" y="2691139"/>
            <a:ext cx="10210258" cy="268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he-IL" b="1"/>
              <a:t>מאפייני מרכזיים: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סימטרית סביב הממוצע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ממוצע = חציון = שכיח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רוב הערכים קרובים למרכז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he-IL"/>
              <a:t>ככל שמתרחקים מהממוצע – ההסתברות יורדת בהדרגה</a:t>
            </a:r>
          </a:p>
          <a:p>
            <a:pPr marL="0" indent="0">
              <a:spcBef>
                <a:spcPts val="0"/>
              </a:spcBef>
              <a:buSzPts val="2760"/>
              <a:buNone/>
            </a:pPr>
            <a:endParaRPr lang="he-IL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  <p:pic>
        <p:nvPicPr>
          <p:cNvPr id="3" name="תמונה 2" descr="תמונה שמכילה טקסט, עלילה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FB68DA2-2EDC-3BE7-FB7B-B9279B7CA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7" y="2571305"/>
            <a:ext cx="3592929" cy="171538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79B2463-2E61-3A10-4C1E-B57168D967FA}"/>
              </a:ext>
            </a:extLst>
          </p:cNvPr>
          <p:cNvSpPr txBox="1"/>
          <p:nvPr/>
        </p:nvSpPr>
        <p:spPr>
          <a:xfrm>
            <a:off x="9368590" y="5220217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4"/>
              </a:rPr>
              <a:t>מקור התמונה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578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3CE6CA9-B0C4-2B7A-F2D5-8BE90F229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F170D9B8-579E-3AF6-797F-E7618839F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/>
              <a:t>התפלגות נורמלית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EEC66FE-E385-0F1A-56BA-E39856B9639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b="1"/>
                  <a:t>פרמטרים: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תוחלת (µ) – מרכז ההתפלגות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סטיית תקן (σ</a:t>
                </a:r>
                <a:r>
                  <a:rPr lang="en-US"/>
                  <a:t>(</a:t>
                </a:r>
                <a:r>
                  <a:rPr lang="he-IL"/>
                  <a:t> - מידת הפיזור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נהוג לכתוב:</a:t>
                </a:r>
              </a:p>
              <a:p>
                <a:pPr marL="0" indent="0">
                  <a:spcBef>
                    <a:spcPts val="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EEC66FE-E385-0F1A-56BA-E39856B9639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blipFill>
                <a:blip r:embed="rId3"/>
                <a:stretch>
                  <a:fillRect t="-1814" r="-11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תמונה 2" descr="תמונה שמכילה טקסט, עלילה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B9AB491-D170-8553-D790-83B188D75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47" y="2571305"/>
            <a:ext cx="3592929" cy="171538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368CC04-92B1-DBC5-62FE-7FBC049B3648}"/>
              </a:ext>
            </a:extLst>
          </p:cNvPr>
          <p:cNvSpPr txBox="1"/>
          <p:nvPr/>
        </p:nvSpPr>
        <p:spPr>
          <a:xfrm>
            <a:off x="9368590" y="5220217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5"/>
              </a:rPr>
              <a:t>מקור התמונה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3925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5E37B65-D162-A9C9-760C-E836AEB1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46CF80-26EC-B5C7-15D2-85CD19C6D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/>
              <a:t>התפלגות נורמלית תקנית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b="1"/>
                  <a:t>פרמטרים: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תוחלת (µ) אפס – מרכז ההתפלגות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סטיית תקן (σ</a:t>
                </a:r>
                <a:r>
                  <a:rPr lang="en-US"/>
                  <a:t>(</a:t>
                </a:r>
                <a:r>
                  <a:rPr lang="he-IL"/>
                  <a:t> אחת - מידת הפיזור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נהוג לכתוב:</a:t>
                </a:r>
              </a:p>
              <a:p>
                <a:pPr marL="0" indent="0">
                  <a:spcBef>
                    <a:spcPts val="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blipFill>
                <a:blip r:embed="rId3"/>
                <a:stretch>
                  <a:fillRect t="-1814" r="-11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5A3E28D-27A1-D992-94CB-1C3A6E5BC37B}"/>
              </a:ext>
            </a:extLst>
          </p:cNvPr>
          <p:cNvSpPr txBox="1"/>
          <p:nvPr/>
        </p:nvSpPr>
        <p:spPr>
          <a:xfrm>
            <a:off x="9368590" y="5220217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4"/>
              </a:rPr>
              <a:t>מקור התמונה</a:t>
            </a:r>
            <a:endParaRPr lang="he-IL"/>
          </a:p>
        </p:txBody>
      </p:sp>
      <p:pic>
        <p:nvPicPr>
          <p:cNvPr id="5" name="תמונה 4" descr="תמונה שמכילה תרשים, קו, עלילה, מדרו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E3AA433-D826-A186-4FF9-10D0F0B4E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30" y="2810864"/>
            <a:ext cx="4099363" cy="230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7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A72B4D-24EB-CD0F-B220-B70EF716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חישוב ציון תקן (</a:t>
            </a:r>
            <a:r>
              <a:rPr lang="en-US" dirty="0"/>
              <a:t>Z-score</a:t>
            </a:r>
            <a:r>
              <a:rPr lang="he-I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A0C830D4-2184-BF52-3432-E224B73D3C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97155" indent="0">
                  <a:buNone/>
                </a:pPr>
                <a:r>
                  <a:rPr lang="he-IL" dirty="0"/>
                  <a:t>נוסחה לחישוב ציון התקן: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A0C830D4-2184-BF52-3432-E224B73D3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32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5D48-A258-7CFA-6937-8E6498E1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FDA865-0956-32C1-138E-AF47AC3A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פירוש ציון תקן (</a:t>
            </a:r>
            <a:r>
              <a:rPr lang="en-US" dirty="0"/>
              <a:t>Z-score</a:t>
            </a:r>
            <a:r>
              <a:rPr lang="he-IL" dirty="0"/>
              <a:t>)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9B86C6B-7DC9-40B6-43AB-391743FC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284" y="2677896"/>
            <a:ext cx="4134427" cy="3096057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BE247E25-2183-D8BA-BE07-5458C6BD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489" y="2865548"/>
            <a:ext cx="4086795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8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B8D41DA2-E555-2287-CB0A-067324494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B9946B6-A983-7A75-9B4E-D3AAFFAB6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/>
              <a:t>התפלגות נורמלית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F55CBEE5-88A4-E56E-1365-6288C5F0736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b="1"/>
                  <a:t>כלל 68 – 95 – 99.7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כ 68% מהערכים נמצאים בטווח </a:t>
                </a:r>
                <a14:m>
                  <m:oMath xmlns:m="http://schemas.openxmlformats.org/officeDocument/2006/math"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he-IL" b="0">
                  <a:ea typeface="Cambria Math" panose="02040503050406030204" pitchFamily="18" charset="0"/>
                </a:endParaRP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כ 95% מהערכים נמצאים בטווח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he-IL">
                  <a:ea typeface="Cambria Math" panose="02040503050406030204" pitchFamily="18" charset="0"/>
                </a:endParaRP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/>
                  <a:t>כ 99.7% מהערכים נמצאים בטווח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he-IL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SzPts val="2760"/>
                  <a:buNone/>
                </a:pPr>
                <a:r>
                  <a:rPr lang="he-IL">
                    <a:ea typeface="Cambria Math" panose="02040503050406030204" pitchFamily="18" charset="0"/>
                  </a:rPr>
                  <a:t>כלל זה מאפשר פירוש אינטואיטיבי של הנתונים.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endParaRPr lang="he-IL">
                  <a:ea typeface="Cambria Math" panose="02040503050406030204" pitchFamily="18" charset="0"/>
                </a:endParaRP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endParaRPr lang="he-IL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F55CBEE5-88A4-E56E-1365-6288C5F0736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blipFill>
                <a:blip r:embed="rId3"/>
                <a:stretch>
                  <a:fillRect t="-1814" r="-11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תמונה 2" descr="תמונה שמכילה טקסט, עלילה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CD74E05-EB60-903F-56D0-802B33E0B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47" y="2571305"/>
            <a:ext cx="3592929" cy="171538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274F94D-2E7D-8256-184D-E8F65E27E4FA}"/>
              </a:ext>
            </a:extLst>
          </p:cNvPr>
          <p:cNvSpPr txBox="1"/>
          <p:nvPr/>
        </p:nvSpPr>
        <p:spPr>
          <a:xfrm>
            <a:off x="9368590" y="5220217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5"/>
              </a:rPr>
              <a:t>מקור התמונה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8232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9C977DC-DE61-437B-D0CB-F4CEDCAE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4DC91034-F9B7-E35C-D0EE-1711073699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 dirty="0"/>
              <a:t>נוסחה התפלגות נורמלית כללית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3207EED4-BA26-D2F3-0E48-5BB20C8BC87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הנוסחה של התפלגות נורמלית כללית:</a:t>
                </a:r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pdf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ar-A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ar-A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ar-A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32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ar-A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ar-AE"/>
                        <m:t> </m:t>
                      </m:r>
                    </m:oMath>
                  </m:oMathPara>
                </a14:m>
                <a:endParaRPr lang="ar-AE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3207EED4-BA26-D2F3-0E48-5BB20C8BC87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blipFill>
                <a:blip r:embed="rId3"/>
                <a:stretch>
                  <a:fillRect t="-3628" r="-11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88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384A3194-886A-CAA0-8A7A-F96DB43B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07831272-1DD4-45AD-1DF5-3263C2FC6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he-IL" dirty="0"/>
              <a:t>נוסחאות התפלגות נורמלית כללית ותקנית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A4B5953D-3A2E-DA15-A2E8-49BB8E3BF96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הנוסחה של התפלגות נורמלית כללית:</a:t>
                </a:r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pdf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ar-AE"/>
                        <m:t> </m:t>
                      </m:r>
                    </m:oMath>
                  </m:oMathPara>
                </a14:m>
                <a:endParaRPr lang="ar-AE" dirty="0"/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:endParaRPr lang="ar-AE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הנוסחה של התפלגות נורמלית תקנית:</a:t>
                </a:r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:endParaRPr lang="he-IL" dirty="0"/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pd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ar-AE"/>
                        <m:t> </m:t>
                      </m:r>
                    </m:oMath>
                  </m:oMathPara>
                </a14:m>
                <a:endParaRPr lang="ar-AE" dirty="0"/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:endParaRPr lang="ar-AE" dirty="0"/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:endParaRPr lang="ar-AE" dirty="0"/>
              </a:p>
              <a:p>
                <a:pPr marL="0" indent="0" algn="ctr">
                  <a:spcBef>
                    <a:spcPts val="0"/>
                  </a:spcBef>
                  <a:buSzPts val="2760"/>
                  <a:buNone/>
                </a:pPr>
                <a:endParaRPr lang="ar-AE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ar-AE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A4B5953D-3A2E-DA15-A2E8-49BB8E3BF96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58795" y="2691139"/>
                <a:ext cx="10210258" cy="2682966"/>
              </a:xfrm>
              <a:prstGeom prst="rect">
                <a:avLst/>
              </a:prstGeom>
              <a:blipFill>
                <a:blip r:embed="rId3"/>
                <a:stretch>
                  <a:fillRect t="-6576" r="-11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13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8A9EDE-101D-45C1-A65D-3B93B6B3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558128" cy="1303867"/>
          </a:xfrm>
        </p:spPr>
        <p:txBody>
          <a:bodyPr>
            <a:normAutofit fontScale="90000"/>
          </a:bodyPr>
          <a:lstStyle/>
          <a:p>
            <a:r>
              <a:rPr lang="he-IL" dirty="0"/>
              <a:t>התפלגות נורמלית גרף </a:t>
            </a:r>
            <a:r>
              <a:rPr lang="en-US" dirty="0"/>
              <a:t>PDF</a:t>
            </a:r>
            <a:br>
              <a:rPr lang="he-IL" dirty="0"/>
            </a:br>
            <a:r>
              <a:rPr lang="he-IL" dirty="0"/>
              <a:t>הסתברות היא השטח מתחת לגרף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30ADE186-4E37-CFEE-415F-9EE34551C363}"/>
                  </a:ext>
                </a:extLst>
              </p:cNvPr>
              <p:cNvSpPr txBox="1"/>
              <p:nvPr/>
            </p:nvSpPr>
            <p:spPr>
              <a:xfrm>
                <a:off x="5351228" y="2652923"/>
                <a:ext cx="5053053" cy="3609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he-IL" sz="2000" dirty="0"/>
                  <a:t>הסתברות לקבל ערך בתחום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a,b</a:t>
                </a:r>
                <a:r>
                  <a:rPr lang="en-US" sz="2000" dirty="0"/>
                  <a:t>)</a:t>
                </a:r>
                <a:r>
                  <a:rPr lang="he-IL" sz="2000" dirty="0"/>
                  <a:t> </a:t>
                </a:r>
              </a:p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000" dirty="0"/>
              </a:p>
              <a:p>
                <a:pPr algn="r" rtl="1"/>
                <a:endParaRPr lang="he-IL" sz="2000" dirty="0"/>
              </a:p>
              <a:p>
                <a:pPr algn="r" rtl="1"/>
                <a:r>
                  <a:rPr lang="he-IL" sz="2000" dirty="0"/>
                  <a:t>הוא השטח הכלוא מתחת לגרף בתחום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a,b</a:t>
                </a:r>
                <a:r>
                  <a:rPr lang="en-US" sz="2000" dirty="0"/>
                  <a:t>)</a:t>
                </a:r>
                <a:endParaRPr lang="he-IL" sz="2000" dirty="0"/>
              </a:p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he-IL" sz="2000" dirty="0"/>
              </a:p>
              <a:p>
                <a:pPr algn="r" rtl="1"/>
                <a:endParaRPr lang="he-IL" sz="2000" dirty="0"/>
              </a:p>
              <a:p>
                <a:pPr algn="r" rtl="1"/>
                <a:r>
                  <a:rPr lang="he-IL" sz="2000" dirty="0"/>
                  <a:t>השטח הכולל מתחת לגרף הוא 1 </a:t>
                </a:r>
              </a:p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he-IL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he-IL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he-I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he-I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he-IL" sz="2000" dirty="0"/>
              </a:p>
              <a:p>
                <a:pPr algn="r" rtl="1"/>
                <a:endParaRPr lang="he-IL" sz="2000" dirty="0"/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30ADE186-4E37-CFEE-415F-9EE34551C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28" y="2652923"/>
                <a:ext cx="5053053" cy="3609001"/>
              </a:xfrm>
              <a:prstGeom prst="rect">
                <a:avLst/>
              </a:prstGeom>
              <a:blipFill>
                <a:blip r:embed="rId2"/>
                <a:stretch>
                  <a:fillRect t="-676" r="-120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C31F465D-EF70-1C8D-9A2E-D0C8486B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652923"/>
            <a:ext cx="4284766" cy="333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74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648EEB-9A25-FE2A-C1E3-C51B21E6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he-IL" dirty="0"/>
            </a:br>
            <a:r>
              <a:rPr lang="he-IL" dirty="0"/>
              <a:t>התפלגות נורמלית גרף </a:t>
            </a:r>
            <a:r>
              <a:rPr lang="en-US" dirty="0"/>
              <a:t>PDF</a:t>
            </a:r>
            <a:br>
              <a:rPr lang="he-IL" dirty="0"/>
            </a:br>
            <a:r>
              <a:rPr lang="he-IL" dirty="0"/>
              <a:t>הסתברות מצטברת</a:t>
            </a:r>
            <a:br>
              <a:rPr lang="he-IL" dirty="0"/>
            </a:b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CC0D6675-AAEA-C143-2B09-53D6399FB0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72647" y="2556932"/>
                <a:ext cx="5123950" cy="3318936"/>
              </a:xfrm>
            </p:spPr>
            <p:txBody>
              <a:bodyPr>
                <a:normAutofit fontScale="92500"/>
              </a:bodyPr>
              <a:lstStyle/>
              <a:p>
                <a:pPr marL="97155" indent="0">
                  <a:buNone/>
                </a:pPr>
                <a:r>
                  <a:rPr lang="he-IL" dirty="0"/>
                  <a:t>פונקציית </a:t>
                </a:r>
                <a:r>
                  <a:rPr lang="en-US" dirty="0"/>
                  <a:t>CDF</a:t>
                </a:r>
                <a:r>
                  <a:rPr lang="he-IL" dirty="0"/>
                  <a:t> מתארת את ההסתברות המצטברת עד לנקודה </a:t>
                </a:r>
                <a:r>
                  <a:rPr lang="en-US" dirty="0"/>
                  <a:t>a</a:t>
                </a:r>
                <a:r>
                  <a:rPr lang="he-IL" dirty="0"/>
                  <a:t>.</a:t>
                </a:r>
              </a:p>
              <a:p>
                <a:pPr marL="97155" indent="0">
                  <a:buNone/>
                </a:pPr>
                <a:endParaRPr lang="he-IL" dirty="0"/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he-IL" b="0" dirty="0"/>
              </a:p>
              <a:p>
                <a:pPr marL="97155" indent="0">
                  <a:buNone/>
                </a:pPr>
                <a:endParaRPr lang="he-IL" b="0" dirty="0"/>
              </a:p>
              <a:p>
                <a:pPr marL="97155" indent="0">
                  <a:buNone/>
                </a:pPr>
                <a:r>
                  <a:rPr lang="he-IL" dirty="0"/>
                  <a:t>זהו השטח מתחת לגרף משמאל ל-</a:t>
                </a:r>
                <a:r>
                  <a:rPr lang="en-US" dirty="0"/>
                  <a:t>a</a:t>
                </a:r>
                <a:r>
                  <a:rPr lang="he-IL" dirty="0"/>
                  <a:t>: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cdf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 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pdf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  <a:endParaRPr lang="he-IL" dirty="0"/>
              </a:p>
              <a:p>
                <a:pPr marL="97155" indent="0">
                  <a:buNone/>
                </a:pPr>
                <a:endParaRPr lang="he-IL" dirty="0"/>
              </a:p>
              <a:p>
                <a:pPr marL="97155" indent="0">
                  <a:buNone/>
                </a:pPr>
                <a:endParaRPr lang="he-IL" b="0" i="1" dirty="0">
                  <a:latin typeface="Cambria Math" panose="02040503050406030204" pitchFamily="18" charset="0"/>
                </a:endParaRPr>
              </a:p>
              <a:p>
                <a:pPr marL="97155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he-IL" dirty="0"/>
              </a:p>
              <a:p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CC0D6675-AAEA-C143-2B09-53D6399FB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2647" y="2556932"/>
                <a:ext cx="5123950" cy="33189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193103A7-5E45-6FC8-4343-7ABE3BA4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2524125"/>
            <a:ext cx="4686300" cy="365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351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57DE-41C5-B3F9-8066-BC5DE15F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4AB1F7-CB1F-06C3-6982-15B988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e-IL" dirty="0"/>
              <a:t>התפלגות נורמלית גרף </a:t>
            </a:r>
            <a:r>
              <a:rPr lang="en-US" dirty="0"/>
              <a:t>PDF</a:t>
            </a:r>
            <a:br>
              <a:rPr lang="he-IL" dirty="0"/>
            </a:br>
            <a:r>
              <a:rPr lang="he-IL" dirty="0"/>
              <a:t>הסתברות של תחום ערכים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FAB9F238-24AC-F8AF-3387-FE04927C2278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6096000" y="2476498"/>
                <a:ext cx="4800597" cy="2739557"/>
              </a:xfrm>
            </p:spPr>
            <p:txBody>
              <a:bodyPr anchor="t">
                <a:normAutofit/>
              </a:bodyPr>
              <a:lstStyle/>
              <a:p>
                <a:pPr marL="53340" indent="0" algn="r" rtl="1">
                  <a:buNone/>
                </a:pPr>
                <a:r>
                  <a:rPr lang="en-US" b="0" i="0" u="none" strike="noStrike" cap="none" dirty="0"/>
                  <a:t> </a:t>
                </a:r>
                <a:r>
                  <a:rPr lang="he-IL" sz="2400" dirty="0"/>
                  <a:t>הסתברות לקבל ערך בתחום </a:t>
                </a:r>
                <a:r>
                  <a:rPr lang="en-US" sz="2400" dirty="0"/>
                  <a:t>(</a:t>
                </a:r>
                <a:r>
                  <a:rPr lang="en-US" sz="2400" dirty="0" err="1"/>
                  <a:t>a,b</a:t>
                </a:r>
                <a:r>
                  <a:rPr lang="en-US" sz="2400" dirty="0"/>
                  <a:t>)</a:t>
                </a:r>
                <a:r>
                  <a:rPr lang="he-IL" sz="2400" dirty="0"/>
                  <a:t> שווה להפרש ההסתברויות המצטברות של </a:t>
                </a:r>
                <a:r>
                  <a:rPr lang="en-US" sz="2400" dirty="0" err="1"/>
                  <a:t>b,a</a:t>
                </a:r>
                <a:r>
                  <a:rPr lang="he-IL" sz="2400" dirty="0"/>
                  <a:t>.</a:t>
                </a:r>
              </a:p>
              <a:p>
                <a:pPr algn="r" rtl="1"/>
                <a:endParaRPr lang="he-IL" b="0" i="0" u="none" strike="noStrike" cap="none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𝑐𝑑𝑓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endParaRPr lang="he-IL" b="0" i="0" u="none" strike="noStrike" cap="none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endParaRPr lang="he-IL" b="0" i="0" u="none" strike="noStrike" cap="none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endParaRPr lang="he-IL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endParaRPr lang="en-US" b="0" i="0" u="none" strike="noStrike" cap="none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FAB9F238-24AC-F8AF-3387-FE04927C2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6096000" y="2476498"/>
                <a:ext cx="4800597" cy="2739557"/>
              </a:xfrm>
              <a:blipFill>
                <a:blip r:embed="rId2"/>
                <a:stretch>
                  <a:fillRect r="-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>
            <a:extLst>
              <a:ext uri="{FF2B5EF4-FFF2-40B4-BE49-F238E27FC236}">
                <a16:creationId xmlns:a16="http://schemas.microsoft.com/office/drawing/2014/main" id="{A473EA40-7C34-4AF0-B820-08053EC3B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76498"/>
            <a:ext cx="4800597" cy="374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65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57DE-41C5-B3F9-8066-BC5DE15F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4AB1F7-CB1F-06C3-6982-15B988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e-IL" dirty="0"/>
              <a:t>התפלגות נורמלית גרף </a:t>
            </a:r>
            <a:r>
              <a:rPr lang="en-US" dirty="0"/>
              <a:t>PDF</a:t>
            </a:r>
            <a:br>
              <a:rPr lang="he-IL" dirty="0"/>
            </a:br>
            <a:r>
              <a:rPr lang="he-IL" dirty="0"/>
              <a:t>הסתברות של תחום ערכים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FAB9F238-24AC-F8AF-3387-FE04927C2278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6096000" y="2476498"/>
                <a:ext cx="4800597" cy="2556677"/>
              </a:xfrm>
            </p:spPr>
            <p:txBody>
              <a:bodyPr anchor="t">
                <a:normAutofit fontScale="85000" lnSpcReduction="10000"/>
              </a:bodyPr>
              <a:lstStyle/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r>
                  <a:rPr lang="en-US" dirty="0"/>
                  <a:t> </a:t>
                </a:r>
                <a:r>
                  <a:rPr lang="he-IL" dirty="0"/>
                  <a:t>ההסברות לקבל ערך גדול מ </a:t>
                </a:r>
                <a:r>
                  <a:rPr lang="en-US" dirty="0"/>
                  <a:t>a</a:t>
                </a:r>
                <a:r>
                  <a:rPr lang="he-IL" dirty="0"/>
                  <a:t> שווה לשטח </a:t>
                </a:r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r>
                  <a:rPr lang="he-IL" dirty="0"/>
                  <a:t>שמתחת לגרף מימין ל </a:t>
                </a:r>
                <a:r>
                  <a:rPr lang="en-US" dirty="0"/>
                  <a:t>a</a:t>
                </a:r>
                <a:endParaRPr lang="he-IL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endParaRPr lang="he-IL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𝑐𝑑𝑓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pPr marL="5334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None/>
                </a:pPr>
                <a:endParaRPr lang="he-IL" dirty="0"/>
              </a:p>
              <a:p>
                <a:pPr marL="97155" indent="0" algn="ctr" rtl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  <a:buFont typeface="Arial"/>
                  <a:buNone/>
                </a:pPr>
                <a:endParaRPr lang="en-US" b="0" i="0" u="none" strike="noStrike" cap="none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FAB9F238-24AC-F8AF-3387-FE04927C2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6096000" y="2476498"/>
                <a:ext cx="4800597" cy="2556677"/>
              </a:xfrm>
              <a:blipFill>
                <a:blip r:embed="rId2"/>
                <a:stretch>
                  <a:fillRect t="-2143" r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>
            <a:extLst>
              <a:ext uri="{FF2B5EF4-FFF2-40B4-BE49-F238E27FC236}">
                <a16:creationId xmlns:a16="http://schemas.microsoft.com/office/drawing/2014/main" id="{A8BB5306-313B-5427-B373-9F63AC0A2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24125"/>
            <a:ext cx="4724400" cy="368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919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81FCE4-A375-A5A4-0ED0-348353C7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הכרת מושגים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9194FE-5A41-A23E-792E-92D6166D0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he-IL" dirty="0"/>
              <a:t>הגרף שראינו נקרא פונקציית צפיפות ההסתברות (</a:t>
            </a:r>
            <a:r>
              <a:rPr lang="en-US" dirty="0"/>
              <a:t>PDF</a:t>
            </a:r>
            <a:r>
              <a:rPr lang="he-IL" dirty="0"/>
              <a:t>).</a:t>
            </a:r>
          </a:p>
          <a:p>
            <a:pPr marL="97155" indent="0">
              <a:buNone/>
            </a:pPr>
            <a:r>
              <a:rPr lang="he-IL" dirty="0"/>
              <a:t>השטח שמתחת לגרף משמאל לנקודה נקרא פונקציית התפלגות מצטברת (</a:t>
            </a:r>
            <a:r>
              <a:rPr lang="en-US" dirty="0"/>
              <a:t>CDF</a:t>
            </a:r>
            <a:r>
              <a:rPr lang="he-IL" dirty="0"/>
              <a:t>).</a:t>
            </a:r>
          </a:p>
          <a:p>
            <a:pPr marL="97155" indent="0">
              <a:buNone/>
            </a:pPr>
            <a:endParaRPr lang="he-IL" dirty="0"/>
          </a:p>
          <a:p>
            <a:pPr marL="97155" indent="0" algn="ctr" rtl="0">
              <a:buNone/>
            </a:pPr>
            <a:r>
              <a:rPr lang="en-US" dirty="0"/>
              <a:t>PDF - Probability Density Function – </a:t>
            </a:r>
            <a:r>
              <a:rPr lang="he-IL" dirty="0"/>
              <a:t>צפיפות ההסתברות</a:t>
            </a:r>
            <a:r>
              <a:rPr lang="en-US" dirty="0"/>
              <a:t> </a:t>
            </a:r>
            <a:r>
              <a:rPr lang="he-IL" dirty="0"/>
              <a:t>פונקציית</a:t>
            </a:r>
            <a:endParaRPr lang="en-US" dirty="0"/>
          </a:p>
          <a:p>
            <a:pPr marL="97155" indent="0" algn="ctr" rtl="0">
              <a:buNone/>
            </a:pPr>
            <a:r>
              <a:rPr lang="en-US" dirty="0"/>
              <a:t>CDF - Cumulative Distribution Function – </a:t>
            </a:r>
            <a:r>
              <a:rPr lang="he-IL" dirty="0"/>
              <a:t>פונקציית התפלגות מצטברת</a:t>
            </a:r>
          </a:p>
        </p:txBody>
      </p:sp>
    </p:spTree>
    <p:extLst>
      <p:ext uri="{BB962C8B-B14F-4D97-AF65-F5344CB8AC3E}">
        <p14:creationId xmlns:p14="http://schemas.microsoft.com/office/powerpoint/2010/main" val="104866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E19E-D360-881C-6AAA-83A510725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E0B7B9-298C-DC4E-AAEC-20C96364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הערכת הסתברות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1FB0FCC-046A-3389-D2CE-C7C18404D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496" y="2098453"/>
            <a:ext cx="5964086" cy="3628197"/>
          </a:xfrm>
          <a:prstGeom prst="rect">
            <a:avLst/>
          </a:prstGeom>
        </p:spPr>
      </p:pic>
      <p:pic>
        <p:nvPicPr>
          <p:cNvPr id="8" name="תמונה 7" descr="תמונה שמכילה תרשים, קו, עלילה, מדרו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4A14190-3E68-3A99-1BC5-BF704D708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46" y="2946036"/>
            <a:ext cx="4099363" cy="230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31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4DA2-986C-B5CC-A28B-9BC9344B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5F64FA-305E-C75B-9366-6955D087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התפלגות נורמלית </a:t>
            </a:r>
            <a:br>
              <a:rPr lang="he-IL" dirty="0"/>
            </a:br>
            <a:r>
              <a:rPr lang="he-I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דוגמה חישובית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7C33D133-EC7B-F376-F6B7-6081ADA4C2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95402" y="2405857"/>
                <a:ext cx="9601196" cy="3780258"/>
              </a:xfrm>
            </p:spPr>
            <p:txBody>
              <a:bodyPr>
                <a:normAutofit fontScale="25000" lnSpcReduction="20000"/>
              </a:bodyPr>
              <a:lstStyle/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9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960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960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𝑐𝑜𝑚𝑝𝑢𝑡𝑒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9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sz="9600" b="0" dirty="0"/>
              </a:p>
              <a:p>
                <a:pPr marL="97155" indent="0" algn="just" rtl="0">
                  <a:buNone/>
                </a:pPr>
                <a:r>
                  <a:rPr lang="en-US" sz="9600" dirty="0"/>
                  <a:t>2. </a:t>
                </a:r>
                <a14:m>
                  <m:oMath xmlns:m="http://schemas.openxmlformats.org/officeDocument/2006/math">
                    <m:r>
                      <a:rPr lang="en-US" sz="9600" i="1">
                        <a:latin typeface="Cambria Math" panose="02040503050406030204" pitchFamily="18" charset="0"/>
                      </a:rPr>
                      <m:t>𝑐𝑜𝑚𝑝𝑢𝑡𝑒</m:t>
                    </m:r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9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9600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960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96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96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endParaRPr lang="en-US" sz="9600" b="0" dirty="0"/>
              </a:p>
              <a:p>
                <a:pPr marL="97155" indent="0" algn="just" rtl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𝑐𝑜𝑚𝑝𝑢𝑡𝑒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9600" dirty="0"/>
              </a:p>
              <a:p>
                <a:pPr marL="97155" indent="0" algn="l" rtl="0">
                  <a:buNone/>
                </a:pPr>
                <a:r>
                  <a:rPr lang="en-US" sz="7400" dirty="0"/>
                  <a:t>		</a:t>
                </a:r>
                <a:endParaRPr lang="en-US" sz="7400" b="0" dirty="0"/>
              </a:p>
              <a:p>
                <a:pPr marL="97155" indent="0" algn="l" rtl="0">
                  <a:buNone/>
                </a:pPr>
                <a:r>
                  <a:rPr lang="en-US" sz="11200" dirty="0"/>
                  <a:t>from </a:t>
                </a:r>
                <a:r>
                  <a:rPr lang="en-US" sz="11200" dirty="0" err="1"/>
                  <a:t>scipy.stats</a:t>
                </a:r>
                <a:r>
                  <a:rPr lang="en-US" sz="11200" dirty="0"/>
                  <a:t> import norm</a:t>
                </a:r>
              </a:p>
              <a:p>
                <a:pPr marL="97155" indent="0" algn="l" rtl="0">
                  <a:buNone/>
                </a:pPr>
                <a:r>
                  <a:rPr lang="en-US" sz="11200" dirty="0"/>
                  <a:t>1. </a:t>
                </a:r>
                <a:r>
                  <a:rPr lang="en-US" sz="11200" dirty="0" err="1"/>
                  <a:t>norm.cdf</a:t>
                </a:r>
                <a:r>
                  <a:rPr lang="en-US" sz="11200" dirty="0"/>
                  <a:t>(a, mu, sigma)</a:t>
                </a:r>
              </a:p>
              <a:p>
                <a:pPr marL="97155" indent="0" algn="l" rtl="0">
                  <a:buNone/>
                </a:pPr>
                <a:r>
                  <a:rPr lang="en-US" sz="11200" dirty="0"/>
                  <a:t>2. </a:t>
                </a:r>
                <a:r>
                  <a:rPr lang="en-US" sz="11200" dirty="0" err="1"/>
                  <a:t>norm.cdf</a:t>
                </a:r>
                <a:r>
                  <a:rPr lang="en-US" sz="11200" dirty="0"/>
                  <a:t>(b, mu, sigma) – </a:t>
                </a:r>
                <a:r>
                  <a:rPr lang="en-US" sz="11200" dirty="0" err="1"/>
                  <a:t>norm.cdf</a:t>
                </a:r>
                <a:r>
                  <a:rPr lang="en-US" sz="11200" dirty="0"/>
                  <a:t>(</a:t>
                </a:r>
                <a:r>
                  <a:rPr lang="en-US" sz="11200" dirty="0" err="1"/>
                  <a:t>a,mu,sigma</a:t>
                </a:r>
                <a:r>
                  <a:rPr lang="en-US" sz="11200" dirty="0"/>
                  <a:t>)</a:t>
                </a:r>
              </a:p>
              <a:p>
                <a:pPr marL="97155" indent="0" algn="l" rtl="0">
                  <a:buNone/>
                </a:pPr>
                <a:r>
                  <a:rPr lang="en-US" sz="11200" dirty="0"/>
                  <a:t>3. 1 – </a:t>
                </a:r>
                <a:r>
                  <a:rPr lang="en-US" sz="11200" dirty="0" err="1"/>
                  <a:t>norm.cdf</a:t>
                </a:r>
                <a:r>
                  <a:rPr lang="en-US" sz="11200" dirty="0"/>
                  <a:t>(a, mu, sigma)</a:t>
                </a:r>
              </a:p>
              <a:p>
                <a:pPr marL="97155" indent="0" algn="l" rtl="0">
                  <a:buNone/>
                </a:pPr>
                <a:endParaRPr lang="en-US" sz="11200" dirty="0"/>
              </a:p>
              <a:p>
                <a:pPr marL="97155" indent="0" algn="l" rtl="0">
                  <a:buNone/>
                </a:pPr>
                <a:endParaRPr lang="en-US" sz="11200" dirty="0"/>
              </a:p>
              <a:p>
                <a:pPr marL="97155" indent="0" algn="l" rtl="0">
                  <a:buNone/>
                </a:pPr>
                <a:endParaRPr lang="en-US" sz="11200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en-US" sz="4800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r>
                  <a:rPr lang="en-US" sz="4800" dirty="0"/>
                  <a:t>			</a:t>
                </a:r>
                <a:endParaRPr lang="he-IL" sz="4800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7C33D133-EC7B-F376-F6B7-6081ADA4C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2" y="2405857"/>
                <a:ext cx="9601196" cy="3780258"/>
              </a:xfrm>
              <a:blipFill>
                <a:blip r:embed="rId2"/>
                <a:stretch>
                  <a:fillRect l="-318" b="-403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428499"/>
      </p:ext>
    </p:extLst>
  </p:cSld>
  <p:clrMapOvr>
    <a:masterClrMapping/>
  </p:clrMapOvr>
</p:sld>
</file>

<file path=ppt/theme/theme1.xml><?xml version="1.0" encoding="utf-8"?>
<a:theme xmlns:a="http://schemas.openxmlformats.org/drawingml/2006/main" name="אורגני">
  <a:themeElements>
    <a:clrScheme name="אורגני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600</Words>
  <Application>Microsoft Office PowerPoint</Application>
  <PresentationFormat>מסך רחב</PresentationFormat>
  <Paragraphs>144</Paragraphs>
  <Slides>18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2" baseType="lpstr">
      <vt:lpstr>Arial</vt:lpstr>
      <vt:lpstr>Cambria Math</vt:lpstr>
      <vt:lpstr>Garamond</vt:lpstr>
      <vt:lpstr>אורגני</vt:lpstr>
      <vt:lpstr>פרק 2 - בסיס סטטיסטי  2.2 התפלגות נורמלית</vt:lpstr>
      <vt:lpstr>התפלגות נורמלית</vt:lpstr>
      <vt:lpstr>התפלגות נורמלית</vt:lpstr>
      <vt:lpstr>התפלגות נורמלית</vt:lpstr>
      <vt:lpstr>התפלגות נורמלית</vt:lpstr>
      <vt:lpstr>התפלגות נורמלית תקנית</vt:lpstr>
      <vt:lpstr>חישוב ציון תקן (Z-score)</vt:lpstr>
      <vt:lpstr>פירוש ציון תקן (Z-score)</vt:lpstr>
      <vt:lpstr>התפלגות נורמלית</vt:lpstr>
      <vt:lpstr>נוסחה התפלגות נורמלית כללית</vt:lpstr>
      <vt:lpstr>נוסחאות התפלגות נורמלית כללית ותקנית</vt:lpstr>
      <vt:lpstr>התפלגות נורמלית גרף PDF הסתברות היא השטח מתחת לגרף</vt:lpstr>
      <vt:lpstr> התפלגות נורמלית גרף PDF הסתברות מצטברת </vt:lpstr>
      <vt:lpstr>התפלגות נורמלית גרף PDF הסתברות של תחום ערכים</vt:lpstr>
      <vt:lpstr>התפלגות נורמלית גרף PDF הסתברות של תחום ערכים</vt:lpstr>
      <vt:lpstr>הכרת מושגים</vt:lpstr>
      <vt:lpstr>הערכת הסתברות</vt:lpstr>
      <vt:lpstr>התפלגות נורמלית  דוגמה חישובית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פרק 2 - בסיס סטטיסטי  2.1 מדדי מרכוז ופיזור</dc:title>
  <dc:creator>אריאל בר-יצחק</dc:creator>
  <cp:lastModifiedBy>אריאל בר-יצחק</cp:lastModifiedBy>
  <cp:revision>79</cp:revision>
  <dcterms:created xsi:type="dcterms:W3CDTF">2025-12-21T13:18:15Z</dcterms:created>
  <dcterms:modified xsi:type="dcterms:W3CDTF">2026-05-31T13:33:19Z</dcterms:modified>
</cp:coreProperties>
</file>