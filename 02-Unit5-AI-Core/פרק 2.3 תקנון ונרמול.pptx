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65" r:id="rId4"/>
    <p:sldId id="266" r:id="rId5"/>
    <p:sldId id="267" r:id="rId6"/>
    <p:sldId id="274" r:id="rId7"/>
    <p:sldId id="269" r:id="rId8"/>
    <p:sldId id="275" r:id="rId9"/>
    <p:sldId id="276" r:id="rId10"/>
    <p:sldId id="271" r:id="rId11"/>
    <p:sldId id="273" r:id="rId12"/>
    <p:sldId id="278" r:id="rId13"/>
    <p:sldId id="277" r:id="rId14"/>
    <p:sldId id="279" r:id="rId15"/>
  </p:sldIdLst>
  <p:sldSz cx="12192000" cy="6858000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Garamond" panose="02020404030301010803" pitchFamily="18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yhVWeSBUQ52v9ndg6+EfCkPo4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F981C0-632D-43AC-7034-0AFD14A6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904C7F1-699D-4E6A-3401-D21A227A0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05CD73B5-74A8-E52A-A29A-3B8551A13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583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08518F92-1416-9013-18EC-962F49C8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7BB583A0-727C-A89B-1182-8E0FC8292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F5A59F2F-35E2-4243-6FBC-86B1A9A0C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6683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29D930A-8A05-B62C-4CFC-E145D31E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027C7804-9E27-95A3-AD2A-5915E2955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1E76A976-EF68-6DC8-DC97-F92675916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5301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1520DFA6-8F60-E1A1-7012-A43B6CCD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515EA1F0-102A-DC05-1F6B-5539A7570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34BA78C2-A484-D261-3600-6ED791E20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359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שקופית כותרת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4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0" name="Google Shape;20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 rtl="1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 rtl="1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 rtl="1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 rtl="1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27" name="Google Shape;27;p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פנורמית עם כיתוב">
  <p:cSld name="תמונה פנורמית עם כיתוב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כיתוב">
  <p:cSld name="כותרת וכיתוב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98" name="Google Shape;98;p1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ציטוט עם כיתוב">
  <p:cSld name="ציטוט עם כיתוב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">
  <p:cSld name="כרטיס שם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 עם ציטוט">
  <p:cSld name="כרטיס שם עם ציטוט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נכון או לא נכון">
  <p:cSld name="נכון או לא נכון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3" descr="HD-PanelContent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9" name="Google Shape;9;p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r" rtl="1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r" rtl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ll-about-feature-scaling-bcc0ad75cb35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papers.probabl.ai/the-standardscaler-is-not-standar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pythonprog.com/sklearn-preprocessing-minmaxscale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interactivechaos.com/es/manual/tutorial-de-machine-learning/robustscaler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54067474/comparing-results-from-standardscaler-vs-normalizer-in-linear-regress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iw-IL" sz="4400" dirty="0"/>
              <a:t>פר</a:t>
            </a:r>
            <a:r>
              <a:rPr lang="he-IL" sz="4400" dirty="0"/>
              <a:t>ק 2 -</a:t>
            </a:r>
            <a:r>
              <a:rPr lang="iw-IL" sz="4400" dirty="0"/>
              <a:t> בסיס סטטיסטי</a:t>
            </a:r>
            <a:br>
              <a:rPr lang="iw-IL" sz="4400" dirty="0"/>
            </a:br>
            <a:r>
              <a:rPr lang="he-IL" sz="4400"/>
              <a:t> 2.3 תקנון ונרמול</a:t>
            </a:r>
            <a:endParaRPr dirty="0"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iw-IL" dirty="0"/>
              <a:t>מאת:</a:t>
            </a:r>
            <a:r>
              <a:rPr lang="he-IL" dirty="0"/>
              <a:t> א</a:t>
            </a:r>
            <a:r>
              <a:rPr lang="iw-IL" dirty="0"/>
              <a:t>ריאל בר-יצחק</a:t>
            </a:r>
            <a:endParaRPr lang="he-IL" dirty="0"/>
          </a:p>
          <a:p>
            <a:pPr marL="0" indent="0">
              <a:spcBef>
                <a:spcPts val="0"/>
              </a:spcBef>
            </a:pPr>
            <a:r>
              <a:rPr lang="iw-IL" dirty="0"/>
              <a:t>ייעוץ פדגוגי:</a:t>
            </a:r>
            <a:r>
              <a:rPr lang="he-IL" dirty="0"/>
              <a:t> ד</a:t>
            </a:r>
            <a:r>
              <a:rPr lang="iw-IL" dirty="0"/>
              <a:t>"ר קובי מייק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6D0741-E275-6517-D3A6-AFA79980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מוטיבציה לתקנון ונרמול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D13750E-7A84-A1E2-7987-81051CBC9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4628" y="2753030"/>
            <a:ext cx="5381970" cy="1825415"/>
          </a:xfrm>
        </p:spPr>
        <p:txBody>
          <a:bodyPr>
            <a:normAutofit fontScale="92500" lnSpcReduction="10000"/>
          </a:bodyPr>
          <a:lstStyle/>
          <a:p>
            <a:r>
              <a:rPr lang="he-IL" dirty="0"/>
              <a:t>לתקנון ונרמול יש השפעה דרמטית על הביצועים של אלגוריתמי למידת מכונה. </a:t>
            </a:r>
          </a:p>
          <a:p>
            <a:r>
              <a:rPr lang="he-IL" dirty="0"/>
              <a:t>עבודה עם נתונים בסקאלה לא נכונה יכולה להפריע דרמטית להתכנסות האלגוריתם.</a:t>
            </a:r>
          </a:p>
          <a:p>
            <a:r>
              <a:rPr lang="he-IL" dirty="0"/>
              <a:t>בעתיד נראה דוגמאות למקרים אלו</a:t>
            </a:r>
          </a:p>
        </p:txBody>
      </p:sp>
      <p:pic>
        <p:nvPicPr>
          <p:cNvPr id="1026" name="Picture 2" descr="Apple &amp; Strawberry Image Credit: Pixabay">
            <a:extLst>
              <a:ext uri="{FF2B5EF4-FFF2-40B4-BE49-F238E27FC236}">
                <a16:creationId xmlns:a16="http://schemas.microsoft.com/office/drawing/2014/main" id="{679A22A8-25AF-BBDF-9799-948834FA8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41" y="2733980"/>
            <a:ext cx="4367293" cy="280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86769CE-4902-5637-F73C-80F33A2FF6A4}"/>
              </a:ext>
            </a:extLst>
          </p:cNvPr>
          <p:cNvSpPr txBox="1"/>
          <p:nvPr/>
        </p:nvSpPr>
        <p:spPr>
          <a:xfrm>
            <a:off x="6018806" y="5380136"/>
            <a:ext cx="133615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3"/>
              </a:rPr>
              <a:t>מקור התמונה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3093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5E37B65-D162-A9C9-760C-E836AEB1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46CF80-26EC-B5C7-15D2-85CD19C6D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Standard scaler</a:t>
            </a:r>
            <a:r>
              <a:rPr lang="he-IL" dirty="0"/>
              <a:t> - תקנון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1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he-IL" b="1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תקנון של המאפיינים.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לאחר התקנון נקבל: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he-IL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blipFill>
                <a:blip r:embed="rId3"/>
                <a:stretch>
                  <a:fillRect r="-11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5A3E28D-27A1-D992-94CB-1C3A6E5BC37B}"/>
              </a:ext>
            </a:extLst>
          </p:cNvPr>
          <p:cNvSpPr txBox="1"/>
          <p:nvPr/>
        </p:nvSpPr>
        <p:spPr>
          <a:xfrm>
            <a:off x="9705474" y="5534526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4"/>
              </a:rPr>
              <a:t>מקור התמונה</a:t>
            </a:r>
            <a:endParaRPr lang="he-IL"/>
          </a:p>
        </p:txBody>
      </p:sp>
      <p:pic>
        <p:nvPicPr>
          <p:cNvPr id="3" name="תמונה 2" descr="תמונה שמכילה תרשים, טק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65C82D4-E18C-3BF2-9B5A-C8DAC5DD1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03" y="3107475"/>
            <a:ext cx="5105224" cy="31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7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3CC98C3A-5204-353F-C52D-2540105D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ED887911-2B3E-D1DF-37F6-664666557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 - Min Max Scaler</a:t>
            </a:r>
            <a:r>
              <a:rPr lang="he-IL" dirty="0"/>
              <a:t>נרמול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529153BC-8C11-5286-8623-AD791E75387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26237" y="2562138"/>
                <a:ext cx="10355785" cy="3031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1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he-IL" b="1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נרמול של המאפיינים.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לאחר התקנון נקבל: </a:t>
                </a:r>
                <a:r>
                  <a:rPr lang="en-US" dirty="0"/>
                  <a:t>x’ in [0,1]</a:t>
                </a:r>
                <a:endParaRPr lang="he-IL" dirty="0"/>
              </a:p>
              <a:p>
                <a:pPr marL="0" indent="0">
                  <a:spcBef>
                    <a:spcPts val="0"/>
                  </a:spcBef>
                  <a:buSzPts val="2760"/>
                  <a:buNone/>
                </a:pPr>
                <a:endParaRPr lang="en-US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endParaRPr lang="he-IL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529153BC-8C11-5286-8623-AD791E75387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26237" y="2562138"/>
                <a:ext cx="10355785" cy="3031958"/>
              </a:xfrm>
              <a:prstGeom prst="rect">
                <a:avLst/>
              </a:prstGeom>
              <a:blipFill>
                <a:blip r:embed="rId3"/>
                <a:stretch>
                  <a:fillRect r="-1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A6AAA7E-D3C4-B0B0-D29E-39E7BC0527CF}"/>
              </a:ext>
            </a:extLst>
          </p:cNvPr>
          <p:cNvSpPr txBox="1"/>
          <p:nvPr/>
        </p:nvSpPr>
        <p:spPr>
          <a:xfrm>
            <a:off x="9705474" y="5534526"/>
            <a:ext cx="7613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4"/>
              </a:rPr>
              <a:t>מקור התמונה</a:t>
            </a:r>
            <a:endParaRPr lang="he-IL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BA3627D-58FC-F211-6F03-4A4063136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37" y="3539105"/>
            <a:ext cx="5046277" cy="251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53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8D234BD6-9B97-02B3-4A42-BCA0D5C5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C5360BAE-E6D6-CB64-4956-DA48698212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 - Robust Scaler</a:t>
            </a:r>
            <a:r>
              <a:rPr lang="he-IL" dirty="0"/>
              <a:t>תקנון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A1CCA27E-FBD6-FB41-7DA6-AAC69B09B12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478943" y="2502568"/>
                <a:ext cx="9684688" cy="31905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spcBef>
                    <a:spcPts val="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sty m:val="p"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median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IQR</m:t>
                          </m:r>
                        </m:den>
                      </m:f>
                    </m:oMath>
                  </m:oMathPara>
                </a14:m>
                <a:endParaRPr lang="ar-AE" b="1" dirty="0"/>
              </a:p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:endParaRPr lang="ar-AE" b="1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תקנון של המאפיינים</a:t>
                </a:r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לאחר הנרמול נקבל: </a:t>
                </a:r>
                <a:r>
                  <a:rPr lang="en-US" dirty="0"/>
                  <a:t>Median=0, IQR=1</a:t>
                </a:r>
                <a:endParaRPr lang="he-IL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r>
                  <a:rPr lang="he-IL" dirty="0"/>
                  <a:t>אינו רגיש לערכי קיצון</a:t>
                </a:r>
              </a:p>
              <a:p>
                <a:pPr marL="0" indent="0">
                  <a:spcBef>
                    <a:spcPts val="0"/>
                  </a:spcBef>
                  <a:buSzPts val="2760"/>
                  <a:buNone/>
                </a:pPr>
                <a:endParaRPr lang="he-IL" dirty="0"/>
              </a:p>
              <a:p>
                <a:pPr marL="342900" indent="-342900">
                  <a:spcBef>
                    <a:spcPts val="0"/>
                  </a:spcBef>
                  <a:buSzPts val="2760"/>
                </a:pPr>
                <a:endParaRPr lang="he-IL" dirty="0"/>
              </a:p>
              <a:p>
                <a:pPr marL="0" indent="0">
                  <a:spcBef>
                    <a:spcPts val="0"/>
                  </a:spcBef>
                  <a:buSzPts val="2760"/>
                  <a:buNone/>
                </a:pPr>
                <a:endParaRPr lang="he-IL" dirty="0"/>
              </a:p>
              <a:p>
                <a:pPr marL="0" lvl="0" indent="0" algn="r" rtl="1">
                  <a:spcBef>
                    <a:spcPts val="0"/>
                  </a:spcBef>
                  <a:spcAft>
                    <a:spcPts val="0"/>
                  </a:spcAft>
                  <a:buSzPts val="2760"/>
                  <a:buNone/>
                </a:pPr>
                <a:endParaRPr lang="he-IL" b="1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A1CCA27E-FBD6-FB41-7DA6-AAC69B09B12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78943" y="2502568"/>
                <a:ext cx="9684688" cy="3190566"/>
              </a:xfrm>
              <a:prstGeom prst="rect">
                <a:avLst/>
              </a:prstGeom>
              <a:blipFill>
                <a:blip r:embed="rId3"/>
                <a:stretch>
                  <a:fillRect r="-12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66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03496F53-30F9-65B0-24A6-51FF093F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F81116-F8BF-789C-5E76-AE6BF4D7A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 - Robust Scaler</a:t>
            </a:r>
            <a:r>
              <a:rPr lang="he-IL" dirty="0"/>
              <a:t>תקנון</a:t>
            </a:r>
            <a:endParaRPr dirty="0"/>
          </a:p>
        </p:txBody>
      </p:sp>
      <p:pic>
        <p:nvPicPr>
          <p:cNvPr id="4" name="תמונה 3" descr="תמונה שמכילה טקסט, צילום מסך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D183B36-CB0A-A5DA-CE20-C44B89870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409" y="2435985"/>
            <a:ext cx="2433381" cy="3789887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2403FFE-5AC4-C82C-18AE-A38CB64DB4D7}"/>
              </a:ext>
            </a:extLst>
          </p:cNvPr>
          <p:cNvSpPr txBox="1"/>
          <p:nvPr/>
        </p:nvSpPr>
        <p:spPr>
          <a:xfrm>
            <a:off x="10384403" y="5610695"/>
            <a:ext cx="85637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התמונות</a:t>
            </a:r>
            <a:endParaRPr lang="he-IL" dirty="0"/>
          </a:p>
        </p:txBody>
      </p:sp>
      <p:pic>
        <p:nvPicPr>
          <p:cNvPr id="3074" name="Picture 2" descr="RobustScaler">
            <a:extLst>
              <a:ext uri="{FF2B5EF4-FFF2-40B4-BE49-F238E27FC236}">
                <a16:creationId xmlns:a16="http://schemas.microsoft.com/office/drawing/2014/main" id="{6BF6CABA-3CB6-504C-139F-15BBEA50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632" y="2693216"/>
            <a:ext cx="4238791" cy="307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חץ: ימינה 5">
            <a:extLst>
              <a:ext uri="{FF2B5EF4-FFF2-40B4-BE49-F238E27FC236}">
                <a16:creationId xmlns:a16="http://schemas.microsoft.com/office/drawing/2014/main" id="{235BF6AD-5A99-D042-059C-A3770572E173}"/>
              </a:ext>
            </a:extLst>
          </p:cNvPr>
          <p:cNvSpPr/>
          <p:nvPr/>
        </p:nvSpPr>
        <p:spPr>
          <a:xfrm>
            <a:off x="5589767" y="4071068"/>
            <a:ext cx="1160890" cy="397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641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68012B-D631-418C-BCB4-DC983F9C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- Normalizer scaler</a:t>
            </a:r>
            <a:r>
              <a:rPr lang="he-IL" dirty="0"/>
              <a:t>נרמול </a:t>
            </a:r>
            <a:r>
              <a:rPr lang="he-IL" dirty="0" err="1"/>
              <a:t>וקטורי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961277EA-5B76-4E44-AE61-9FF10BBCBA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9715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כאן הנרמול נעשה על הדוגמאות, ולא על המאפיינים. וזאת מכיוון שהמטרה לשלוט באורך הווקטור של כל דגימה, ולא בסקאלה של כל מאפיין.</a:t>
                </a:r>
              </a:p>
              <a:p>
                <a:r>
                  <a:rPr lang="he-IL" dirty="0"/>
                  <a:t>הנרמול יכול להיעשות ב </a:t>
                </a:r>
                <a:r>
                  <a:rPr lang="en-US" dirty="0"/>
                  <a:t>L1, L2</a:t>
                </a:r>
                <a:endParaRPr lang="he-IL" dirty="0"/>
              </a:p>
              <a:p>
                <a:r>
                  <a:rPr lang="he-IL" dirty="0"/>
                  <a:t>לאחר הנרמול נקבל: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/>
              </a:p>
              <a:p>
                <a:pPr marL="97155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961277EA-5B76-4E44-AE61-9FF10BBCBA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6918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00D6-7B96-EC3F-F77F-6EB6864E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16F5CB-6EEF-E6C9-B44F-84589F0A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Normalizer scaler, 2d example</a:t>
            </a:r>
            <a:endParaRPr lang="he-IL" dirty="0"/>
          </a:p>
        </p:txBody>
      </p:sp>
      <p:pic>
        <p:nvPicPr>
          <p:cNvPr id="5" name="תמונה 4" descr="תמונה שמכילה צילום מסך, תרשים, קו, צבעו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9A28CED-E1F1-2F06-9EED-28EBE3EB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606" y="2051953"/>
            <a:ext cx="2638538" cy="4113015"/>
          </a:xfrm>
          <a:prstGeom prst="rect">
            <a:avLst/>
          </a:prstGeom>
        </p:spPr>
      </p:pic>
      <p:pic>
        <p:nvPicPr>
          <p:cNvPr id="7" name="תמונה 6" descr="תמונה שמכילה צילום מסך, טקסט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4833622-8D37-9458-5B64-D30CC9935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22" y="2114366"/>
            <a:ext cx="2504994" cy="4190173"/>
          </a:xfrm>
          <a:prstGeom prst="rect">
            <a:avLst/>
          </a:prstGeom>
        </p:spPr>
      </p:pic>
      <p:sp>
        <p:nvSpPr>
          <p:cNvPr id="8" name="חץ: ימינה 7">
            <a:extLst>
              <a:ext uri="{FF2B5EF4-FFF2-40B4-BE49-F238E27FC236}">
                <a16:creationId xmlns:a16="http://schemas.microsoft.com/office/drawing/2014/main" id="{B2D4AE31-3481-A0D9-213D-01036A506742}"/>
              </a:ext>
            </a:extLst>
          </p:cNvPr>
          <p:cNvSpPr/>
          <p:nvPr/>
        </p:nvSpPr>
        <p:spPr>
          <a:xfrm>
            <a:off x="5208104" y="3999506"/>
            <a:ext cx="970059" cy="4373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C2FAF5E-D67A-DFFC-9469-F244C8C61814}"/>
              </a:ext>
            </a:extLst>
          </p:cNvPr>
          <p:cNvSpPr txBox="1"/>
          <p:nvPr/>
        </p:nvSpPr>
        <p:spPr>
          <a:xfrm>
            <a:off x="10034546" y="3236181"/>
            <a:ext cx="77127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4"/>
              </a:rPr>
              <a:t>מקור התמונה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4804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3AC8-D8B2-86C9-0A5E-641305E8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9CCE9D-9C73-0ABE-479C-60206A39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scaler, 3d example</a:t>
            </a:r>
            <a:endParaRPr lang="he-IL" dirty="0"/>
          </a:p>
        </p:txBody>
      </p:sp>
      <p:sp>
        <p:nvSpPr>
          <p:cNvPr id="8" name="חץ: ימינה 7">
            <a:extLst>
              <a:ext uri="{FF2B5EF4-FFF2-40B4-BE49-F238E27FC236}">
                <a16:creationId xmlns:a16="http://schemas.microsoft.com/office/drawing/2014/main" id="{EB1FA505-9B03-1667-BE78-866E944616CE}"/>
              </a:ext>
            </a:extLst>
          </p:cNvPr>
          <p:cNvSpPr/>
          <p:nvPr/>
        </p:nvSpPr>
        <p:spPr>
          <a:xfrm>
            <a:off x="5494352" y="3711271"/>
            <a:ext cx="970059" cy="4373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4" name="תמונה 3" descr="תמונה שמכילה צילום מסך, תרשים, מפה, טק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CC8CA5F-7246-731B-8898-480AFBDAA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83" y="2729958"/>
            <a:ext cx="2448267" cy="2829320"/>
          </a:xfrm>
          <a:prstGeom prst="rect">
            <a:avLst/>
          </a:prstGeom>
        </p:spPr>
      </p:pic>
      <p:pic>
        <p:nvPicPr>
          <p:cNvPr id="9" name="תמונה 8" descr="תמונה שמכילה צילום מסך, תרשים, עיגול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CAF460F-57AE-1892-2E33-843B39141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452" y="2567667"/>
            <a:ext cx="2305372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9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527039-ACD4-2B98-AA3E-F1FE28FB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90307247-48C7-2B03-3CEB-FE1CE7407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359844"/>
              </p:ext>
            </p:extLst>
          </p:nvPr>
        </p:nvGraphicFramePr>
        <p:xfrm>
          <a:off x="954159" y="2757559"/>
          <a:ext cx="10390585" cy="189350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23666">
                  <a:extLst>
                    <a:ext uri="{9D8B030D-6E8A-4147-A177-3AD203B41FA5}">
                      <a16:colId xmlns:a16="http://schemas.microsoft.com/office/drawing/2014/main" val="3070777041"/>
                    </a:ext>
                  </a:extLst>
                </a:gridCol>
                <a:gridCol w="1518699">
                  <a:extLst>
                    <a:ext uri="{9D8B030D-6E8A-4147-A177-3AD203B41FA5}">
                      <a16:colId xmlns:a16="http://schemas.microsoft.com/office/drawing/2014/main" val="2484083593"/>
                    </a:ext>
                  </a:extLst>
                </a:gridCol>
                <a:gridCol w="2019631">
                  <a:extLst>
                    <a:ext uri="{9D8B030D-6E8A-4147-A177-3AD203B41FA5}">
                      <a16:colId xmlns:a16="http://schemas.microsoft.com/office/drawing/2014/main" val="1400827724"/>
                    </a:ext>
                  </a:extLst>
                </a:gridCol>
                <a:gridCol w="1892411">
                  <a:extLst>
                    <a:ext uri="{9D8B030D-6E8A-4147-A177-3AD203B41FA5}">
                      <a16:colId xmlns:a16="http://schemas.microsoft.com/office/drawing/2014/main" val="4242002128"/>
                    </a:ext>
                  </a:extLst>
                </a:gridCol>
                <a:gridCol w="3236178">
                  <a:extLst>
                    <a:ext uri="{9D8B030D-6E8A-4147-A177-3AD203B41FA5}">
                      <a16:colId xmlns:a16="http://schemas.microsoft.com/office/drawing/2014/main" val="948354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פעולה בעברית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פעולה באנגלית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מנרמלת מה?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הסבר קצר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 err="1"/>
                        <a:t>StandardScaler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תקנון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Standardization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עמודות - </a:t>
                      </a:r>
                      <a:r>
                        <a:rPr lang="en-US" dirty="0"/>
                        <a:t>Features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מתקנן לממוצע 0 וסטיית תקן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03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 err="1"/>
                        <a:t>MinMaxScaler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נרמול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Normalization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e-IL" dirty="0"/>
                        <a:t>עמודות – </a:t>
                      </a:r>
                      <a:r>
                        <a:rPr lang="en-US" dirty="0"/>
                        <a:t>Features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מנרמל לטווח קבוע (לרוב 0 עד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935005"/>
                  </a:ext>
                </a:extLst>
              </a:tr>
              <a:tr h="410145">
                <a:tc>
                  <a:txBody>
                    <a:bodyPr/>
                    <a:lstStyle/>
                    <a:p>
                      <a:pPr algn="r" rtl="1"/>
                      <a:r>
                        <a:rPr lang="en-US" dirty="0" err="1"/>
                        <a:t>RobustScaler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תקנון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Standardization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e-IL" dirty="0"/>
                        <a:t>עמודות – </a:t>
                      </a:r>
                      <a:r>
                        <a:rPr lang="en-US" dirty="0"/>
                        <a:t>Features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מתקנן לחציון 0 וטווח בין רבעוני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Normalizer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נרמול </a:t>
                      </a:r>
                      <a:r>
                        <a:rPr lang="he-IL" dirty="0" err="1"/>
                        <a:t>וקטורי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Vector Normalization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שורות - </a:t>
                      </a:r>
                      <a:r>
                        <a:rPr lang="en-US" dirty="0"/>
                        <a:t>Samples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מנרמל </a:t>
                      </a:r>
                      <a:r>
                        <a:rPr lang="he-IL" dirty="0" err="1"/>
                        <a:t>וקטורית</a:t>
                      </a:r>
                      <a:r>
                        <a:rPr lang="he-IL" dirty="0"/>
                        <a:t> כל דוגמה לאורך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989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800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8BC1-6532-CDD5-57AB-8A22F268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C03516-9D72-42FE-9D73-C9F5EA55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 רגישות לחריגים </a:t>
            </a:r>
            <a:r>
              <a:rPr lang="en-US" dirty="0"/>
              <a:t>outliers</a:t>
            </a:r>
            <a:endParaRPr lang="he-IL" dirty="0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A0748FF5-4235-8BCF-588A-902D0B775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18278"/>
              </p:ext>
            </p:extLst>
          </p:nvPr>
        </p:nvGraphicFramePr>
        <p:xfrm>
          <a:off x="1796716" y="2853811"/>
          <a:ext cx="7719228" cy="2296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99691">
                  <a:extLst>
                    <a:ext uri="{9D8B030D-6E8A-4147-A177-3AD203B41FA5}">
                      <a16:colId xmlns:a16="http://schemas.microsoft.com/office/drawing/2014/main" val="3070777041"/>
                    </a:ext>
                  </a:extLst>
                </a:gridCol>
                <a:gridCol w="1780674">
                  <a:extLst>
                    <a:ext uri="{9D8B030D-6E8A-4147-A177-3AD203B41FA5}">
                      <a16:colId xmlns:a16="http://schemas.microsoft.com/office/drawing/2014/main" val="2484083593"/>
                    </a:ext>
                  </a:extLst>
                </a:gridCol>
                <a:gridCol w="4138863">
                  <a:extLst>
                    <a:ext uri="{9D8B030D-6E8A-4147-A177-3AD203B41FA5}">
                      <a16:colId xmlns:a16="http://schemas.microsoft.com/office/drawing/2014/main" val="1400827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רגישות לחריגים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הסבר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MinMaxScaler</a:t>
                      </a:r>
                      <a:endParaRPr lang="he-IL" dirty="0"/>
                    </a:p>
                    <a:p>
                      <a:pPr algn="r"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גבוהה מאד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החריגים משפיעים על המקסימום ו/או מינימום, ודוחסים את כל הערכים ביניהם.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03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StandardScaler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גבוהה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חריגים משפיעים על הממוצע וסטיית תקן ולכן משנים את כל הסקאלה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935005"/>
                  </a:ext>
                </a:extLst>
              </a:tr>
              <a:tr h="410145">
                <a:tc>
                  <a:txBody>
                    <a:bodyPr/>
                    <a:lstStyle/>
                    <a:p>
                      <a:pPr algn="r" rtl="1"/>
                      <a:r>
                        <a:rPr lang="en-US" dirty="0" err="1"/>
                        <a:t>RobustScaler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נמוכה מאד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מבוסס על חציון ורבעונים, ולכן כמעט לא מושפע מערכים קיצוניים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Normalizer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לא רלוונטי להשוואה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מנרמל כל דגימה בנפרד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989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1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8C4F-D747-EA74-F84C-612F332B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AAA3D6-8629-1DC8-F358-7037B3D3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המרות תחום: פעולת </a:t>
            </a:r>
            <a:r>
              <a:rPr lang="en-US" dirty="0"/>
              <a:t>fit</a:t>
            </a:r>
            <a:r>
              <a:rPr lang="he-IL" dirty="0"/>
              <a:t> ופעולת </a:t>
            </a:r>
            <a:r>
              <a:rPr lang="en-US" dirty="0"/>
              <a:t>transform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טבלה 3">
                <a:extLst>
                  <a:ext uri="{FF2B5EF4-FFF2-40B4-BE49-F238E27FC236}">
                    <a16:creationId xmlns:a16="http://schemas.microsoft.com/office/drawing/2014/main" id="{4F7BB08C-E492-8058-9177-85AEE8727A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546573"/>
                  </p:ext>
                </p:extLst>
              </p:nvPr>
            </p:nvGraphicFramePr>
            <p:xfrm>
              <a:off x="1295402" y="2839855"/>
              <a:ext cx="9851133" cy="2634234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2990087">
                      <a:extLst>
                        <a:ext uri="{9D8B030D-6E8A-4147-A177-3AD203B41FA5}">
                          <a16:colId xmlns:a16="http://schemas.microsoft.com/office/drawing/2014/main" val="3070777041"/>
                        </a:ext>
                      </a:extLst>
                    </a:gridCol>
                    <a:gridCol w="3310128">
                      <a:extLst>
                        <a:ext uri="{9D8B030D-6E8A-4147-A177-3AD203B41FA5}">
                          <a16:colId xmlns:a16="http://schemas.microsoft.com/office/drawing/2014/main" val="4242002128"/>
                        </a:ext>
                      </a:extLst>
                    </a:gridCol>
                    <a:gridCol w="3550918">
                      <a:extLst>
                        <a:ext uri="{9D8B030D-6E8A-4147-A177-3AD203B41FA5}">
                          <a16:colId xmlns:a16="http://schemas.microsoft.com/office/drawing/2014/main" val="9483547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/>
                            <a:t>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dirty="0"/>
                            <a:t>fit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dirty="0"/>
                            <a:t>transform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 err="1"/>
                            <a:t>StandardScaler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חישוב ממוצע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he-IL" dirty="0"/>
                            <a:t>) וסטיית תקן</a:t>
                          </a:r>
                          <a:r>
                            <a:rPr lang="en-US" dirty="0"/>
                            <a:t> </a:t>
                          </a:r>
                          <a:r>
                            <a:rPr lang="he-IL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oMath>
                          </a14:m>
                          <a:r>
                            <a:rPr lang="he-IL" dirty="0"/>
                            <a:t> (לכל עמודה בנפרד)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 algn="r" rtl="1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276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num>
                                  <m:den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5037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 err="1"/>
                            <a:t>MinMaxScaler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he-IL" dirty="0"/>
                            <a:t>חישוב מינימום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</m:oMath>
                          </a14:m>
                          <a:r>
                            <a:rPr lang="he-IL" dirty="0"/>
                            <a:t>) ומקסימום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he-IL" dirty="0"/>
                            <a:t>) (לכל עמודה בנפרד)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sub>
                                    </m:s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7935005"/>
                      </a:ext>
                    </a:extLst>
                  </a:tr>
                  <a:tr h="41014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 err="1"/>
                            <a:t>RobustScaler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he-IL" dirty="0"/>
                            <a:t>חישוב חציון (</a:t>
                          </a:r>
                          <a:r>
                            <a:rPr lang="en-US" dirty="0"/>
                            <a:t>median</a:t>
                          </a:r>
                          <a:r>
                            <a:rPr lang="he-IL" dirty="0"/>
                            <a:t>) וטווח בין רבעונים (</a:t>
                          </a:r>
                          <a:r>
                            <a:rPr lang="en-US" dirty="0"/>
                            <a:t>IQR</a:t>
                          </a:r>
                          <a:r>
                            <a:rPr lang="he-IL" dirty="0"/>
                            <a:t>) (לכל עמודה בנפרד)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ar-A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ar-AE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ar-AE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median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IQR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b="1" dirty="0"/>
                        </a:p>
                        <a:p>
                          <a:pPr algn="r" rtl="1"/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29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/>
                            <a:t>Normalizer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19891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טבלה 3">
                <a:extLst>
                  <a:ext uri="{FF2B5EF4-FFF2-40B4-BE49-F238E27FC236}">
                    <a16:creationId xmlns:a16="http://schemas.microsoft.com/office/drawing/2014/main" id="{4F7BB08C-E492-8058-9177-85AEE8727A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6546573"/>
                  </p:ext>
                </p:extLst>
              </p:nvPr>
            </p:nvGraphicFramePr>
            <p:xfrm>
              <a:off x="1295402" y="2839855"/>
              <a:ext cx="9851133" cy="2634234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2990087">
                      <a:extLst>
                        <a:ext uri="{9D8B030D-6E8A-4147-A177-3AD203B41FA5}">
                          <a16:colId xmlns:a16="http://schemas.microsoft.com/office/drawing/2014/main" val="3070777041"/>
                        </a:ext>
                      </a:extLst>
                    </a:gridCol>
                    <a:gridCol w="3310128">
                      <a:extLst>
                        <a:ext uri="{9D8B030D-6E8A-4147-A177-3AD203B41FA5}">
                          <a16:colId xmlns:a16="http://schemas.microsoft.com/office/drawing/2014/main" val="4242002128"/>
                        </a:ext>
                      </a:extLst>
                    </a:gridCol>
                    <a:gridCol w="3550918">
                      <a:extLst>
                        <a:ext uri="{9D8B030D-6E8A-4147-A177-3AD203B41FA5}">
                          <a16:colId xmlns:a16="http://schemas.microsoft.com/office/drawing/2014/main" val="9483547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/>
                            <a:t>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dirty="0"/>
                            <a:t>fit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dirty="0"/>
                            <a:t>transform</a:t>
                          </a:r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50135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 err="1"/>
                            <a:t>StandardScaler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608" t="-72941" r="-108103" b="-34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530" t="-72941" r="-686" b="-34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03772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 err="1"/>
                            <a:t>MinMaxScaler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608" t="-172941" r="-108103" b="-24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530" t="-172941" r="-686" b="-24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7935005"/>
                      </a:ext>
                    </a:extLst>
                  </a:tr>
                  <a:tr h="74168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 err="1"/>
                            <a:t>RobustScaler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he-IL" dirty="0"/>
                            <a:t>חישוב חציון (</a:t>
                          </a:r>
                          <a:r>
                            <a:rPr lang="en-US" dirty="0"/>
                            <a:t>median</a:t>
                          </a:r>
                          <a:r>
                            <a:rPr lang="he-IL" dirty="0"/>
                            <a:t>) וטווח בין רבעונים (</a:t>
                          </a:r>
                          <a:r>
                            <a:rPr lang="en-US" dirty="0"/>
                            <a:t>IQR</a:t>
                          </a:r>
                          <a:r>
                            <a:rPr lang="he-IL" dirty="0"/>
                            <a:t>) (לכל עמודה בנפרד)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530" t="-190164" r="-686" b="-6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298998"/>
                      </a:ext>
                    </a:extLst>
                  </a:tr>
                  <a:tr h="485394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dirty="0"/>
                            <a:t>Normalizer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7530" t="-442500" r="-686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19891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7200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34C0E-5702-C1CB-F5CA-07D995DA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</a:t>
            </a:r>
            <a:r>
              <a:rPr lang="he-IL" dirty="0" err="1"/>
              <a:t>בפייתון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270C9-0287-BDC6-BB70-AADA7472A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 algn="l" rtl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MinMaxScaler,RobustScaler,Normalizer</a:t>
            </a:r>
            <a:endParaRPr lang="en-US" dirty="0"/>
          </a:p>
          <a:p>
            <a:pPr algn="l" rtl="0"/>
            <a:endParaRPr lang="en-US" dirty="0"/>
          </a:p>
          <a:p>
            <a:pPr marL="97155" indent="0" algn="l" rtl="0">
              <a:buNone/>
            </a:pPr>
            <a:r>
              <a:rPr lang="en-US" dirty="0"/>
              <a:t>scaler = </a:t>
            </a:r>
            <a:r>
              <a:rPr lang="en-US" dirty="0" err="1"/>
              <a:t>StandardScaler</a:t>
            </a:r>
            <a:r>
              <a:rPr lang="en-US" dirty="0"/>
              <a:t>()</a:t>
            </a:r>
          </a:p>
          <a:p>
            <a:pPr marL="97155" indent="0" algn="l" rtl="0">
              <a:buNone/>
            </a:pPr>
            <a:r>
              <a:rPr lang="en-US" dirty="0" err="1"/>
              <a:t>X_scaled</a:t>
            </a:r>
            <a:r>
              <a:rPr lang="en-US" dirty="0"/>
              <a:t> = </a:t>
            </a:r>
            <a:r>
              <a:rPr lang="en-US" dirty="0" err="1"/>
              <a:t>scaler.fit</a:t>
            </a:r>
            <a:r>
              <a:rPr lang="en-US" dirty="0"/>
              <a:t>(X)</a:t>
            </a:r>
          </a:p>
          <a:p>
            <a:pPr marL="97155" indent="0" algn="l" rtl="0">
              <a:buNone/>
            </a:pPr>
            <a:r>
              <a:rPr lang="en-US" dirty="0" err="1"/>
              <a:t>X_scaled</a:t>
            </a:r>
            <a:r>
              <a:rPr lang="en-US" dirty="0"/>
              <a:t> = </a:t>
            </a:r>
            <a:r>
              <a:rPr lang="en-US" dirty="0" err="1"/>
              <a:t>scaler.transform</a:t>
            </a:r>
            <a:r>
              <a:rPr lang="en-US" dirty="0"/>
              <a:t>(X)</a:t>
            </a:r>
          </a:p>
          <a:p>
            <a:pPr marL="97155" indent="0" algn="l" rtl="0">
              <a:buNone/>
            </a:pPr>
            <a:r>
              <a:rPr lang="en-US" dirty="0" err="1"/>
              <a:t>X_scaled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(X)</a:t>
            </a:r>
          </a:p>
          <a:p>
            <a:pPr marL="97155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037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70D316-9EA9-1A19-705B-EC9273EEA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בפייתון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991BBC0-D310-456C-786D-1B66CD2D4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4538471" cy="3318936"/>
          </a:xfrm>
        </p:spPr>
        <p:txBody>
          <a:bodyPr/>
          <a:lstStyle/>
          <a:p>
            <a:pPr algn="l" rtl="0"/>
            <a:r>
              <a:rPr lang="en-US" dirty="0" err="1"/>
              <a:t>Standardscaler</a:t>
            </a:r>
            <a:endParaRPr lang="en-US" dirty="0"/>
          </a:p>
          <a:p>
            <a:pPr lvl="1" algn="l" rtl="0"/>
            <a:r>
              <a:rPr lang="en-US" dirty="0" err="1"/>
              <a:t>scaler.mean</a:t>
            </a:r>
            <a:r>
              <a:rPr lang="en-US" dirty="0"/>
              <a:t>_	- Mean</a:t>
            </a:r>
          </a:p>
          <a:p>
            <a:pPr lvl="1" algn="l" rtl="0"/>
            <a:r>
              <a:rPr lang="en-US" dirty="0" err="1"/>
              <a:t>scaler.scale</a:t>
            </a:r>
            <a:r>
              <a:rPr lang="en-US" dirty="0"/>
              <a:t>_ 	- Std</a:t>
            </a:r>
          </a:p>
          <a:p>
            <a:pPr algn="l" rtl="0"/>
            <a:r>
              <a:rPr lang="en-US" dirty="0" err="1"/>
              <a:t>MinMax</a:t>
            </a:r>
            <a:r>
              <a:rPr lang="en-US" dirty="0"/>
              <a:t> Scaler</a:t>
            </a:r>
          </a:p>
          <a:p>
            <a:pPr lvl="1" algn="l" rtl="0"/>
            <a:r>
              <a:rPr lang="en-US" dirty="0" err="1"/>
              <a:t>scaler.data_min</a:t>
            </a:r>
            <a:r>
              <a:rPr lang="en-US" dirty="0"/>
              <a:t>_	- Min</a:t>
            </a:r>
          </a:p>
          <a:p>
            <a:pPr lvl="1" algn="l" rtl="0"/>
            <a:r>
              <a:rPr lang="en-US" dirty="0" err="1"/>
              <a:t>scaler.data_max</a:t>
            </a:r>
            <a:r>
              <a:rPr lang="en-US" dirty="0"/>
              <a:t>_	- Max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טקסט 2">
            <a:extLst>
              <a:ext uri="{FF2B5EF4-FFF2-40B4-BE49-F238E27FC236}">
                <a16:creationId xmlns:a16="http://schemas.microsoft.com/office/drawing/2014/main" id="{F1CB0BC9-DB62-0038-9E14-375C03C0C83E}"/>
              </a:ext>
            </a:extLst>
          </p:cNvPr>
          <p:cNvSpPr txBox="1">
            <a:spLocks/>
          </p:cNvSpPr>
          <p:nvPr/>
        </p:nvSpPr>
        <p:spPr>
          <a:xfrm>
            <a:off x="5480305" y="2556932"/>
            <a:ext cx="3569207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0045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60044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60044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60045" algn="r" rt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algn="l" rtl="0"/>
            <a:r>
              <a:rPr lang="en-US" dirty="0" err="1"/>
              <a:t>RobustScaler</a:t>
            </a:r>
            <a:endParaRPr lang="en-US" dirty="0"/>
          </a:p>
          <a:p>
            <a:pPr lvl="1" algn="l" rtl="0"/>
            <a:r>
              <a:rPr lang="en-US" dirty="0" err="1"/>
              <a:t>scaler.center</a:t>
            </a:r>
            <a:r>
              <a:rPr lang="en-US" dirty="0"/>
              <a:t>_ - Median</a:t>
            </a:r>
          </a:p>
          <a:p>
            <a:pPr lvl="1" algn="l" rtl="0"/>
            <a:r>
              <a:rPr lang="en-US" dirty="0" err="1"/>
              <a:t>scaler.scale</a:t>
            </a:r>
            <a:r>
              <a:rPr lang="en-US" dirty="0"/>
              <a:t>_ - IQR</a:t>
            </a:r>
          </a:p>
        </p:txBody>
      </p:sp>
    </p:spTree>
    <p:extLst>
      <p:ext uri="{BB962C8B-B14F-4D97-AF65-F5344CB8AC3E}">
        <p14:creationId xmlns:p14="http://schemas.microsoft.com/office/powerpoint/2010/main" val="3758675191"/>
      </p:ext>
    </p:extLst>
  </p:cSld>
  <p:clrMapOvr>
    <a:masterClrMapping/>
  </p:clrMapOvr>
</p:sld>
</file>

<file path=ppt/theme/theme1.xml><?xml version="1.0" encoding="utf-8"?>
<a:theme xmlns:a="http://schemas.openxmlformats.org/drawingml/2006/main" name="אורגני">
  <a:themeElements>
    <a:clrScheme name="אורגני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506</Words>
  <Application>Microsoft Office PowerPoint</Application>
  <PresentationFormat>מסך רחב</PresentationFormat>
  <Paragraphs>123</Paragraphs>
  <Slides>14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Garamond</vt:lpstr>
      <vt:lpstr>אורגני</vt:lpstr>
      <vt:lpstr>פרק 2 - בסיס סטטיסטי  2.3 תקנון ונרמול</vt:lpstr>
      <vt:lpstr>מוטיבציה לתקנון ונרמול</vt:lpstr>
      <vt:lpstr>Standard scaler - תקנון</vt:lpstr>
      <vt:lpstr> - Min Max Scalerנרמול</vt:lpstr>
      <vt:lpstr> - Robust Scalerתקנון</vt:lpstr>
      <vt:lpstr> - Robust Scalerתקנון</vt:lpstr>
      <vt:lpstr> - Normalizer scalerנרמול וקטורי</vt:lpstr>
      <vt:lpstr>Normalizer scaler, 2d example</vt:lpstr>
      <vt:lpstr>Normal scaler, 3d example</vt:lpstr>
      <vt:lpstr>סיכום</vt:lpstr>
      <vt:lpstr>סיכום רגישות לחריגים outliers</vt:lpstr>
      <vt:lpstr>המרות תחום: פעולת fit ופעולת transform</vt:lpstr>
      <vt:lpstr>שימוש בפייתון</vt:lpstr>
      <vt:lpstr>שימוש בפייתון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פרק 2 - בסיס סטטיסטי  2.1 מדדי מרכוז ופיזור</dc:title>
  <dc:creator>אריאל בר-יצחק</dc:creator>
  <cp:lastModifiedBy>אריאל בר-יצחק</cp:lastModifiedBy>
  <cp:revision>67</cp:revision>
  <dcterms:created xsi:type="dcterms:W3CDTF">2025-12-21T13:18:15Z</dcterms:created>
  <dcterms:modified xsi:type="dcterms:W3CDTF">2026-05-31T13:33:34Z</dcterms:modified>
</cp:coreProperties>
</file>