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602" r:id="rId3"/>
    <p:sldId id="578" r:id="rId4"/>
    <p:sldId id="588" r:id="rId5"/>
    <p:sldId id="609" r:id="rId6"/>
    <p:sldId id="603" r:id="rId7"/>
    <p:sldId id="606" r:id="rId8"/>
    <p:sldId id="607" r:id="rId9"/>
    <p:sldId id="604" r:id="rId10"/>
    <p:sldId id="610" r:id="rId11"/>
    <p:sldId id="605" r:id="rId12"/>
    <p:sldId id="289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1" roundtripDataSignature="AMtx7mhiaHRW9scVpVHOt7LlZiKDVEm5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778E25D-6658-4D9B-876C-8C97E927BF0F}">
  <a:tblStyle styleId="{1778E25D-6658-4D9B-876C-8C97E927BF0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7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4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 Slide">
  <p:cSld name="14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1107"/>
            <a:ext cx="12177238" cy="685578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3"/>
          <p:cNvSpPr txBox="1"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  <a:defRPr sz="4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3"/>
          <p:cNvSpPr txBox="1">
            <a:spLocks noGrp="1"/>
          </p:cNvSpPr>
          <p:nvPr>
            <p:ph type="body" idx="1"/>
          </p:nvPr>
        </p:nvSpPr>
        <p:spPr>
          <a:xfrm>
            <a:off x="3848100" y="3424238"/>
            <a:ext cx="75247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  <a:defRPr sz="3600">
                <a:solidFill>
                  <a:srgbClr val="D79E0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3"/>
          <p:cNvSpPr txBox="1">
            <a:spLocks noGrp="1"/>
          </p:cNvSpPr>
          <p:nvPr>
            <p:ph type="ftr" idx="11"/>
          </p:nvPr>
        </p:nvSpPr>
        <p:spPr>
          <a:xfrm>
            <a:off x="3798876" y="6043367"/>
            <a:ext cx="7894974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3"/>
          <p:cNvSpPr txBox="1">
            <a:spLocks noGrp="1"/>
          </p:cNvSpPr>
          <p:nvPr>
            <p:ph type="dt" idx="10"/>
          </p:nvPr>
        </p:nvSpPr>
        <p:spPr>
          <a:xfrm>
            <a:off x="578392" y="6043367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>
                <a:solidFill>
                  <a:srgbClr val="D79E0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3"/>
          <p:cNvSpPr txBox="1"/>
          <p:nvPr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כותרת ותוכן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6"/>
          <p:cNvSpPr txBox="1"/>
          <p:nvPr/>
        </p:nvSpPr>
        <p:spPr>
          <a:xfrm>
            <a:off x="4846619" y="6579645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6"/>
          <p:cNvSpPr txBox="1">
            <a:spLocks noGrp="1"/>
          </p:cNvSpPr>
          <p:nvPr>
            <p:ph type="title"/>
          </p:nvPr>
        </p:nvSpPr>
        <p:spPr>
          <a:xfrm>
            <a:off x="232229" y="355224"/>
            <a:ext cx="1156300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36"/>
          <p:cNvSpPr txBox="1">
            <a:spLocks noGrp="1"/>
          </p:cNvSpPr>
          <p:nvPr>
            <p:ph type="body" idx="1"/>
          </p:nvPr>
        </p:nvSpPr>
        <p:spPr>
          <a:xfrm>
            <a:off x="224346" y="1842899"/>
            <a:ext cx="1156300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0" name="Google Shape;40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1">
              <a:spcBef>
                <a:spcPts val="0"/>
              </a:spcBef>
              <a:buNone/>
              <a:defRPr/>
            </a:lvl1pPr>
            <a:lvl2pPr marL="0" lvl="1" indent="0" algn="l" rtl="1">
              <a:spcBef>
                <a:spcPts val="0"/>
              </a:spcBef>
              <a:buNone/>
              <a:defRPr/>
            </a:lvl2pPr>
            <a:lvl3pPr marL="0" lvl="2" indent="0" algn="l" rtl="1">
              <a:spcBef>
                <a:spcPts val="0"/>
              </a:spcBef>
              <a:buNone/>
              <a:defRPr/>
            </a:lvl3pPr>
            <a:lvl4pPr marL="0" lvl="3" indent="0" algn="l" rtl="1">
              <a:spcBef>
                <a:spcPts val="0"/>
              </a:spcBef>
              <a:buNone/>
              <a:defRPr/>
            </a:lvl4pPr>
            <a:lvl5pPr marL="0" lvl="4" indent="0" algn="l" rtl="1">
              <a:spcBef>
                <a:spcPts val="0"/>
              </a:spcBef>
              <a:buNone/>
              <a:defRPr/>
            </a:lvl5pPr>
            <a:lvl6pPr marL="0" lvl="5" indent="0" algn="l" rtl="1">
              <a:spcBef>
                <a:spcPts val="0"/>
              </a:spcBef>
              <a:buNone/>
              <a:defRPr/>
            </a:lvl6pPr>
            <a:lvl7pPr marL="0" lvl="6" indent="0" algn="l" rtl="1">
              <a:spcBef>
                <a:spcPts val="0"/>
              </a:spcBef>
              <a:buNone/>
              <a:defRPr/>
            </a:lvl7pPr>
            <a:lvl8pPr marL="0" lvl="7" indent="0" algn="l" rtl="1">
              <a:spcBef>
                <a:spcPts val="0"/>
              </a:spcBef>
              <a:buNone/>
              <a:defRPr/>
            </a:lvl8pPr>
            <a:lvl9pPr marL="0" lvl="8" indent="0" algn="l" rtl="1">
              <a:spcBef>
                <a:spcPts val="0"/>
              </a:spcBef>
              <a:buNone/>
              <a:defRPr/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59F0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kaggle.com/burhanykiyakoglu/predicting-house-price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image" Target="../media/image7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lab.research.google.com/drive/11WMas5i_TzV2Y-NRvoy8wMFG0eTnU1s3?usp=sharing" TargetMode="External"/><Relationship Id="rId5" Type="http://schemas.openxmlformats.org/officeDocument/2006/relationships/image" Target="../media/image100.png"/><Relationship Id="rId4" Type="http://schemas.openxmlformats.org/officeDocument/2006/relationships/image" Target="../media/image8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he-IL" dirty="0"/>
              <a:t>למידה עמוקה</a:t>
            </a:r>
            <a:endParaRPr dirty="0"/>
          </a:p>
        </p:txBody>
      </p:sp>
      <p:sp>
        <p:nvSpPr>
          <p:cNvPr id="83" name="Google Shape;83;p1"/>
          <p:cNvSpPr txBox="1">
            <a:spLocks noGrp="1"/>
          </p:cNvSpPr>
          <p:nvPr>
            <p:ph type="body" idx="1"/>
          </p:nvPr>
        </p:nvSpPr>
        <p:spPr>
          <a:xfrm>
            <a:off x="3829050" y="3864505"/>
            <a:ext cx="75247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he-IL"/>
              <a:t>רגרסיה לינארית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4F7C4-A11C-476A-A7A3-7EA49BCCC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תוכן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7475DF-2AB5-4808-9073-0782D7833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מבוא לרגרסיה</a:t>
            </a:r>
          </a:p>
          <a:p>
            <a:r>
              <a:rPr lang="he-IL" dirty="0"/>
              <a:t>רגרסיה </a:t>
            </a:r>
            <a:r>
              <a:rPr lang="he-IL"/>
              <a:t>לינארית מאפיין אחד</a:t>
            </a:r>
          </a:p>
          <a:p>
            <a:r>
              <a:rPr lang="he-IL"/>
              <a:t>רגרסיה לינארית שני מאפיינים</a:t>
            </a:r>
          </a:p>
          <a:p>
            <a:r>
              <a:rPr lang="he-IL"/>
              <a:t>רגרסיה לינארית מאפיינים רבים</a:t>
            </a:r>
            <a:endParaRPr lang="en-IL"/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58171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63B0F81-6F8A-43B8-8BF5-158E1D05E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רגרסיה: חיזוי משתנה רציף </a:t>
            </a:r>
            <a:endParaRPr lang="en-IL" dirty="0"/>
          </a:p>
        </p:txBody>
      </p:sp>
      <p:sp>
        <p:nvSpPr>
          <p:cNvPr id="120" name="תרשים זרימה: צומת מסכם 119">
            <a:extLst>
              <a:ext uri="{FF2B5EF4-FFF2-40B4-BE49-F238E27FC236}">
                <a16:creationId xmlns:a16="http://schemas.microsoft.com/office/drawing/2014/main" id="{F33A3C54-C6F0-4A31-B5B1-6822F740A895}"/>
              </a:ext>
            </a:extLst>
          </p:cNvPr>
          <p:cNvSpPr/>
          <p:nvPr/>
        </p:nvSpPr>
        <p:spPr>
          <a:xfrm>
            <a:off x="9925526" y="4539318"/>
            <a:ext cx="1364248" cy="913144"/>
          </a:xfrm>
          <a:prstGeom prst="flowChartSummingJunctio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121" name="מגילה: אופקית 120">
            <a:extLst>
              <a:ext uri="{FF2B5EF4-FFF2-40B4-BE49-F238E27FC236}">
                <a16:creationId xmlns:a16="http://schemas.microsoft.com/office/drawing/2014/main" id="{017000E9-5353-43B2-A6D2-39CD9CED9896}"/>
              </a:ext>
            </a:extLst>
          </p:cNvPr>
          <p:cNvSpPr/>
          <p:nvPr/>
        </p:nvSpPr>
        <p:spPr>
          <a:xfrm>
            <a:off x="10013604" y="2352350"/>
            <a:ext cx="1840089" cy="1331248"/>
          </a:xfrm>
          <a:prstGeom prst="horizontalScroll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אימון</a:t>
            </a:r>
            <a:endParaRPr lang="en-IL" dirty="0"/>
          </a:p>
        </p:txBody>
      </p:sp>
      <p:sp>
        <p:nvSpPr>
          <p:cNvPr id="122" name="חץ: ימינה 121">
            <a:extLst>
              <a:ext uri="{FF2B5EF4-FFF2-40B4-BE49-F238E27FC236}">
                <a16:creationId xmlns:a16="http://schemas.microsoft.com/office/drawing/2014/main" id="{7F877484-8BEA-492F-B83B-B8758DE67D0E}"/>
              </a:ext>
            </a:extLst>
          </p:cNvPr>
          <p:cNvSpPr/>
          <p:nvPr/>
        </p:nvSpPr>
        <p:spPr>
          <a:xfrm>
            <a:off x="9460462" y="1583367"/>
            <a:ext cx="553142" cy="2975528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vert" rtlCol="0" anchor="ctr"/>
          <a:lstStyle/>
          <a:p>
            <a:pPr algn="ctr"/>
            <a:r>
              <a:rPr lang="he-IL" dirty="0"/>
              <a:t>דוגמאות</a:t>
            </a:r>
            <a:endParaRPr lang="en-IL" dirty="0"/>
          </a:p>
        </p:txBody>
      </p:sp>
      <p:sp>
        <p:nvSpPr>
          <p:cNvPr id="123" name="חץ: ימינה 122">
            <a:extLst>
              <a:ext uri="{FF2B5EF4-FFF2-40B4-BE49-F238E27FC236}">
                <a16:creationId xmlns:a16="http://schemas.microsoft.com/office/drawing/2014/main" id="{18A383B8-4876-4C92-8F72-2E7F2BCEFF59}"/>
              </a:ext>
            </a:extLst>
          </p:cNvPr>
          <p:cNvSpPr/>
          <p:nvPr/>
        </p:nvSpPr>
        <p:spPr>
          <a:xfrm rot="5400000">
            <a:off x="10416540" y="3870958"/>
            <a:ext cx="1140178" cy="465105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מודל</a:t>
            </a:r>
            <a:endParaRPr lang="en-IL" dirty="0"/>
          </a:p>
        </p:txBody>
      </p:sp>
      <p:sp>
        <p:nvSpPr>
          <p:cNvPr id="125" name="מלבן: פינות מעוגלות 124">
            <a:extLst>
              <a:ext uri="{FF2B5EF4-FFF2-40B4-BE49-F238E27FC236}">
                <a16:creationId xmlns:a16="http://schemas.microsoft.com/office/drawing/2014/main" id="{4E306902-0E1F-4061-9313-44C75354E45E}"/>
              </a:ext>
            </a:extLst>
          </p:cNvPr>
          <p:cNvSpPr/>
          <p:nvPr/>
        </p:nvSpPr>
        <p:spPr>
          <a:xfrm>
            <a:off x="9682068" y="5918784"/>
            <a:ext cx="2103092" cy="340519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he-IL" dirty="0"/>
              <a:t>חיזוי מחיר בית לא ידוע</a:t>
            </a:r>
            <a:endParaRPr lang="en-IL" dirty="0"/>
          </a:p>
        </p:txBody>
      </p:sp>
      <p:sp>
        <p:nvSpPr>
          <p:cNvPr id="126" name="חץ: ימינה 125">
            <a:extLst>
              <a:ext uri="{FF2B5EF4-FFF2-40B4-BE49-F238E27FC236}">
                <a16:creationId xmlns:a16="http://schemas.microsoft.com/office/drawing/2014/main" id="{E493A68B-5035-4F28-B13A-3B9E63A3F9D3}"/>
              </a:ext>
            </a:extLst>
          </p:cNvPr>
          <p:cNvSpPr/>
          <p:nvPr/>
        </p:nvSpPr>
        <p:spPr>
          <a:xfrm>
            <a:off x="9015057" y="4893311"/>
            <a:ext cx="937015" cy="271365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L">
              <a:solidFill>
                <a:schemeClr val="dk1"/>
              </a:solidFill>
            </a:endParaRPr>
          </a:p>
        </p:txBody>
      </p:sp>
      <p:sp>
        <p:nvSpPr>
          <p:cNvPr id="127" name="חץ: למטה 126">
            <a:extLst>
              <a:ext uri="{FF2B5EF4-FFF2-40B4-BE49-F238E27FC236}">
                <a16:creationId xmlns:a16="http://schemas.microsoft.com/office/drawing/2014/main" id="{75C38536-73B5-45C2-AD3E-780E364B4556}"/>
              </a:ext>
            </a:extLst>
          </p:cNvPr>
          <p:cNvSpPr/>
          <p:nvPr/>
        </p:nvSpPr>
        <p:spPr>
          <a:xfrm>
            <a:off x="10515445" y="5475111"/>
            <a:ext cx="238631" cy="406826"/>
          </a:xfrm>
          <a:prstGeom prst="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L">
              <a:solidFill>
                <a:schemeClr val="dk1"/>
              </a:solidFill>
            </a:endParaRPr>
          </a:p>
        </p:txBody>
      </p:sp>
      <p:sp>
        <p:nvSpPr>
          <p:cNvPr id="128" name="מלבן 127">
            <a:extLst>
              <a:ext uri="{FF2B5EF4-FFF2-40B4-BE49-F238E27FC236}">
                <a16:creationId xmlns:a16="http://schemas.microsoft.com/office/drawing/2014/main" id="{B252FBCF-6922-4035-AA4C-603508F602B8}"/>
              </a:ext>
            </a:extLst>
          </p:cNvPr>
          <p:cNvSpPr/>
          <p:nvPr/>
        </p:nvSpPr>
        <p:spPr>
          <a:xfrm>
            <a:off x="1958672" y="5967394"/>
            <a:ext cx="37309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https://www.kaggle.com/burhanykiyakoglu/predicting-house-prices</a:t>
            </a:r>
            <a:endParaRPr lang="en-IL" dirty="0"/>
          </a:p>
        </p:txBody>
      </p:sp>
      <p:pic>
        <p:nvPicPr>
          <p:cNvPr id="129" name="תמונה 128">
            <a:extLst>
              <a:ext uri="{FF2B5EF4-FFF2-40B4-BE49-F238E27FC236}">
                <a16:creationId xmlns:a16="http://schemas.microsoft.com/office/drawing/2014/main" id="{40B403B9-E93B-4505-9798-5ABA4C28D5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5083"/>
          <a:stretch/>
        </p:blipFill>
        <p:spPr>
          <a:xfrm>
            <a:off x="462847" y="2352350"/>
            <a:ext cx="8125959" cy="1181071"/>
          </a:xfrm>
          <a:prstGeom prst="rect">
            <a:avLst/>
          </a:prstGeom>
        </p:spPr>
      </p:pic>
      <p:pic>
        <p:nvPicPr>
          <p:cNvPr id="130" name="תמונה 129">
            <a:extLst>
              <a:ext uri="{FF2B5EF4-FFF2-40B4-BE49-F238E27FC236}">
                <a16:creationId xmlns:a16="http://schemas.microsoft.com/office/drawing/2014/main" id="{03FDE5B3-D703-4572-9159-9CF37D8C356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" r="-112" b="12162"/>
          <a:stretch/>
        </p:blipFill>
        <p:spPr>
          <a:xfrm>
            <a:off x="8748370" y="2336842"/>
            <a:ext cx="553142" cy="1196580"/>
          </a:xfrm>
          <a:prstGeom prst="rect">
            <a:avLst/>
          </a:prstGeom>
        </p:spPr>
      </p:pic>
      <p:pic>
        <p:nvPicPr>
          <p:cNvPr id="131" name="תמונה 130">
            <a:extLst>
              <a:ext uri="{FF2B5EF4-FFF2-40B4-BE49-F238E27FC236}">
                <a16:creationId xmlns:a16="http://schemas.microsoft.com/office/drawing/2014/main" id="{052649DE-50DF-41A6-A397-CD0E740DB0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489"/>
          <a:stretch/>
        </p:blipFill>
        <p:spPr>
          <a:xfrm>
            <a:off x="637872" y="4893310"/>
            <a:ext cx="8125959" cy="271365"/>
          </a:xfrm>
          <a:prstGeom prst="rect">
            <a:avLst/>
          </a:prstGeom>
        </p:spPr>
      </p:pic>
      <p:sp>
        <p:nvSpPr>
          <p:cNvPr id="132" name="מלבן: פינות מעוגלות 131">
            <a:extLst>
              <a:ext uri="{FF2B5EF4-FFF2-40B4-BE49-F238E27FC236}">
                <a16:creationId xmlns:a16="http://schemas.microsoft.com/office/drawing/2014/main" id="{DD5EE0AA-D3F1-4596-8EB3-CDB476ED69C4}"/>
              </a:ext>
            </a:extLst>
          </p:cNvPr>
          <p:cNvSpPr/>
          <p:nvPr/>
        </p:nvSpPr>
        <p:spPr>
          <a:xfrm>
            <a:off x="3426228" y="1590074"/>
            <a:ext cx="1723103" cy="40134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מאפיינים</a:t>
            </a:r>
            <a:endParaRPr lang="en-IL" dirty="0"/>
          </a:p>
        </p:txBody>
      </p:sp>
      <p:sp>
        <p:nvSpPr>
          <p:cNvPr id="133" name="מלבן: פינות מעוגלות 132">
            <a:extLst>
              <a:ext uri="{FF2B5EF4-FFF2-40B4-BE49-F238E27FC236}">
                <a16:creationId xmlns:a16="http://schemas.microsoft.com/office/drawing/2014/main" id="{050C25AA-015F-4C28-BC81-D7339910F97F}"/>
              </a:ext>
            </a:extLst>
          </p:cNvPr>
          <p:cNvSpPr/>
          <p:nvPr/>
        </p:nvSpPr>
        <p:spPr>
          <a:xfrm>
            <a:off x="8510332" y="1590074"/>
            <a:ext cx="870655" cy="40134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מטרה</a:t>
            </a:r>
            <a:endParaRPr lang="en-I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288C12-B688-8AE9-F60A-D87D5B782C0E}"/>
              </a:ext>
            </a:extLst>
          </p:cNvPr>
          <p:cNvSpPr txBox="1"/>
          <p:nvPr/>
        </p:nvSpPr>
        <p:spPr>
          <a:xfrm>
            <a:off x="3205512" y="382898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2800" dirty="0"/>
              <a:t>חיזוי מחיר בית</a:t>
            </a:r>
            <a:endParaRPr lang="en-IL" sz="2800" dirty="0"/>
          </a:p>
        </p:txBody>
      </p:sp>
    </p:spTree>
    <p:extLst>
      <p:ext uri="{BB962C8B-B14F-4D97-AF65-F5344CB8AC3E}">
        <p14:creationId xmlns:p14="http://schemas.microsoft.com/office/powerpoint/2010/main" val="75463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 animBg="1"/>
      <p:bldP spid="122" grpId="0" animBg="1"/>
      <p:bldP spid="1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5C4C1E3-1FB3-4BF5-B1D7-370CC58B0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רגרסיה </a:t>
            </a:r>
            <a:r>
              <a:rPr lang="he-IL"/>
              <a:t>לינארית מאפיין בודד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AF9834BA-F57C-4766-8332-28559D7D42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3400" y="1482179"/>
                <a:ext cx="10820400" cy="4351338"/>
              </a:xfrm>
            </p:spPr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he-IL">
                    <a:solidFill>
                      <a:schemeClr val="tx1"/>
                    </a:solidFill>
                  </a:rPr>
                  <a:t>לדוגמא חיזוי ערך דירה עם מאפיין אחד:</a:t>
                </a:r>
                <a:endParaRPr lang="he-IL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he-IL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𝑜𝑢𝑠𝑒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𝑝𝑟𝑖𝑐𝑒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𝑏𝑒𝑑𝑟𝑜𝑜𝑚𝑠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AF9834BA-F57C-4766-8332-28559D7D42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3400" y="1482179"/>
                <a:ext cx="10820400" cy="4351338"/>
              </a:xfrm>
              <a:blipFill>
                <a:blip r:embed="rId2"/>
                <a:stretch>
                  <a:fillRect r="-112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9720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44043-FF59-0473-5546-E7B235547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60B51B4-509D-1BD1-ED2A-0306F1EB3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רגרסיה </a:t>
            </a:r>
            <a:r>
              <a:rPr lang="he-IL"/>
              <a:t>לינארית מאפיין בודד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7613D588-2D1E-FDC7-FFC0-6D28C5ADA4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3400" y="1482179"/>
                <a:ext cx="10820400" cy="4351338"/>
              </a:xfrm>
            </p:spPr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he-IL">
                    <a:solidFill>
                      <a:schemeClr val="tx1"/>
                    </a:solidFill>
                  </a:rPr>
                  <a:t>נקבל את קו הרגסיה במרחב דו ממדי:</a:t>
                </a:r>
                <a:endParaRPr lang="he-IL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7613D588-2D1E-FDC7-FFC0-6D28C5ADA4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3400" y="1482179"/>
                <a:ext cx="10820400" cy="4351338"/>
              </a:xfrm>
              <a:blipFill>
                <a:blip r:embed="rId2"/>
                <a:stretch>
                  <a:fillRect r="-112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תמונה 4">
            <a:extLst>
              <a:ext uri="{FF2B5EF4-FFF2-40B4-BE49-F238E27FC236}">
                <a16:creationId xmlns:a16="http://schemas.microsoft.com/office/drawing/2014/main" id="{FC64905D-8D34-80B8-D424-B70752E06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1511" y="3337188"/>
            <a:ext cx="3130909" cy="2316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007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8F776-9FD3-4CE5-81D9-A495F0231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תרגיל 1 – חיזוי על ידי רגרסיה לינארית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9A2BC-2127-40F6-BA3E-CE82FB9A0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72150" y="1842900"/>
            <a:ext cx="6015202" cy="1645368"/>
          </a:xfrm>
        </p:spPr>
        <p:txBody>
          <a:bodyPr>
            <a:normAutofit fontScale="62500" lnSpcReduction="20000"/>
          </a:bodyPr>
          <a:lstStyle/>
          <a:p>
            <a:r>
              <a:rPr lang="he-IL" dirty="0"/>
              <a:t>ברגרסיה לינארית לחיזוי רוחב עלה של אירוס על בסיס אורכו נמצאו הפרמטרים הבאים:</a:t>
            </a:r>
          </a:p>
          <a:p>
            <a:r>
              <a:rPr lang="en-US" dirty="0"/>
              <a:t>w=0.416</a:t>
            </a:r>
          </a:p>
          <a:p>
            <a:r>
              <a:rPr lang="en-US" dirty="0"/>
              <a:t>b=-0.366</a:t>
            </a:r>
          </a:p>
          <a:p>
            <a:r>
              <a:rPr lang="he-IL" dirty="0"/>
              <a:t>מה יהיה חיזוי רוחב העלה עבור הפרחים הבאים:</a:t>
            </a:r>
          </a:p>
          <a:p>
            <a:endParaRPr lang="he-IL" dirty="0"/>
          </a:p>
          <a:p>
            <a:endParaRPr lang="en-IL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0E982A1-C182-4BA1-9287-60A482264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71498"/>
            <a:ext cx="5339840" cy="362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1E15357-3DBF-47BF-9267-6232F19BAF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622470"/>
              </p:ext>
            </p:extLst>
          </p:nvPr>
        </p:nvGraphicFramePr>
        <p:xfrm>
          <a:off x="5670550" y="3488268"/>
          <a:ext cx="5854700" cy="2225040"/>
        </p:xfrm>
        <a:graphic>
          <a:graphicData uri="http://schemas.openxmlformats.org/drawingml/2006/table">
            <a:tbl>
              <a:tblPr firstRow="1" bandRow="1">
                <a:tableStyleId>{1778E25D-6658-4D9B-876C-8C97E927BF0F}</a:tableStyleId>
              </a:tblPr>
              <a:tblGrid>
                <a:gridCol w="2927350">
                  <a:extLst>
                    <a:ext uri="{9D8B030D-6E8A-4147-A177-3AD203B41FA5}">
                      <a16:colId xmlns:a16="http://schemas.microsoft.com/office/drawing/2014/main" val="2438706035"/>
                    </a:ext>
                  </a:extLst>
                </a:gridCol>
                <a:gridCol w="2927350">
                  <a:extLst>
                    <a:ext uri="{9D8B030D-6E8A-4147-A177-3AD203B41FA5}">
                      <a16:colId xmlns:a16="http://schemas.microsoft.com/office/drawing/2014/main" val="32487761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Petal length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Petal width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6518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1.5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609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2.5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349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6.5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367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875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0608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7983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D0666-37F5-E8FD-5359-5FC2C2D62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35166C4-2677-481C-A1A3-6CA667B0D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רגרסיה </a:t>
            </a:r>
            <a:r>
              <a:rPr lang="he-IL"/>
              <a:t>לינארית שני מאפיינים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5782F2ED-F340-CDF0-342D-617BE3BDB7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3400" y="1482179"/>
                <a:ext cx="10820400" cy="4351338"/>
              </a:xfrm>
            </p:spPr>
            <p:txBody>
              <a:bodyPr/>
              <a:lstStyle/>
              <a:p>
                <a:pPr marL="0" indent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he-IL" dirty="0">
                    <a:solidFill>
                      <a:schemeClr val="tx1"/>
                    </a:solidFill>
                  </a:rPr>
                  <a:t>לדוגמא חיזוי ערך דירה עם </a:t>
                </a:r>
                <a:r>
                  <a:rPr lang="he-IL">
                    <a:solidFill>
                      <a:schemeClr val="tx1"/>
                    </a:solidFill>
                  </a:rPr>
                  <a:t>2 מאפיינים:</a:t>
                </a:r>
                <a:endParaRPr lang="he-IL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he-IL" dirty="0">
                  <a:solidFill>
                    <a:schemeClr val="tx1"/>
                  </a:solidFill>
                </a:endParaRPr>
              </a:p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𝑜𝑢𝑠𝑒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𝑝𝑟𝑖𝑐𝑒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𝑏𝑒𝑑𝑟𝑜𝑜𝑚𝑠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𝑏𝑎𝑡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𝑟𝑜𝑜𝑚𝑠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5782F2ED-F340-CDF0-342D-617BE3BDB7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3400" y="1482179"/>
                <a:ext cx="10820400" cy="4351338"/>
              </a:xfrm>
              <a:blipFill>
                <a:blip r:embed="rId2"/>
                <a:stretch>
                  <a:fillRect r="-112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5784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AD783-5E34-1A6A-8F1C-42AD97323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C1DDA41-58F2-5B5C-79B3-6AA23D472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רגרסיה </a:t>
            </a:r>
            <a:r>
              <a:rPr lang="he-IL"/>
              <a:t>לינארית שני מאפיינים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F97A418A-2725-4CC5-40B1-2217836CF1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3400" y="1482179"/>
                <a:ext cx="10820400" cy="4351338"/>
              </a:xfrm>
            </p:spPr>
            <p:txBody>
              <a:bodyPr/>
              <a:lstStyle/>
              <a:p>
                <a:pPr marL="0" indent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dirty="0">
                  <a:solidFill>
                    <a:schemeClr val="tx1"/>
                  </a:solidFill>
                </a:endParaRPr>
              </a:p>
              <a:p>
                <a:pPr marL="0" indent="0"/>
                <a:endParaRPr lang="he-IL" dirty="0">
                  <a:solidFill>
                    <a:schemeClr val="tx1"/>
                  </a:solidFill>
                </a:endParaRPr>
              </a:p>
              <a:p>
                <a:pPr marL="0" indent="0"/>
                <a:r>
                  <a:rPr lang="he-IL">
                    <a:solidFill>
                      <a:schemeClr val="tx1"/>
                    </a:solidFill>
                  </a:rPr>
                  <a:t>נקבל את מישור הרגסיה במרחב תלת ממדי:</a:t>
                </a:r>
              </a:p>
              <a:p>
                <a:pPr marL="0" indent="0" algn="ctr"/>
                <a:endParaRPr lang="he-IL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F97A418A-2725-4CC5-40B1-2217836CF1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3400" y="1482179"/>
                <a:ext cx="10820400" cy="4351338"/>
              </a:xfrm>
              <a:blipFill>
                <a:blip r:embed="rId2"/>
                <a:stretch>
                  <a:fillRect r="-112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תמונה 4">
            <a:extLst>
              <a:ext uri="{FF2B5EF4-FFF2-40B4-BE49-F238E27FC236}">
                <a16:creationId xmlns:a16="http://schemas.microsoft.com/office/drawing/2014/main" id="{53261BE6-B821-BC29-1F2F-3D2950DA7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1619" y="3050236"/>
            <a:ext cx="3324225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773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5C4C1E3-1FB3-4BF5-B1D7-370CC58B0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רגרסיה </a:t>
            </a:r>
            <a:r>
              <a:rPr lang="he-IL"/>
              <a:t>לינארית מאפיינים רבים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AF9834BA-F57C-4766-8332-28559D7D42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3400" y="1482179"/>
                <a:ext cx="10820400" cy="4351338"/>
              </a:xfrm>
            </p:spPr>
            <p:txBody>
              <a:bodyPr/>
              <a:lstStyle/>
              <a:p>
                <a:pPr marL="0" indent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he-IL" dirty="0">
                    <a:solidFill>
                      <a:schemeClr val="tx1"/>
                    </a:solidFill>
                  </a:rPr>
                  <a:t>לדוגמא חיזוי ערך דירה </a:t>
                </a:r>
                <a:r>
                  <a:rPr lang="he-IL">
                    <a:solidFill>
                      <a:schemeClr val="tx1"/>
                    </a:solidFill>
                  </a:rPr>
                  <a:t>עם </a:t>
                </a:r>
                <a:r>
                  <a:rPr lang="en-US">
                    <a:solidFill>
                      <a:schemeClr val="tx1"/>
                    </a:solidFill>
                  </a:rPr>
                  <a:t>n</a:t>
                </a:r>
                <a:r>
                  <a:rPr lang="he-IL">
                    <a:solidFill>
                      <a:schemeClr val="tx1"/>
                    </a:solidFill>
                  </a:rPr>
                  <a:t> </a:t>
                </a:r>
                <a:r>
                  <a:rPr lang="he-IL" dirty="0">
                    <a:solidFill>
                      <a:schemeClr val="tx1"/>
                    </a:solidFill>
                  </a:rPr>
                  <a:t>משתנים מנבאים:</a:t>
                </a:r>
              </a:p>
              <a:p>
                <a:pPr marL="0" indent="0">
                  <a:buNone/>
                </a:pPr>
                <a:endParaRPr lang="he-IL" dirty="0">
                  <a:solidFill>
                    <a:schemeClr val="tx1"/>
                  </a:solidFill>
                </a:endParaRPr>
              </a:p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𝑜𝑢𝑠𝑒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𝑝𝑟𝑖𝑐𝑒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𝑏𝑒𝑑𝑟𝑜𝑜𝑚𝑠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𝑏𝑎𝑡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𝑟𝑜𝑜𝑚𝑠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</m:oMath>
                  </m:oMathPara>
                </a14:m>
                <a:endParaRPr lang="en-US" b="0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𝑠𝑞𝑓𝑡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AF9834BA-F57C-4766-8332-28559D7D42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3400" y="1482179"/>
                <a:ext cx="10820400" cy="4351338"/>
              </a:xfrm>
              <a:blipFill>
                <a:blip r:embed="rId2"/>
                <a:stretch>
                  <a:fillRect r="-112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853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2F89E-73F2-AE60-9934-701519E01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75B2C87-1C7B-C31E-0CA4-C146ED0A7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רגרסיה </a:t>
            </a:r>
            <a:r>
              <a:rPr lang="he-IL"/>
              <a:t>לינארית מאפיינים רבים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9923506D-7F07-03D3-3472-7471C03F9C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3400" y="1482179"/>
                <a:ext cx="10820400" cy="4351338"/>
              </a:xfrm>
            </p:spPr>
            <p:txBody>
              <a:bodyPr/>
              <a:lstStyle/>
              <a:p>
                <a:pPr marL="0" indent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he-IL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he-IL">
                    <a:solidFill>
                      <a:schemeClr val="tx1"/>
                    </a:solidFill>
                  </a:rPr>
                  <a:t>במקרים אלו המרחב הוא </a:t>
                </a:r>
                <a:r>
                  <a:rPr lang="en-US">
                    <a:solidFill>
                      <a:schemeClr val="tx1"/>
                    </a:solidFill>
                  </a:rPr>
                  <a:t>n+1</a:t>
                </a:r>
                <a:r>
                  <a:rPr lang="he-IL">
                    <a:solidFill>
                      <a:schemeClr val="tx1"/>
                    </a:solidFill>
                  </a:rPr>
                  <a:t> ממדי, ומכאן שלא נוכל לבצע ויזואליציה.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9923506D-7F07-03D3-3472-7471C03F9C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3400" y="1482179"/>
                <a:ext cx="10820400" cy="4351338"/>
              </a:xfrm>
              <a:blipFill>
                <a:blip r:embed="rId2"/>
                <a:stretch>
                  <a:fillRect r="-112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3561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DDA95-79F1-44F1-8546-8670DC968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dirty="0"/>
              <a:t>הערכת ביצועים של רגרסיה לינארית</a:t>
            </a:r>
            <a:br>
              <a:rPr lang="he-IL" dirty="0"/>
            </a:br>
            <a:r>
              <a:rPr lang="he-IL" dirty="0"/>
              <a:t>מדד השונות המוסברת </a:t>
            </a:r>
            <a:r>
              <a:rPr lang="en-US" dirty="0"/>
              <a:t>R</a:t>
            </a:r>
            <a:r>
              <a:rPr lang="en-US" baseline="30000" dirty="0"/>
              <a:t>2</a:t>
            </a:r>
            <a:endParaRPr lang="en-IL" dirty="0"/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3E36033A-22B2-48C2-BD07-58837CEB0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007" y="2035806"/>
            <a:ext cx="5220911" cy="3543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341586A-8AC9-4B21-B8CE-CB4C08B08E72}"/>
              </a:ext>
            </a:extLst>
          </p:cNvPr>
          <p:cNvCxnSpPr>
            <a:cxnSpLocks/>
          </p:cNvCxnSpPr>
          <p:nvPr/>
        </p:nvCxnSpPr>
        <p:spPr>
          <a:xfrm>
            <a:off x="4644040" y="2317220"/>
            <a:ext cx="0" cy="307447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A589375-01A8-4D85-A04B-60924C17A3FA}"/>
              </a:ext>
            </a:extLst>
          </p:cNvPr>
          <p:cNvCxnSpPr>
            <a:cxnSpLocks/>
          </p:cNvCxnSpPr>
          <p:nvPr/>
        </p:nvCxnSpPr>
        <p:spPr>
          <a:xfrm>
            <a:off x="4707616" y="2317220"/>
            <a:ext cx="0" cy="1399647"/>
          </a:xfrm>
          <a:prstGeom prst="straightConnector1">
            <a:avLst/>
          </a:prstGeom>
          <a:ln w="3810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9CBFF5D-F03A-4F55-A2FE-0098276B7D3B}"/>
                  </a:ext>
                </a:extLst>
              </p:cNvPr>
              <p:cNvSpPr txBox="1"/>
              <p:nvPr/>
            </p:nvSpPr>
            <p:spPr>
              <a:xfrm>
                <a:off x="5897227" y="2980270"/>
                <a:ext cx="3370218" cy="7256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𝑆𝑆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sz="2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9CBFF5D-F03A-4F55-A2FE-0098276B7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7227" y="2980270"/>
                <a:ext cx="3370218" cy="725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590D47F-CA9B-40DF-9C61-845796F4B2CF}"/>
                  </a:ext>
                </a:extLst>
              </p:cNvPr>
              <p:cNvSpPr txBox="1"/>
              <p:nvPr/>
            </p:nvSpPr>
            <p:spPr>
              <a:xfrm>
                <a:off x="5833533" y="2058309"/>
                <a:ext cx="3693254" cy="7256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𝑆𝑆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𝑒𝑟𝑟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590D47F-CA9B-40DF-9C61-845796F4B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3533" y="2058309"/>
                <a:ext cx="3693254" cy="7256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9C1ABD8-7812-4D91-BD25-C263C95DF289}"/>
                  </a:ext>
                </a:extLst>
              </p:cNvPr>
              <p:cNvSpPr txBox="1"/>
              <p:nvPr/>
            </p:nvSpPr>
            <p:spPr>
              <a:xfrm>
                <a:off x="5897227" y="3902231"/>
                <a:ext cx="2060756" cy="7562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L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𝑆𝑆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𝑒𝑟𝑟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𝑆𝑆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9C1ABD8-7812-4D91-BD25-C263C95DF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7227" y="3902231"/>
                <a:ext cx="2060756" cy="7562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D0522E3-32A6-2DAA-0A8E-E68C7D0E55D1}"/>
              </a:ext>
            </a:extLst>
          </p:cNvPr>
          <p:cNvSpPr txBox="1"/>
          <p:nvPr/>
        </p:nvSpPr>
        <p:spPr>
          <a:xfrm>
            <a:off x="8199786" y="4521289"/>
            <a:ext cx="381226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/>
              <a:t>היחס בין השונות המוסברת לשונות הכללית</a:t>
            </a:r>
          </a:p>
          <a:p>
            <a:pPr algn="r" rtl="1"/>
            <a:r>
              <a:rPr lang="he-IL"/>
              <a:t>ערכים </a:t>
            </a:r>
            <a:r>
              <a:rPr lang="he-IL" dirty="0"/>
              <a:t>נעים (לרוב) בין 0-1</a:t>
            </a:r>
          </a:p>
          <a:p>
            <a:pPr algn="r" rtl="1"/>
            <a:r>
              <a:rPr lang="he-IL" dirty="0"/>
              <a:t>1: התאמה מלאה</a:t>
            </a:r>
          </a:p>
          <a:p>
            <a:pPr algn="r" rtl="1"/>
            <a:r>
              <a:rPr lang="he-IL" dirty="0"/>
              <a:t>0: אין התאמה</a:t>
            </a:r>
          </a:p>
          <a:p>
            <a:pPr algn="r" rtl="1"/>
            <a:r>
              <a:rPr lang="he-IL" dirty="0"/>
              <a:t>ערכים שליליים: חיזוי יותר גרוע מאשר מדד הממוצע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תיבת טקסט 3">
                <a:extLst>
                  <a:ext uri="{FF2B5EF4-FFF2-40B4-BE49-F238E27FC236}">
                    <a16:creationId xmlns:a16="http://schemas.microsoft.com/office/drawing/2014/main" id="{9E76D8DC-7C55-042D-1DAA-249A5840DF04}"/>
                  </a:ext>
                </a:extLst>
              </p:cNvPr>
              <p:cNvSpPr txBox="1"/>
              <p:nvPr/>
            </p:nvSpPr>
            <p:spPr>
              <a:xfrm>
                <a:off x="7242049" y="6003036"/>
                <a:ext cx="4050792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r" rtl="1"/>
                <a:r>
                  <a:rPr lang="he-IL"/>
                  <a:t>מחברת הדגמה חישוב מדד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he-IL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/>
                  <a:t>   </a:t>
                </a:r>
                <a:r>
                  <a:rPr lang="he-IL">
                    <a:hlinkClick r:id="rId6"/>
                  </a:rPr>
                  <a:t>כאן</a:t>
                </a:r>
                <a:endParaRPr lang="he-IL"/>
              </a:p>
            </p:txBody>
          </p:sp>
        </mc:Choice>
        <mc:Fallback xmlns="">
          <p:sp>
            <p:nvSpPr>
              <p:cNvPr id="4" name="תיבת טקסט 3">
                <a:extLst>
                  <a:ext uri="{FF2B5EF4-FFF2-40B4-BE49-F238E27FC236}">
                    <a16:creationId xmlns:a16="http://schemas.microsoft.com/office/drawing/2014/main" id="{9E76D8DC-7C55-042D-1DAA-249A5840D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049" y="6003036"/>
                <a:ext cx="4050792" cy="307777"/>
              </a:xfrm>
              <a:prstGeom prst="rect">
                <a:avLst/>
              </a:prstGeom>
              <a:blipFill>
                <a:blip r:embed="rId7"/>
                <a:stretch>
                  <a:fillRect t="-4000" r="-301" b="-200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9207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1"/>
          <p:cNvSpPr txBox="1">
            <a:spLocks noGrp="1"/>
          </p:cNvSpPr>
          <p:nvPr>
            <p:ph type="title"/>
          </p:nvPr>
        </p:nvSpPr>
        <p:spPr>
          <a:xfrm>
            <a:off x="3736622" y="2766218"/>
            <a:ext cx="780062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he-IL" dirty="0"/>
              <a:t>שאלות?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ION_Op3_General_Heb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336</Words>
  <Application>Microsoft Office PowerPoint</Application>
  <PresentationFormat>מסך רחב</PresentationFormat>
  <Paragraphs>70</Paragraphs>
  <Slides>12</Slides>
  <Notes>2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 Math</vt:lpstr>
      <vt:lpstr>Tahoma</vt:lpstr>
      <vt:lpstr>TECHNION_Op3_General_Heb</vt:lpstr>
      <vt:lpstr>למידה עמוקה</vt:lpstr>
      <vt:lpstr>תוכן</vt:lpstr>
      <vt:lpstr>רגרסיה: חיזוי משתנה רציף </vt:lpstr>
      <vt:lpstr>רגרסיה לינארית מאפיין בודד</vt:lpstr>
      <vt:lpstr>רגרסיה לינארית מאפיין בודד</vt:lpstr>
      <vt:lpstr>תרגיל 1 – חיזוי על ידי רגרסיה לינארית</vt:lpstr>
      <vt:lpstr>רגרסיה לינארית שני מאפיינים</vt:lpstr>
      <vt:lpstr>רגרסיה לינארית שני מאפיינים</vt:lpstr>
      <vt:lpstr>רגרסיה לינארית מאפיינים רבים</vt:lpstr>
      <vt:lpstr>רגרסיה לינארית מאפיינים רבים</vt:lpstr>
      <vt:lpstr>הערכת ביצועים של רגרסיה לינארית מדד השונות המוסברת R2</vt:lpstr>
      <vt:lpstr>שאלות?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השתלמות ניתוח נתונים ולמידת מכונה</dc:title>
  <dc:creator>Jacob Mike</dc:creator>
  <cp:lastModifiedBy>אריאל בר-יצחק</cp:lastModifiedBy>
  <cp:revision>41</cp:revision>
  <dcterms:created xsi:type="dcterms:W3CDTF">2019-03-02T07:56:19Z</dcterms:created>
  <dcterms:modified xsi:type="dcterms:W3CDTF">2025-11-29T07:39:07Z</dcterms:modified>
</cp:coreProperties>
</file>