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585" r:id="rId2"/>
    <p:sldId id="584" r:id="rId3"/>
    <p:sldId id="586" r:id="rId4"/>
    <p:sldId id="577" r:id="rId5"/>
    <p:sldId id="578" r:id="rId6"/>
    <p:sldId id="594" r:id="rId7"/>
    <p:sldId id="595" r:id="rId8"/>
    <p:sldId id="596" r:id="rId9"/>
    <p:sldId id="597" r:id="rId10"/>
    <p:sldId id="571" r:id="rId11"/>
    <p:sldId id="572" r:id="rId12"/>
    <p:sldId id="587" r:id="rId13"/>
    <p:sldId id="574" r:id="rId14"/>
    <p:sldId id="293" r:id="rId15"/>
    <p:sldId id="260" r:id="rId16"/>
    <p:sldId id="262" r:id="rId17"/>
    <p:sldId id="335" r:id="rId18"/>
    <p:sldId id="261" r:id="rId19"/>
    <p:sldId id="601" r:id="rId20"/>
    <p:sldId id="599" r:id="rId21"/>
    <p:sldId id="263" r:id="rId22"/>
    <p:sldId id="573" r:id="rId23"/>
    <p:sldId id="575" r:id="rId24"/>
    <p:sldId id="580" r:id="rId25"/>
    <p:sldId id="579" r:id="rId26"/>
    <p:sldId id="582" r:id="rId27"/>
    <p:sldId id="581" r:id="rId28"/>
    <p:sldId id="583" r:id="rId29"/>
    <p:sldId id="591" r:id="rId30"/>
    <p:sldId id="593" r:id="rId31"/>
    <p:sldId id="289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iaHRW9scVpVHOt7LlZiKDVEm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8E25D-6658-4D9B-876C-8C97E927BF0F}">
  <a:tblStyle styleId="{1778E25D-6658-4D9B-876C-8C97E927BF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449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6654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4969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2438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3228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1_כותרת ותוכן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4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7"/>
          <p:cNvSpPr txBox="1">
            <a:spLocks noGrp="1"/>
          </p:cNvSpPr>
          <p:nvPr>
            <p:ph type="body" idx="1"/>
          </p:nvPr>
        </p:nvSpPr>
        <p:spPr>
          <a:xfrm>
            <a:off x="6209302" y="1772261"/>
            <a:ext cx="5418667" cy="321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/>
            </a:lvl1pPr>
            <a:lvl2pPr marL="914400" marR="0" lvl="1" indent="-495300" algn="r" rt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4200"/>
              <a:buFont typeface="Arial"/>
              <a:buChar char="•"/>
              <a:defRPr sz="2800" b="0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>
            <a:spLocks noGrp="1"/>
          </p:cNvSpPr>
          <p:nvPr>
            <p:ph type="pic" idx="2"/>
          </p:nvPr>
        </p:nvSpPr>
        <p:spPr>
          <a:xfrm>
            <a:off x="246185" y="211014"/>
            <a:ext cx="5399088" cy="545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3"/>
          </p:nvPr>
        </p:nvSpPr>
        <p:spPr>
          <a:xfrm>
            <a:off x="6209302" y="525463"/>
            <a:ext cx="5419136" cy="1134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>
  <p:cSld name="שני תכנים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8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5668107" cy="382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609570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8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>
  <p:cSld name="השוואה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69278" y="1681163"/>
            <a:ext cx="56282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369278" y="2505075"/>
            <a:ext cx="5628298" cy="31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60957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609570" cy="3156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body" idx="5"/>
          </p:nvPr>
        </p:nvSpPr>
        <p:spPr>
          <a:xfrm>
            <a:off x="369277" y="365124"/>
            <a:ext cx="11412493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>
  <p:cSld name="כותרת בלבד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0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1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1EB2D3E-4CD6-415B-9823-5AD96900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EE3BDB-9854-40BD-83DB-0A7C3D022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40B6412-213B-4A7C-A34A-BDF2CD9C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012DB-EF6D-423D-9ED1-31A5555AECBD}" type="datetimeFigureOut">
              <a:rPr lang="he-IL" smtClean="0"/>
              <a:t>ו'/אדר/תשפ"ו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E8E721C-E775-47BD-8949-A14E0336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ED5C499-88BF-40ED-9229-3D38DADD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BA842-DFC8-43B6-98B2-2133D39483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181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IudLrV5T1rxEBkAkml66BbMyGKilVOEd?usp=drive_link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IudLrV5T1rxEBkAkml66BbMyGKilVOEd?usp=drive_link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תהליך הכנת הנתונים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8434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2891144-3C01-6161-269C-5518875229A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ייבוא ספריות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3AC0E20-F4FF-862B-D93E-E7C3C2262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3" y="1947925"/>
            <a:ext cx="11526597" cy="262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83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6DFCB60-FA7C-4D8A-957B-81D984D7D27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/>
              <a:t>Penguin Dataset</a:t>
            </a:r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42E1860-8624-5BF8-3EC1-CBF4952A0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290" y="1819416"/>
            <a:ext cx="4738192" cy="321916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7BB56EB4-9001-E56C-A8BE-5C7F7AC49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693" y="2085974"/>
            <a:ext cx="46482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64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טיפול בערכים חסרים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49950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BF6288A-3344-9773-F83F-6B7735267D2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0961" y="127380"/>
            <a:ext cx="11430078" cy="1376363"/>
          </a:xfrm>
        </p:spPr>
        <p:txBody>
          <a:bodyPr/>
          <a:lstStyle/>
          <a:p>
            <a:pPr algn="r"/>
            <a:r>
              <a:rPr lang="he-IL"/>
              <a:t>איתור ערכים חסרים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7292AB7-E548-2A9A-E88D-3B5FA2FE2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54" y="1600969"/>
            <a:ext cx="3678555" cy="4112149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E03631DD-136E-CE6E-142F-4DA85E832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444" y="1503743"/>
            <a:ext cx="1385697" cy="354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32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00E9C075-50DF-05C0-B06C-A48BB2406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#מחיקת עמודה/ות</a:t>
            </a:r>
          </a:p>
          <a:p>
            <a:r>
              <a:rPr lang="en-US"/>
              <a:t>df.drop('Cabin',axis=1,inplace=True)</a:t>
            </a:r>
          </a:p>
          <a:p>
            <a:pPr algn="l" rtl="0"/>
            <a:endParaRPr lang="en-US"/>
          </a:p>
          <a:p>
            <a:r>
              <a:rPr lang="he-IL"/>
              <a:t>#מחיקת שורות עם ערכים חסרים, בעמודה/ות</a:t>
            </a:r>
          </a:p>
          <a:p>
            <a:r>
              <a:rPr lang="en-US"/>
              <a:t>df.dropna(subset=['Cabin'], axis=0, inplace=True)</a:t>
            </a:r>
          </a:p>
          <a:p>
            <a:pPr algn="l" rtl="0"/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C2E5AD7-7C45-0C1E-D14B-FB96FEA4FF3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טיפול בערכים חסרים ברמת העמודה</a:t>
            </a:r>
          </a:p>
        </p:txBody>
      </p:sp>
    </p:spTree>
    <p:extLst>
      <p:ext uri="{BB962C8B-B14F-4D97-AF65-F5344CB8AC3E}">
        <p14:creationId xmlns:p14="http://schemas.microsoft.com/office/powerpoint/2010/main" val="352403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4A6C-9CC1-C7E3-1E30-3C7DFCB70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9FD0E18B-7E65-EFE3-F9F9-8DEE6F5D8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#מלוי ערכים חסרים בעמודה נומרית</a:t>
            </a:r>
          </a:p>
          <a:p>
            <a:r>
              <a:rPr lang="en-US"/>
              <a:t>mean_age = df['Age'].mean()</a:t>
            </a:r>
          </a:p>
          <a:p>
            <a:r>
              <a:rPr lang="en-US"/>
              <a:t>df['Age']=df['Age'].fillna(mean_age)</a:t>
            </a:r>
          </a:p>
          <a:p>
            <a:pPr algn="l" rtl="0"/>
            <a:endParaRPr lang="en-US"/>
          </a:p>
          <a:p>
            <a:r>
              <a:rPr lang="he-IL"/>
              <a:t>#מלוי ערכים חסרים בעמודת מחרוזת</a:t>
            </a:r>
          </a:p>
          <a:p>
            <a:r>
              <a:rPr lang="en-US"/>
              <a:t>df['Cabin'] = df['Cabin'].fillna('Missing')</a:t>
            </a:r>
          </a:p>
          <a:p>
            <a:pPr algn="l" rtl="0"/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2DAD31A-C25E-F52F-89B8-7D381AAD47E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טיפול בערכים חסרים ברמת העמודה</a:t>
            </a:r>
          </a:p>
        </p:txBody>
      </p:sp>
    </p:spTree>
    <p:extLst>
      <p:ext uri="{BB962C8B-B14F-4D97-AF65-F5344CB8AC3E}">
        <p14:creationId xmlns:p14="http://schemas.microsoft.com/office/powerpoint/2010/main" val="152084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C2326-A025-6616-80D5-BDF2BE6B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F49F0606-AFA1-2541-71BD-624B1DEEA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# מחיקת שורות עם ערכים חסרים בטבלה</a:t>
            </a:r>
          </a:p>
          <a:p>
            <a:r>
              <a:rPr lang="en-US"/>
              <a:t>df.dropna(axis=0,inplace=True)</a:t>
            </a:r>
          </a:p>
          <a:p>
            <a:pPr algn="l" rtl="0"/>
            <a:endParaRPr lang="en-US"/>
          </a:p>
          <a:p>
            <a:r>
              <a:rPr lang="he-IL"/>
              <a:t># מחיקת עמודות עם ערכים חסרים בטבלה</a:t>
            </a:r>
          </a:p>
          <a:p>
            <a:r>
              <a:rPr lang="en-US"/>
              <a:t>df.dropna(axis=1,inplace=True)</a:t>
            </a:r>
          </a:p>
          <a:p>
            <a:pPr algn="l" rtl="0"/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336B473-9996-8A17-8DAE-9574537F12B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טיפול בערכים חסרים ברמת הטבלה</a:t>
            </a:r>
          </a:p>
        </p:txBody>
      </p:sp>
    </p:spTree>
    <p:extLst>
      <p:ext uri="{BB962C8B-B14F-4D97-AF65-F5344CB8AC3E}">
        <p14:creationId xmlns:p14="http://schemas.microsoft.com/office/powerpoint/2010/main" val="3412629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B27FC-E199-D76F-4237-DE852CEF5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FB4DACC8-47D4-0A10-4524-1A5679C46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/>
              <a:t>#מלוי ערכים חסרים בעמודות נומריות בטבלה</a:t>
            </a:r>
          </a:p>
          <a:p>
            <a:r>
              <a:rPr lang="en-US" sz="2400"/>
              <a:t>numerical_cols = df.select_dtypes(include=np.number).columns</a:t>
            </a:r>
          </a:p>
          <a:p>
            <a:r>
              <a:rPr lang="en-US" sz="2400"/>
              <a:t>df[numerical_cols] = df[numerical_cols].fillna(df[numerical_cols].mean())</a:t>
            </a:r>
          </a:p>
          <a:p>
            <a:pPr algn="l" rtl="0"/>
            <a:endParaRPr lang="en-US" sz="2400"/>
          </a:p>
          <a:p>
            <a:r>
              <a:rPr lang="he-IL"/>
              <a:t>#מלוי ערכים חסרים בעמודות מחרוזת בטבלה</a:t>
            </a:r>
          </a:p>
          <a:p>
            <a:r>
              <a:rPr lang="en-US"/>
              <a:t>object_cols = df.select_dtypes(include='object').columns</a:t>
            </a:r>
          </a:p>
          <a:p>
            <a:r>
              <a:rPr lang="en-US"/>
              <a:t>df[object_cols] = df[object_cols].fillna('Missing')</a:t>
            </a:r>
          </a:p>
          <a:p>
            <a:pPr algn="l" rtl="0"/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BD30F7B-1D64-8186-1B2E-ADEF7A590A5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טיפול בערכים חסרים ברמת הטבלה</a:t>
            </a:r>
          </a:p>
        </p:txBody>
      </p:sp>
    </p:spTree>
    <p:extLst>
      <p:ext uri="{BB962C8B-B14F-4D97-AF65-F5344CB8AC3E}">
        <p14:creationId xmlns:p14="http://schemas.microsoft.com/office/powerpoint/2010/main" val="2050278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חלוקה אימון ומבחן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53317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7C0FEC9-7BAA-B514-4A02-F3D11116EB7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חלוקה אימון ומבחן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95C8F7F0-7FA6-7041-8E13-667905B25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12" y="1709737"/>
            <a:ext cx="51339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18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F2B286A-A488-4D77-31C2-66B7F893BB6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בחירת מאפיינים ומשתנה מטרה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7BF29EA-814A-D62E-BD9A-A0A54E1BB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91" y="2171700"/>
            <a:ext cx="5835571" cy="315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12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8CCC475-1E5D-F660-4B33-6CE57B8A59B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/>
              <a:t>Train test split</a:t>
            </a:r>
            <a:endParaRPr lang="he-IL"/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43B6C68F-4ABA-2100-82DB-65971B108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37" y="1621847"/>
            <a:ext cx="8593096" cy="249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93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נרמול</a:t>
            </a:r>
          </a:p>
        </p:txBody>
      </p:sp>
    </p:spTree>
    <p:extLst>
      <p:ext uri="{BB962C8B-B14F-4D97-AF65-F5344CB8AC3E}">
        <p14:creationId xmlns:p14="http://schemas.microsoft.com/office/powerpoint/2010/main" val="1300445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B26B1F-61BB-575F-B555-F4293DA3D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br>
              <a:rPr lang="en-US" dirty="0"/>
            </a:br>
            <a: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  <a:t>Scaling the data</a:t>
            </a:r>
            <a:endParaRPr lang="he-IL" b="1" i="1" dirty="0">
              <a:solidFill>
                <a:srgbClr val="222222"/>
              </a:solidFill>
              <a:latin typeface="Lato" panose="020F0502020204030203" pitchFamily="34" charset="0"/>
            </a:endParaRPr>
          </a:p>
        </p:txBody>
      </p:sp>
      <p:pic>
        <p:nvPicPr>
          <p:cNvPr id="5" name="מציין מיקום תוכן 4" descr="תמונה שמכילה טקסט, יונק, אריה&#10;&#10;התיאור נוצר באופן אוטומטי">
            <a:extLst>
              <a:ext uri="{FF2B5EF4-FFF2-40B4-BE49-F238E27FC236}">
                <a16:creationId xmlns:a16="http://schemas.microsoft.com/office/drawing/2014/main" id="{E57B3DD6-4372-D99C-BA9C-AA14ECA5B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403" y="1825625"/>
            <a:ext cx="4249193" cy="4351338"/>
          </a:xfrm>
        </p:spPr>
      </p:pic>
    </p:spTree>
    <p:extLst>
      <p:ext uri="{BB962C8B-B14F-4D97-AF65-F5344CB8AC3E}">
        <p14:creationId xmlns:p14="http://schemas.microsoft.com/office/powerpoint/2010/main" val="925586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EB209A-7BBA-AC59-C22D-02A737BA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/>
            <a: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  <a:t>Max/Min Normalization</a:t>
            </a:r>
            <a:endParaRPr lang="he-IL" b="1" i="1" dirty="0">
              <a:solidFill>
                <a:srgbClr val="222222"/>
              </a:solidFill>
              <a:latin typeface="Lato" panose="020F0502020204030203" pitchFamily="34" charset="0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DC99C921-0830-9973-6A60-97567D2BC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487" y="1937022"/>
            <a:ext cx="7344458" cy="2312798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E9E8F721-395B-9DBE-971D-2965A020D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482" y="4386973"/>
            <a:ext cx="6195598" cy="231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71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30A8D4-8A2D-397D-77BD-1C973DEED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שונות </a:t>
            </a:r>
            <a:r>
              <a:rPr lang="he-IL" dirty="0"/>
              <a:t>(</a:t>
            </a:r>
            <a:r>
              <a:rPr lang="en-US" dirty="0"/>
              <a:t>variance</a:t>
            </a:r>
            <a:r>
              <a:rPr lang="he-IL" dirty="0"/>
              <a:t>)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 dirty="0"/>
              <a:t>סטיית תקן (</a:t>
            </a:r>
            <a:r>
              <a:rPr lang="en-US" dirty="0"/>
              <a:t>standard deviation</a:t>
            </a:r>
            <a:r>
              <a:rPr lang="he-IL"/>
              <a:t>)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93A76-CEA0-B3D9-13DB-D1B32613E4A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/>
              <a:t>התפלגות נורמלית</a:t>
            </a:r>
          </a:p>
          <a:p>
            <a:r>
              <a:rPr lang="he-IL"/>
              <a:t>ומדדי </a:t>
            </a:r>
            <a:r>
              <a:rPr lang="he-IL" dirty="0"/>
              <a:t>פיזור</a:t>
            </a:r>
            <a:endParaRPr lang="en-IL" dirty="0"/>
          </a:p>
        </p:txBody>
      </p:sp>
      <p:pic>
        <p:nvPicPr>
          <p:cNvPr id="4098" name="Picture 2" descr="Standard deviation - Wikipedia">
            <a:extLst>
              <a:ext uri="{FF2B5EF4-FFF2-40B4-BE49-F238E27FC236}">
                <a16:creationId xmlns:a16="http://schemas.microsoft.com/office/drawing/2014/main" id="{E84508CA-D98E-C9C3-EEB2-FEC6748F9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3429000"/>
            <a:ext cx="4687824" cy="234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0CC45D-4950-21D0-FB50-386F6905CB08}"/>
              </a:ext>
            </a:extLst>
          </p:cNvPr>
          <p:cNvSpPr txBox="1"/>
          <p:nvPr/>
        </p:nvSpPr>
        <p:spPr>
          <a:xfrm>
            <a:off x="6096000" y="6059460"/>
            <a:ext cx="5058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https://www.strictlybythenumbers.com/bias-vs-variance </a:t>
            </a:r>
            <a:r>
              <a:rPr lang="en-IL" dirty="0"/>
              <a:t>https://en.wikipedia.org/wiki/Standard_deviation</a:t>
            </a:r>
          </a:p>
        </p:txBody>
      </p:sp>
      <p:pic>
        <p:nvPicPr>
          <p:cNvPr id="4100" name="Picture 4" descr="Bias-Variance Tradeoff">
            <a:extLst>
              <a:ext uri="{FF2B5EF4-FFF2-40B4-BE49-F238E27FC236}">
                <a16:creationId xmlns:a16="http://schemas.microsoft.com/office/drawing/2014/main" id="{90D1D123-DEB0-51C8-51D7-74205B2A0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122" y="354873"/>
            <a:ext cx="3546061" cy="277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714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B1AB93D-C55E-96A2-E247-6D0D762F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/>
            <a: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  <a:t>Standardization</a:t>
            </a:r>
            <a:endParaRPr lang="he-IL" b="1" i="1" dirty="0">
              <a:solidFill>
                <a:srgbClr val="222222"/>
              </a:solidFill>
              <a:latin typeface="Lato" panose="020F0502020204030203" pitchFamily="34" charset="0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C1B3E2EA-74BD-19CF-E534-E15F81D86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83" y="1784688"/>
            <a:ext cx="7496175" cy="2178961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283A91BB-CF6C-324A-FA73-F7848F139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583" y="3963649"/>
            <a:ext cx="6362699" cy="2681138"/>
          </a:xfrm>
          <a:prstGeom prst="rect">
            <a:avLst/>
          </a:prstGeom>
        </p:spPr>
      </p:pic>
      <p:pic>
        <p:nvPicPr>
          <p:cNvPr id="1026" name="Picture 2" descr="‪Standard Normal Distribution‬‏">
            <a:extLst>
              <a:ext uri="{FF2B5EF4-FFF2-40B4-BE49-F238E27FC236}">
                <a16:creationId xmlns:a16="http://schemas.microsoft.com/office/drawing/2014/main" id="{07A1BA18-EFFA-542B-7680-6A829CD1B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776" y="2444646"/>
            <a:ext cx="3122900" cy="207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059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87CE-FC52-9067-9089-32B5E77C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1D454E9-8BC3-9EE7-BB48-9EC3EE0CF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  <a:t>Normalization (min-max scaling)</a:t>
            </a:r>
            <a:b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</a:br>
            <a: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  <a:t>vs. Standardization</a:t>
            </a:r>
            <a:endParaRPr lang="he-IL" b="1" i="1" dirty="0">
              <a:solidFill>
                <a:srgbClr val="222222"/>
              </a:solidFill>
              <a:latin typeface="Lato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405D5F-7AAB-861D-414C-626E80AAA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830" y="1690688"/>
            <a:ext cx="9864339" cy="493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575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95E14-C624-AFC0-1540-EB2C0C9EC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13B1A96-D65A-805B-33DC-8607F093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  <a:t>Normalization (min-max scaling)</a:t>
            </a:r>
            <a:b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</a:br>
            <a: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  <a:t>vs. Standardization</a:t>
            </a:r>
            <a:endParaRPr lang="he-IL" b="1" i="1" dirty="0">
              <a:solidFill>
                <a:srgbClr val="222222"/>
              </a:solidFill>
              <a:latin typeface="Lato" panose="020F0502020204030203" pitchFamily="34" charset="0"/>
            </a:endParaRPr>
          </a:p>
        </p:txBody>
      </p:sp>
      <p:pic>
        <p:nvPicPr>
          <p:cNvPr id="1026" name="Picture 2" descr="Results">
            <a:extLst>
              <a:ext uri="{FF2B5EF4-FFF2-40B4-BE49-F238E27FC236}">
                <a16:creationId xmlns:a16="http://schemas.microsoft.com/office/drawing/2014/main" id="{BED8ABA4-6EDC-EF12-2269-F8D30254D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84679"/>
            <a:ext cx="10848975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938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CB2A1C-4E55-554B-54DA-D15FDE593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  <a:t>Normalization (min-max scaling)</a:t>
            </a:r>
            <a:b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</a:br>
            <a:r>
              <a:rPr lang="en-US" b="1" i="1" dirty="0">
                <a:solidFill>
                  <a:srgbClr val="222222"/>
                </a:solidFill>
                <a:latin typeface="Lato" panose="020F0502020204030203" pitchFamily="34" charset="0"/>
              </a:rPr>
              <a:t>vs. Standardization</a:t>
            </a:r>
            <a:endParaRPr lang="he-IL" b="1" i="1" dirty="0">
              <a:solidFill>
                <a:srgbClr val="222222"/>
              </a:solidFill>
              <a:latin typeface="Lato" panose="020F0502020204030203" pitchFamily="34" charset="0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BFAF155D-0F6A-C88B-63F0-4BDD882CD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37" y="2043112"/>
            <a:ext cx="54959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25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CC1E273-0F3D-7776-5821-1591C80E592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/>
              <a:t>Min Max Scaler</a:t>
            </a:r>
            <a:endParaRPr lang="he-IL"/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3019EA15-2EC5-9DC3-2C34-72DB60139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397" y="1835541"/>
            <a:ext cx="8756669" cy="273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65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CC1E273-0F3D-7776-5821-1591C80E592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/>
              <a:t>Stanrdard Scaler</a:t>
            </a:r>
            <a:endParaRPr lang="he-IL"/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F1570C22-EDFF-B878-16B2-BD11CD9DB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63" y="1835317"/>
            <a:ext cx="10539357" cy="299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85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שלבי האימון והמבחן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47128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DF77E4E-0CF3-8660-395D-F404F8F1744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r"/>
            <a:r>
              <a:rPr lang="he-IL"/>
              <a:t>המסווג מותאם (</a:t>
            </a:r>
            <a:r>
              <a:rPr lang="en-US"/>
              <a:t>fit</a:t>
            </a:r>
            <a:r>
              <a:rPr lang="he-IL"/>
              <a:t>) לנתוני האימון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AF367021-7FC2-87B7-DDCA-78972D973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56" y="2168051"/>
            <a:ext cx="8626360" cy="294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97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DF77E4E-0CF3-8660-395D-F404F8F1744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r"/>
            <a:r>
              <a:rPr lang="he-IL"/>
              <a:t>פרדיקציות ומדדי ביצוע על נתוני המבחן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EAB85C0-0AAC-271D-00C7-B08B17507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210" y="1580561"/>
            <a:ext cx="6241287" cy="369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27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DF77E4E-0CF3-8660-395D-F404F8F1744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r"/>
            <a:r>
              <a:rPr lang="he-IL"/>
              <a:t>פרדיקציות ומדדי ביצוע על נתוני המבחן</a:t>
            </a:r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BFFFF8DA-14CA-BEDF-4E76-26AE88A96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27" y="1438274"/>
            <a:ext cx="7345259" cy="481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57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4103622-A58A-5CC2-58A9-DF837D4416B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r"/>
            <a:r>
              <a:rPr lang="he-IL"/>
              <a:t>פרדיקציות ומדדי ביצוע על נתוני המבחן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0652FAE-4749-5FAD-2AE4-5E8D251B6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2133600"/>
            <a:ext cx="48577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82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84C7D2D6-D5FD-7845-ACCB-E2778AE19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he-IL"/>
              <a:t>טענו מחברת </a:t>
            </a:r>
            <a:r>
              <a:rPr lang="en-US">
                <a:hlinkClick r:id="rId2"/>
              </a:rPr>
              <a:t>Penguin Dataset</a:t>
            </a:r>
            <a:endParaRPr lang="he-IL"/>
          </a:p>
          <a:p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	1. נקו נתונים חסרים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2. בחרו מאפיינים מספריים, ובחרו משתנה מטרה בדיד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3. חלקו לאימון ומבחן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4. נרמלו את הנתונים (בחרו שיטה)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5. בצעו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fit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 על נתוני האימון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6. בצעו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predict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 על נתוני המבחן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7. בדקו מדדי ביצוע על נתוני המבחן:</a:t>
            </a:r>
            <a:b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</a:b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Accuracy, Confusion Matrix, Classification report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95DB00E-D76C-17E5-A18F-0BEACBADBD4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Penguin Classification exercise</a:t>
            </a:r>
          </a:p>
        </p:txBody>
      </p:sp>
    </p:spTree>
    <p:extLst>
      <p:ext uri="{BB962C8B-B14F-4D97-AF65-F5344CB8AC3E}">
        <p14:creationId xmlns:p14="http://schemas.microsoft.com/office/powerpoint/2010/main" val="2987273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84C7D2D6-D5FD-7845-ACCB-E2778AE19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/>
              <a:t>טענו מחברת </a:t>
            </a:r>
            <a:r>
              <a:rPr lang="en-US">
                <a:hlinkClick r:id="rId2"/>
              </a:rPr>
              <a:t>Penguin Dataset</a:t>
            </a:r>
            <a:endParaRPr lang="he-IL"/>
          </a:p>
          <a:p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	1. נקו נתונים חסרים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2. בחרו מאפיינים מספריים, ובחרו משתנה מטרה מספרי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3. חלקו לאימון ומבחן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4. נרמלו את הנתונים (בחרו שיטה)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5. בצעו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 fit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על נתוני האימון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6. בצעו 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predict 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 על נתוני המבחן</a:t>
            </a:r>
            <a:br>
              <a:rPr lang="he-IL"/>
            </a:b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7. בדקו מדדי ביצוע על נתוני המבחן (</a:t>
            </a:r>
            <a:r>
              <a:rPr lang="en-US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r2</a:t>
            </a:r>
            <a:r>
              <a:rPr lang="he-IL" b="0" i="0">
                <a:effectLst/>
                <a:highlight>
                  <a:srgbClr val="F1F3F4"/>
                </a:highlight>
                <a:latin typeface="Roboto" panose="02000000000000000000" pitchFamily="2" charset="0"/>
              </a:rPr>
              <a:t>)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95DB00E-D76C-17E5-A18F-0BEACBADBD4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Penguin Regression exercise</a:t>
            </a:r>
          </a:p>
        </p:txBody>
      </p:sp>
    </p:spTree>
    <p:extLst>
      <p:ext uri="{BB962C8B-B14F-4D97-AF65-F5344CB8AC3E}">
        <p14:creationId xmlns:p14="http://schemas.microsoft.com/office/powerpoint/2010/main" val="1493064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תודה על ההשתתפות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515</Words>
  <Application>Microsoft Office PowerPoint</Application>
  <PresentationFormat>מסך רחב</PresentationFormat>
  <Paragraphs>62</Paragraphs>
  <Slides>31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31</vt:i4>
      </vt:variant>
    </vt:vector>
  </HeadingPairs>
  <TitlesOfParts>
    <vt:vector size="37" baseType="lpstr">
      <vt:lpstr>Arial</vt:lpstr>
      <vt:lpstr>Calibri</vt:lpstr>
      <vt:lpstr>Lato</vt:lpstr>
      <vt:lpstr>Roboto</vt:lpstr>
      <vt:lpstr>Tahoma</vt:lpstr>
      <vt:lpstr>TECHNION_Op3_General_Heb</vt:lpstr>
      <vt:lpstr>תהליך הכנת הנתונים</vt:lpstr>
      <vt:lpstr>מצגת של PowerPoint‏</vt:lpstr>
      <vt:lpstr>מצגת של PowerPoint‏</vt:lpstr>
      <vt:lpstr>טיפול בערכים חסרים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חלוקה אימון ומבחן</vt:lpstr>
      <vt:lpstr>מצגת של PowerPoint‏</vt:lpstr>
      <vt:lpstr>מצגת של PowerPoint‏</vt:lpstr>
      <vt:lpstr>מצגת של PowerPoint‏</vt:lpstr>
      <vt:lpstr>נרמול</vt:lpstr>
      <vt:lpstr> Scaling the data</vt:lpstr>
      <vt:lpstr>Max/Min Normalization</vt:lpstr>
      <vt:lpstr>מצגת של PowerPoint‏</vt:lpstr>
      <vt:lpstr>Standardization</vt:lpstr>
      <vt:lpstr>Normalization (min-max scaling) vs. Standardization</vt:lpstr>
      <vt:lpstr>Normalization (min-max scaling) vs. Standardization</vt:lpstr>
      <vt:lpstr>Normalization (min-max scaling) vs. Standardization</vt:lpstr>
      <vt:lpstr>מצגת של PowerPoint‏</vt:lpstr>
      <vt:lpstr>מצגת של PowerPoint‏</vt:lpstr>
      <vt:lpstr>שלבי האימון והמבחן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תודה על ההשתתפות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דוד בר יצחק</cp:lastModifiedBy>
  <cp:revision>51</cp:revision>
  <dcterms:created xsi:type="dcterms:W3CDTF">2019-03-02T07:56:19Z</dcterms:created>
  <dcterms:modified xsi:type="dcterms:W3CDTF">2026-02-23T19:53:03Z</dcterms:modified>
</cp:coreProperties>
</file>