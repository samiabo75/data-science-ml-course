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8" r:id="rId2"/>
    <p:sldId id="537" r:id="rId3"/>
    <p:sldId id="319" r:id="rId4"/>
    <p:sldId id="393" r:id="rId5"/>
    <p:sldId id="570" r:id="rId6"/>
    <p:sldId id="571" r:id="rId7"/>
    <p:sldId id="533" r:id="rId8"/>
    <p:sldId id="547" r:id="rId9"/>
    <p:sldId id="503" r:id="rId10"/>
    <p:sldId id="546" r:id="rId11"/>
    <p:sldId id="565" r:id="rId12"/>
    <p:sldId id="573" r:id="rId13"/>
    <p:sldId id="574" r:id="rId14"/>
    <p:sldId id="575" r:id="rId15"/>
    <p:sldId id="578" r:id="rId16"/>
    <p:sldId id="290" r:id="rId17"/>
    <p:sldId id="576" r:id="rId18"/>
    <p:sldId id="261" r:id="rId19"/>
    <p:sldId id="568" r:id="rId20"/>
    <p:sldId id="569" r:id="rId21"/>
    <p:sldId id="268" r:id="rId22"/>
    <p:sldId id="269" r:id="rId23"/>
    <p:sldId id="28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gk4le2mh6itJGGE6jAFZy0oDti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AE23F7-C94C-49BE-B59C-5EF9745047CC}">
  <a:tblStyle styleId="{99AE23F7-C94C-49BE-B59C-5EF9745047C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e5d5d435e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e5d5d435e8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e5d5d435e8_0_5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w-IL"/>
              <a:t>18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כותרת ותוכן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5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1279635" y="3552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1271752" y="184289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7"/>
          <p:cNvSpPr txBox="1">
            <a:spLocks noGrp="1"/>
          </p:cNvSpPr>
          <p:nvPr>
            <p:ph type="body" idx="1"/>
          </p:nvPr>
        </p:nvSpPr>
        <p:spPr>
          <a:xfrm>
            <a:off x="6209302" y="1772261"/>
            <a:ext cx="5418667" cy="321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/>
            </a:lvl1pPr>
            <a:lvl2pPr marL="914400" marR="0" lvl="1" indent="-495300" algn="r" rtl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4200"/>
              <a:buFont typeface="Arial"/>
              <a:buChar char="•"/>
              <a:defRPr sz="2800" b="0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>
            <a:spLocks noGrp="1"/>
          </p:cNvSpPr>
          <p:nvPr>
            <p:ph type="pic" idx="2"/>
          </p:nvPr>
        </p:nvSpPr>
        <p:spPr>
          <a:xfrm>
            <a:off x="246185" y="211014"/>
            <a:ext cx="5399088" cy="545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3"/>
          </p:nvPr>
        </p:nvSpPr>
        <p:spPr>
          <a:xfrm>
            <a:off x="6209302" y="525463"/>
            <a:ext cx="5419136" cy="1134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8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>
  <p:cSld name="השוואה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69278" y="1681163"/>
            <a:ext cx="56282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369278" y="2505075"/>
            <a:ext cx="5628298" cy="31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60957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609570" cy="315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5"/>
          </p:nvPr>
        </p:nvSpPr>
        <p:spPr>
          <a:xfrm>
            <a:off x="369277" y="365124"/>
            <a:ext cx="11412493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>
  <p:cSld name="כותרת בלבד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1825625"/>
            <a:ext cx="11430077" cy="3783867"/>
          </a:xfrm>
        </p:spPr>
        <p:txBody>
          <a:bodyPr/>
          <a:lstStyle>
            <a:lvl1pPr marL="0" indent="0" algn="r" rtl="1">
              <a:buNone/>
              <a:defRPr/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07/06/2025</a:t>
            </a:fld>
            <a:endParaRPr lang="en-IL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351693" y="365124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C97BFB6-EA8A-42F7-A32F-7ACC4B938AC3}"/>
              </a:ext>
            </a:extLst>
          </p:cNvPr>
          <p:cNvSpPr txBox="1"/>
          <p:nvPr userDrawn="1"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4363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הערכת ביצועים של מסווג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099337-9498-4664-A6D8-4EDC5556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מסווג</a:t>
            </a:r>
            <a:endParaRPr lang="en-IL" dirty="0"/>
          </a:p>
        </p:txBody>
      </p:sp>
      <p:sp>
        <p:nvSpPr>
          <p:cNvPr id="4" name="חץ: למטה 3">
            <a:extLst>
              <a:ext uri="{FF2B5EF4-FFF2-40B4-BE49-F238E27FC236}">
                <a16:creationId xmlns:a16="http://schemas.microsoft.com/office/drawing/2014/main" id="{3DD9FE19-375B-48B6-A0D1-E01862A62938}"/>
              </a:ext>
            </a:extLst>
          </p:cNvPr>
          <p:cNvSpPr/>
          <p:nvPr/>
        </p:nvSpPr>
        <p:spPr>
          <a:xfrm>
            <a:off x="9121420" y="5080000"/>
            <a:ext cx="660400" cy="5346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תרשים זרימה: החלטה 4">
            <a:extLst>
              <a:ext uri="{FF2B5EF4-FFF2-40B4-BE49-F238E27FC236}">
                <a16:creationId xmlns:a16="http://schemas.microsoft.com/office/drawing/2014/main" id="{CD7445F6-0AE5-423B-A124-2EB5258D3B93}"/>
              </a:ext>
            </a:extLst>
          </p:cNvPr>
          <p:cNvSpPr/>
          <p:nvPr/>
        </p:nvSpPr>
        <p:spPr>
          <a:xfrm>
            <a:off x="8134167" y="4066367"/>
            <a:ext cx="2651835" cy="1138579"/>
          </a:xfrm>
          <a:prstGeom prst="flowChartDecisi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אלגוריתם סיווג</a:t>
            </a:r>
            <a:endParaRPr lang="en-IL" dirty="0"/>
          </a:p>
        </p:txBody>
      </p:sp>
      <p:sp>
        <p:nvSpPr>
          <p:cNvPr id="6" name="מגילה: אופקית 5">
            <a:extLst>
              <a:ext uri="{FF2B5EF4-FFF2-40B4-BE49-F238E27FC236}">
                <a16:creationId xmlns:a16="http://schemas.microsoft.com/office/drawing/2014/main" id="{3388D414-2735-46F3-8624-1EF7F69C3443}"/>
              </a:ext>
            </a:extLst>
          </p:cNvPr>
          <p:cNvSpPr/>
          <p:nvPr/>
        </p:nvSpPr>
        <p:spPr>
          <a:xfrm>
            <a:off x="8855077" y="1336350"/>
            <a:ext cx="1840089" cy="1331248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אימון</a:t>
            </a:r>
            <a:endParaRPr lang="en-IL" dirty="0"/>
          </a:p>
        </p:txBody>
      </p:sp>
      <p:sp>
        <p:nvSpPr>
          <p:cNvPr id="7" name="חץ: ימינה 6">
            <a:extLst>
              <a:ext uri="{FF2B5EF4-FFF2-40B4-BE49-F238E27FC236}">
                <a16:creationId xmlns:a16="http://schemas.microsoft.com/office/drawing/2014/main" id="{443727D2-88E5-43BB-AEB7-790DAA54D722}"/>
              </a:ext>
            </a:extLst>
          </p:cNvPr>
          <p:cNvSpPr/>
          <p:nvPr/>
        </p:nvSpPr>
        <p:spPr>
          <a:xfrm>
            <a:off x="8301935" y="567367"/>
            <a:ext cx="553142" cy="2975528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he-IL" dirty="0"/>
              <a:t>דוגמאות</a:t>
            </a:r>
            <a:endParaRPr lang="en-IL" dirty="0"/>
          </a:p>
        </p:txBody>
      </p:sp>
      <p:sp>
        <p:nvSpPr>
          <p:cNvPr id="8" name="חץ: ימינה 7">
            <a:extLst>
              <a:ext uri="{FF2B5EF4-FFF2-40B4-BE49-F238E27FC236}">
                <a16:creationId xmlns:a16="http://schemas.microsoft.com/office/drawing/2014/main" id="{7961734D-36E0-4555-AAAE-FBD1B0C58952}"/>
              </a:ext>
            </a:extLst>
          </p:cNvPr>
          <p:cNvSpPr/>
          <p:nvPr/>
        </p:nvSpPr>
        <p:spPr>
          <a:xfrm rot="5400000">
            <a:off x="8965913" y="3147058"/>
            <a:ext cx="1724378" cy="46510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מודל</a:t>
            </a:r>
            <a:endParaRPr lang="en-IL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5FF6C9AC-8056-46C2-AEDE-64DB5BF1D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7" y="286788"/>
            <a:ext cx="7029450" cy="4272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FFEAFB89-B44E-41B6-B1DA-C05FC076944D}"/>
              </a:ext>
            </a:extLst>
          </p:cNvPr>
          <p:cNvSpPr/>
          <p:nvPr/>
        </p:nvSpPr>
        <p:spPr>
          <a:xfrm>
            <a:off x="7181266" y="449690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0</a:t>
            </a:r>
            <a:endParaRPr lang="en-IL" dirty="0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CC811A8F-5BC9-4C88-B6C6-D0C2699ABDA7}"/>
              </a:ext>
            </a:extLst>
          </p:cNvPr>
          <p:cNvSpPr/>
          <p:nvPr/>
        </p:nvSpPr>
        <p:spPr>
          <a:xfrm>
            <a:off x="7181266" y="843735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1</a:t>
            </a:r>
            <a:endParaRPr lang="en-IL" dirty="0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F9394B98-0920-4C95-A3D7-E0078D9C52AB}"/>
              </a:ext>
            </a:extLst>
          </p:cNvPr>
          <p:cNvSpPr/>
          <p:nvPr/>
        </p:nvSpPr>
        <p:spPr>
          <a:xfrm>
            <a:off x="7181266" y="1237780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2</a:t>
            </a:r>
            <a:endParaRPr lang="en-IL" dirty="0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E019DFA4-55E2-441B-98A1-5CF53624CF22}"/>
              </a:ext>
            </a:extLst>
          </p:cNvPr>
          <p:cNvSpPr/>
          <p:nvPr/>
        </p:nvSpPr>
        <p:spPr>
          <a:xfrm>
            <a:off x="7181266" y="1631825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3</a:t>
            </a:r>
            <a:endParaRPr lang="en-IL" dirty="0"/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EE2CA05D-5B78-4A0B-A68B-10B1E5927014}"/>
              </a:ext>
            </a:extLst>
          </p:cNvPr>
          <p:cNvSpPr/>
          <p:nvPr/>
        </p:nvSpPr>
        <p:spPr>
          <a:xfrm>
            <a:off x="7181266" y="2419915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5</a:t>
            </a:r>
            <a:endParaRPr lang="en-IL" dirty="0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9720C7A9-36CF-47D5-9298-DD428E6A5FD4}"/>
              </a:ext>
            </a:extLst>
          </p:cNvPr>
          <p:cNvSpPr/>
          <p:nvPr/>
        </p:nvSpPr>
        <p:spPr>
          <a:xfrm>
            <a:off x="7181266" y="2025870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4</a:t>
            </a:r>
            <a:endParaRPr lang="en-IL" dirty="0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0B90AA5C-21A9-44CE-888E-7DB86B8331F9}"/>
              </a:ext>
            </a:extLst>
          </p:cNvPr>
          <p:cNvSpPr/>
          <p:nvPr/>
        </p:nvSpPr>
        <p:spPr>
          <a:xfrm>
            <a:off x="7181266" y="3208005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7</a:t>
            </a:r>
            <a:endParaRPr lang="en-IL" dirty="0"/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52158E60-E926-4062-9F9B-F5E83C86CB1E}"/>
              </a:ext>
            </a:extLst>
          </p:cNvPr>
          <p:cNvSpPr/>
          <p:nvPr/>
        </p:nvSpPr>
        <p:spPr>
          <a:xfrm>
            <a:off x="7181266" y="3602050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8</a:t>
            </a:r>
            <a:endParaRPr lang="en-IL" dirty="0"/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D672F48A-C9C0-4087-B5F7-A3D749E94BD7}"/>
              </a:ext>
            </a:extLst>
          </p:cNvPr>
          <p:cNvSpPr/>
          <p:nvPr/>
        </p:nvSpPr>
        <p:spPr>
          <a:xfrm>
            <a:off x="7181266" y="3996095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9</a:t>
            </a:r>
            <a:endParaRPr lang="en-IL" dirty="0"/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5D1E96E4-4852-4A47-AC7E-9A063E01DA8F}"/>
              </a:ext>
            </a:extLst>
          </p:cNvPr>
          <p:cNvSpPr/>
          <p:nvPr/>
        </p:nvSpPr>
        <p:spPr>
          <a:xfrm>
            <a:off x="7181266" y="2813960"/>
            <a:ext cx="749830" cy="355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6</a:t>
            </a:r>
            <a:endParaRPr lang="en-IL" dirty="0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F32B667B-9645-475C-AC7E-81A8D7AF2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35" t="37511" r="36022" b="51207"/>
          <a:stretch/>
        </p:blipFill>
        <p:spPr bwMode="auto">
          <a:xfrm>
            <a:off x="6122754" y="4444346"/>
            <a:ext cx="926601" cy="103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חץ: מכופף 23">
            <a:extLst>
              <a:ext uri="{FF2B5EF4-FFF2-40B4-BE49-F238E27FC236}">
                <a16:creationId xmlns:a16="http://schemas.microsoft.com/office/drawing/2014/main" id="{F5EB84BD-950C-4536-B1D9-6D028CAB1D6B}"/>
              </a:ext>
            </a:extLst>
          </p:cNvPr>
          <p:cNvSpPr/>
          <p:nvPr/>
        </p:nvSpPr>
        <p:spPr>
          <a:xfrm>
            <a:off x="6516408" y="4481689"/>
            <a:ext cx="1480811" cy="279793"/>
          </a:xfrm>
          <a:prstGeom prst="bentArrow">
            <a:avLst>
              <a:gd name="adj1" fmla="val 28026"/>
              <a:gd name="adj2" fmla="val 45174"/>
              <a:gd name="adj3" fmla="val 50000"/>
              <a:gd name="adj4" fmla="val 4375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C709D5AD-3772-4E1B-BDA2-D99035C42CDD}"/>
              </a:ext>
            </a:extLst>
          </p:cNvPr>
          <p:cNvSpPr/>
          <p:nvPr/>
        </p:nvSpPr>
        <p:spPr>
          <a:xfrm>
            <a:off x="8996837" y="5914876"/>
            <a:ext cx="926601" cy="31713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4</a:t>
            </a:r>
            <a:endParaRPr lang="en-IL" dirty="0"/>
          </a:p>
        </p:txBody>
      </p:sp>
      <p:sp>
        <p:nvSpPr>
          <p:cNvPr id="30" name="מלבן: פינות מעוגלות 5">
            <a:extLst>
              <a:ext uri="{FF2B5EF4-FFF2-40B4-BE49-F238E27FC236}">
                <a16:creationId xmlns:a16="http://schemas.microsoft.com/office/drawing/2014/main" id="{AF06996D-FF07-4F47-9280-7E71576537B2}"/>
              </a:ext>
            </a:extLst>
          </p:cNvPr>
          <p:cNvSpPr/>
          <p:nvPr/>
        </p:nvSpPr>
        <p:spPr>
          <a:xfrm>
            <a:off x="6882421" y="5679566"/>
            <a:ext cx="1419514" cy="72548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האם המסווג צדק?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849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035429-FC0D-4EA5-B4CD-8FBDBA6D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המטרה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CA6165-6FF2-4487-A04A-367EE37F4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בהינתן מסווג מאומן – כיצד נוכל להעריך את ביצועיו הצפויים?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5896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חץ: למטה 3">
            <a:extLst>
              <a:ext uri="{FF2B5EF4-FFF2-40B4-BE49-F238E27FC236}">
                <a16:creationId xmlns:a16="http://schemas.microsoft.com/office/drawing/2014/main" id="{3DD9FE19-375B-48B6-A0D1-E01862A62938}"/>
              </a:ext>
            </a:extLst>
          </p:cNvPr>
          <p:cNvSpPr/>
          <p:nvPr/>
        </p:nvSpPr>
        <p:spPr>
          <a:xfrm>
            <a:off x="3266921" y="4335953"/>
            <a:ext cx="660400" cy="5346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תרשים זרימה: החלטה 4">
            <a:extLst>
              <a:ext uri="{FF2B5EF4-FFF2-40B4-BE49-F238E27FC236}">
                <a16:creationId xmlns:a16="http://schemas.microsoft.com/office/drawing/2014/main" id="{CD7445F6-0AE5-423B-A124-2EB5258D3B93}"/>
              </a:ext>
            </a:extLst>
          </p:cNvPr>
          <p:cNvSpPr/>
          <p:nvPr/>
        </p:nvSpPr>
        <p:spPr>
          <a:xfrm>
            <a:off x="2279668" y="3322320"/>
            <a:ext cx="2651835" cy="1138579"/>
          </a:xfrm>
          <a:prstGeom prst="flowChartDecisi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אלגוריתם סיווג</a:t>
            </a:r>
            <a:endParaRPr lang="en-IL" dirty="0"/>
          </a:p>
        </p:txBody>
      </p:sp>
      <p:sp>
        <p:nvSpPr>
          <p:cNvPr id="6" name="מגילה: אופקית 5">
            <a:extLst>
              <a:ext uri="{FF2B5EF4-FFF2-40B4-BE49-F238E27FC236}">
                <a16:creationId xmlns:a16="http://schemas.microsoft.com/office/drawing/2014/main" id="{3388D414-2735-46F3-8624-1EF7F69C3443}"/>
              </a:ext>
            </a:extLst>
          </p:cNvPr>
          <p:cNvSpPr/>
          <p:nvPr/>
        </p:nvSpPr>
        <p:spPr>
          <a:xfrm>
            <a:off x="2076597" y="1654244"/>
            <a:ext cx="1840089" cy="1331248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אימון</a:t>
            </a:r>
            <a:endParaRPr lang="en-IL" dirty="0"/>
          </a:p>
        </p:txBody>
      </p:sp>
      <p:sp>
        <p:nvSpPr>
          <p:cNvPr id="8" name="חץ: ימינה 7">
            <a:extLst>
              <a:ext uri="{FF2B5EF4-FFF2-40B4-BE49-F238E27FC236}">
                <a16:creationId xmlns:a16="http://schemas.microsoft.com/office/drawing/2014/main" id="{7961734D-36E0-4555-AAAE-FBD1B0C58952}"/>
              </a:ext>
            </a:extLst>
          </p:cNvPr>
          <p:cNvSpPr/>
          <p:nvPr/>
        </p:nvSpPr>
        <p:spPr>
          <a:xfrm rot="5400000">
            <a:off x="3111414" y="2403011"/>
            <a:ext cx="1724378" cy="46510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מודל</a:t>
            </a:r>
            <a:endParaRPr lang="en-IL" dirty="0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6E85E3AC-55B3-43A7-A7A1-00A72D3576ED}"/>
              </a:ext>
            </a:extLst>
          </p:cNvPr>
          <p:cNvSpPr/>
          <p:nvPr/>
        </p:nvSpPr>
        <p:spPr>
          <a:xfrm>
            <a:off x="1216119" y="4136565"/>
            <a:ext cx="926601" cy="317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4</a:t>
            </a:r>
            <a:endParaRPr lang="en-IL" dirty="0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F32B667B-9645-475C-AC7E-81A8D7AF2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35" t="37511" r="36022" b="51207"/>
          <a:stretch/>
        </p:blipFill>
        <p:spPr bwMode="auto">
          <a:xfrm>
            <a:off x="268255" y="3700299"/>
            <a:ext cx="926601" cy="103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חץ: מכופף 23">
            <a:extLst>
              <a:ext uri="{FF2B5EF4-FFF2-40B4-BE49-F238E27FC236}">
                <a16:creationId xmlns:a16="http://schemas.microsoft.com/office/drawing/2014/main" id="{F5EB84BD-950C-4536-B1D9-6D028CAB1D6B}"/>
              </a:ext>
            </a:extLst>
          </p:cNvPr>
          <p:cNvSpPr/>
          <p:nvPr/>
        </p:nvSpPr>
        <p:spPr>
          <a:xfrm>
            <a:off x="661909" y="3737642"/>
            <a:ext cx="1480811" cy="279793"/>
          </a:xfrm>
          <a:prstGeom prst="bentArrow">
            <a:avLst>
              <a:gd name="adj1" fmla="val 28026"/>
              <a:gd name="adj2" fmla="val 45174"/>
              <a:gd name="adj3" fmla="val 50000"/>
              <a:gd name="adj4" fmla="val 4375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C709D5AD-3772-4E1B-BDA2-D99035C42CDD}"/>
              </a:ext>
            </a:extLst>
          </p:cNvPr>
          <p:cNvSpPr/>
          <p:nvPr/>
        </p:nvSpPr>
        <p:spPr>
          <a:xfrm>
            <a:off x="3142338" y="5170829"/>
            <a:ext cx="926601" cy="31713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4</a:t>
            </a:r>
            <a:endParaRPr lang="en-IL" dirty="0"/>
          </a:p>
        </p:txBody>
      </p:sp>
      <p:sp>
        <p:nvSpPr>
          <p:cNvPr id="28" name="חץ: ימינה 27">
            <a:extLst>
              <a:ext uri="{FF2B5EF4-FFF2-40B4-BE49-F238E27FC236}">
                <a16:creationId xmlns:a16="http://schemas.microsoft.com/office/drawing/2014/main" id="{A5AE589B-8382-48AE-BB1C-FCDD91D557E0}"/>
              </a:ext>
            </a:extLst>
          </p:cNvPr>
          <p:cNvSpPr/>
          <p:nvPr/>
        </p:nvSpPr>
        <p:spPr>
          <a:xfrm>
            <a:off x="2076597" y="5250353"/>
            <a:ext cx="1065741" cy="23761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9" name="חץ: ימינה 28">
            <a:extLst>
              <a:ext uri="{FF2B5EF4-FFF2-40B4-BE49-F238E27FC236}">
                <a16:creationId xmlns:a16="http://schemas.microsoft.com/office/drawing/2014/main" id="{14219C51-40AF-4194-9A5E-196A35FFC4EC}"/>
              </a:ext>
            </a:extLst>
          </p:cNvPr>
          <p:cNvSpPr/>
          <p:nvPr/>
        </p:nvSpPr>
        <p:spPr>
          <a:xfrm rot="16200000">
            <a:off x="1188256" y="4869882"/>
            <a:ext cx="1065741" cy="23761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אליפסה 26">
            <a:extLst>
              <a:ext uri="{FF2B5EF4-FFF2-40B4-BE49-F238E27FC236}">
                <a16:creationId xmlns:a16="http://schemas.microsoft.com/office/drawing/2014/main" id="{F99FE927-F2EC-4292-A71E-3854D4F5DC1C}"/>
              </a:ext>
            </a:extLst>
          </p:cNvPr>
          <p:cNvSpPr/>
          <p:nvPr/>
        </p:nvSpPr>
        <p:spPr>
          <a:xfrm>
            <a:off x="1431520" y="5033573"/>
            <a:ext cx="711200" cy="64435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=?</a:t>
            </a:r>
            <a:endParaRPr lang="en-IL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D0E1C6-C264-4BEB-87B2-A8C9AEFD2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920" y="1825625"/>
            <a:ext cx="7087851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השוואת תוצאות החיזוי עם תגיות האמת </a:t>
            </a:r>
            <a:r>
              <a:rPr lang="he-IL"/>
              <a:t>של דוגמאות שלא השתתפו בתהליך האימון (למידה)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8D4DE-D95B-4A20-8EA8-22046E7914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השיטה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2225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D7A4BC-EB4D-4A95-B2EF-35A08CFF1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0890" y="1825625"/>
            <a:ext cx="5770880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תצוגה מפורטת של </a:t>
            </a:r>
            <a:r>
              <a:rPr lang="he-IL"/>
              <a:t>שגיאות המסווג, 3 מחלקות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2D54B-CBBD-4DB9-8DBE-2EA6D47A6A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IL" dirty="0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4BD74F41-DD17-7264-4B88-88E422A68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98" y="3429000"/>
            <a:ext cx="3534268" cy="2143424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050053B0-D5CF-CCF9-17DC-1EF71E1E6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95" y="578955"/>
            <a:ext cx="5412268" cy="477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81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D7A4BC-EB4D-4A95-B2EF-35A08CFF1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0890" y="1825625"/>
            <a:ext cx="5770880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תצוגה מפורטת של </a:t>
            </a:r>
            <a:r>
              <a:rPr lang="he-IL"/>
              <a:t>שגיאות המסווג, 3 מחלקות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2D54B-CBBD-4DB9-8DBE-2EA6D47A6A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C81A836-5057-8CED-3B7B-59F6AF937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33" y="669630"/>
            <a:ext cx="5963482" cy="5134692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EF4108C9-C871-7F45-7A70-9A14B9074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608" y="3236976"/>
            <a:ext cx="4489372" cy="185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6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B758AC2-26D8-45D2-9E5E-CE169A9A19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מטריצת בלבול </a:t>
            </a:r>
            <a:r>
              <a:rPr lang="he-IL" dirty="0"/>
              <a:t>– </a:t>
            </a:r>
            <a:r>
              <a:rPr lang="he-IL"/>
              <a:t>זיהוי קורונה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73E150-AD25-42A3-9681-6824D0991377}"/>
              </a:ext>
            </a:extLst>
          </p:cNvPr>
          <p:cNvSpPr/>
          <p:nvPr/>
        </p:nvSpPr>
        <p:spPr>
          <a:xfrm>
            <a:off x="1277919" y="1544307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חזוי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6AE26E-7356-4F6F-8A1D-0C3BBB453E7B}"/>
              </a:ext>
            </a:extLst>
          </p:cNvPr>
          <p:cNvSpPr/>
          <p:nvPr/>
        </p:nvSpPr>
        <p:spPr>
          <a:xfrm>
            <a:off x="1277919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חולה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AEBB50-2834-4AC8-B885-AB6C54889316}"/>
              </a:ext>
            </a:extLst>
          </p:cNvPr>
          <p:cNvSpPr/>
          <p:nvPr/>
        </p:nvSpPr>
        <p:spPr>
          <a:xfrm>
            <a:off x="2834336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בריא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2ADF1-CBD3-4223-9E78-4C978C4DB314}"/>
              </a:ext>
            </a:extLst>
          </p:cNvPr>
          <p:cNvSpPr/>
          <p:nvPr/>
        </p:nvSpPr>
        <p:spPr>
          <a:xfrm rot="16200000">
            <a:off x="-906190" y="3742228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אמת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0FF72-31E9-4400-A974-D430501CB20B}"/>
              </a:ext>
            </a:extLst>
          </p:cNvPr>
          <p:cNvSpPr/>
          <p:nvPr/>
        </p:nvSpPr>
        <p:spPr>
          <a:xfrm rot="16200000">
            <a:off x="291298" y="2969286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חולה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630E10-DBDF-4385-B2D3-62FD64384AE2}"/>
              </a:ext>
            </a:extLst>
          </p:cNvPr>
          <p:cNvSpPr/>
          <p:nvPr/>
        </p:nvSpPr>
        <p:spPr>
          <a:xfrm rot="16200000">
            <a:off x="293041" y="4506068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בריא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91DA6E-03FF-42A9-945A-9628CB43290A}"/>
              </a:ext>
            </a:extLst>
          </p:cNvPr>
          <p:cNvSpPr/>
          <p:nvPr/>
        </p:nvSpPr>
        <p:spPr>
          <a:xfrm>
            <a:off x="1286336" y="2403005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5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2C074E-C5D3-4076-B4F6-63287A86BA07}"/>
              </a:ext>
            </a:extLst>
          </p:cNvPr>
          <p:cNvSpPr/>
          <p:nvPr/>
        </p:nvSpPr>
        <p:spPr>
          <a:xfrm>
            <a:off x="2842753" y="3948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970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2C8946-8DCC-4FE5-BD68-F19B5F712EFA}"/>
              </a:ext>
            </a:extLst>
          </p:cNvPr>
          <p:cNvSpPr/>
          <p:nvPr/>
        </p:nvSpPr>
        <p:spPr>
          <a:xfrm>
            <a:off x="2842753" y="2400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15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9EEADD-7333-4A25-B640-D2411351AD10}"/>
              </a:ext>
            </a:extLst>
          </p:cNvPr>
          <p:cNvSpPr/>
          <p:nvPr/>
        </p:nvSpPr>
        <p:spPr>
          <a:xfrm>
            <a:off x="1286336" y="3948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10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7934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B758AC2-26D8-45D2-9E5E-CE169A9A19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מדד </a:t>
            </a:r>
            <a:r>
              <a:rPr lang="en-US"/>
              <a:t>Accuracy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48A5C-CC3A-41CA-BBBE-A3595BA902CA}"/>
              </a:ext>
            </a:extLst>
          </p:cNvPr>
          <p:cNvSpPr/>
          <p:nvPr/>
        </p:nvSpPr>
        <p:spPr>
          <a:xfrm>
            <a:off x="1277919" y="1544307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חזוי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D259B-C91F-4A70-A2CD-3DDB8C5673AF}"/>
              </a:ext>
            </a:extLst>
          </p:cNvPr>
          <p:cNvSpPr/>
          <p:nvPr/>
        </p:nvSpPr>
        <p:spPr>
          <a:xfrm>
            <a:off x="1277919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חולה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2615C-C0C9-4B2B-B1E5-7A823F8FCF34}"/>
              </a:ext>
            </a:extLst>
          </p:cNvPr>
          <p:cNvSpPr/>
          <p:nvPr/>
        </p:nvSpPr>
        <p:spPr>
          <a:xfrm>
            <a:off x="2834336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בריא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25AD89-172B-480E-9E31-3672BFE06822}"/>
              </a:ext>
            </a:extLst>
          </p:cNvPr>
          <p:cNvSpPr/>
          <p:nvPr/>
        </p:nvSpPr>
        <p:spPr>
          <a:xfrm rot="16200000">
            <a:off x="-906190" y="3742228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אמת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77E83-11DA-4524-A547-09F7FE636A27}"/>
              </a:ext>
            </a:extLst>
          </p:cNvPr>
          <p:cNvSpPr/>
          <p:nvPr/>
        </p:nvSpPr>
        <p:spPr>
          <a:xfrm rot="16200000">
            <a:off x="291298" y="2969286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חולה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AA382-6AAF-4BFF-97BE-D9380FBFBC47}"/>
              </a:ext>
            </a:extLst>
          </p:cNvPr>
          <p:cNvSpPr/>
          <p:nvPr/>
        </p:nvSpPr>
        <p:spPr>
          <a:xfrm rot="16200000">
            <a:off x="293041" y="4506068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בריא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13C9AE-4DE9-4741-9466-39DF766A21FE}"/>
              </a:ext>
            </a:extLst>
          </p:cNvPr>
          <p:cNvSpPr/>
          <p:nvPr/>
        </p:nvSpPr>
        <p:spPr>
          <a:xfrm>
            <a:off x="1286336" y="2403005"/>
            <a:ext cx="1548000" cy="154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5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BD5055-1353-49C7-B38B-CAA775C2FFC3}"/>
              </a:ext>
            </a:extLst>
          </p:cNvPr>
          <p:cNvSpPr/>
          <p:nvPr/>
        </p:nvSpPr>
        <p:spPr>
          <a:xfrm>
            <a:off x="2842753" y="3948068"/>
            <a:ext cx="1548000" cy="154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970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72E536-823A-48A9-84F1-C01B91DED245}"/>
              </a:ext>
            </a:extLst>
          </p:cNvPr>
          <p:cNvSpPr/>
          <p:nvPr/>
        </p:nvSpPr>
        <p:spPr>
          <a:xfrm>
            <a:off x="2842753" y="2400068"/>
            <a:ext cx="1548000" cy="154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15</a:t>
            </a:r>
            <a:endParaRPr lang="en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07436A-3547-4754-85EA-1F009507E958}"/>
              </a:ext>
            </a:extLst>
          </p:cNvPr>
          <p:cNvSpPr/>
          <p:nvPr/>
        </p:nvSpPr>
        <p:spPr>
          <a:xfrm>
            <a:off x="1286336" y="3948068"/>
            <a:ext cx="1548000" cy="154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r>
              <a:rPr lang="he-IL"/>
              <a:t>0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165C2D-DC5E-4669-AB98-363C4F3CADBD}"/>
                  </a:ext>
                </a:extLst>
              </p:cNvPr>
              <p:cNvSpPr txBox="1"/>
              <p:nvPr/>
            </p:nvSpPr>
            <p:spPr>
              <a:xfrm>
                <a:off x="581249" y="597990"/>
                <a:ext cx="3823034" cy="412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970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970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975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1000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165C2D-DC5E-4669-AB98-363C4F3CA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49" y="597990"/>
                <a:ext cx="3823034" cy="412677"/>
              </a:xfrm>
              <a:prstGeom prst="rect">
                <a:avLst/>
              </a:prstGeom>
              <a:blipFill>
                <a:blip r:embed="rId2"/>
                <a:stretch>
                  <a:fillRect l="-957" r="-638" b="-1323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3D799E07-C438-2E5B-1FAF-665FFC843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320" y="1700426"/>
            <a:ext cx="5218410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יחס הדגימות שסווגו </a:t>
            </a:r>
            <a:r>
              <a:rPr lang="he-IL"/>
              <a:t>נכון לכל התוויות, לסך הדגימות.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אילו בעיות יכולות להווצר בהסתמכות על מדד זה בלבד?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e-IL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449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7EC573B9-643A-41DB-A0FD-D666965F1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יתרונות: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פשוט לחישוב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פשוט להבנה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חסרונות: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המדד מטעה אם כמות התגיות לא מאוזנת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אין התייחסות </a:t>
            </a:r>
            <a:r>
              <a:rPr lang="he-IL"/>
              <a:t>למטרת החיזוי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099636D-8046-4CD0-B895-77BDC42F7B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מדד </a:t>
            </a:r>
            <a:r>
              <a:rPr lang="en-US" dirty="0"/>
              <a:t>accuracy</a:t>
            </a:r>
            <a:r>
              <a:rPr lang="he-IL" dirty="0"/>
              <a:t> - סיכום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8895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E4A46196-D6F1-4A54-9E03-DFD8E7DE2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1783299"/>
            <a:ext cx="6752570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True Positive</a:t>
            </a:r>
          </a:p>
          <a:p>
            <a:pPr lvl="1"/>
            <a:r>
              <a:rPr lang="he-IL" dirty="0"/>
              <a:t>זיהוי נכון של דוגמא חיובית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False Positive = False Alarm</a:t>
            </a:r>
            <a:endParaRPr lang="he-IL" dirty="0"/>
          </a:p>
          <a:p>
            <a:pPr lvl="1"/>
            <a:r>
              <a:rPr lang="he-IL" dirty="0"/>
              <a:t>זיהוי של דוגמא שלילית כחיובית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True Negative</a:t>
            </a:r>
            <a:endParaRPr lang="he-IL" dirty="0"/>
          </a:p>
          <a:p>
            <a:pPr lvl="1"/>
            <a:r>
              <a:rPr lang="he-IL" dirty="0"/>
              <a:t>זיהוי נכון של דוגמא שלילית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False Negative = Miss Detection</a:t>
            </a:r>
          </a:p>
          <a:p>
            <a:pPr lvl="1"/>
            <a:r>
              <a:rPr lang="he-IL" dirty="0"/>
              <a:t>זיהוי של דוגמא חיובית כשלילית</a:t>
            </a:r>
          </a:p>
          <a:p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2CC8610-EEE4-493E-AA62-3A28DEDE74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r>
              <a:rPr lang="he-IL" dirty="0"/>
              <a:t> של גלאי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6E2D9-3929-4975-9062-D62F4988983A}"/>
              </a:ext>
            </a:extLst>
          </p:cNvPr>
          <p:cNvSpPr/>
          <p:nvPr/>
        </p:nvSpPr>
        <p:spPr>
          <a:xfrm>
            <a:off x="1277919" y="1544307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Predicted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D80505-A0DB-4A3D-9E83-ADB32C447802}"/>
              </a:ext>
            </a:extLst>
          </p:cNvPr>
          <p:cNvSpPr/>
          <p:nvPr/>
        </p:nvSpPr>
        <p:spPr>
          <a:xfrm>
            <a:off x="1277919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Positive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E6769-2C5C-4C57-83EB-D6918549C394}"/>
              </a:ext>
            </a:extLst>
          </p:cNvPr>
          <p:cNvSpPr/>
          <p:nvPr/>
        </p:nvSpPr>
        <p:spPr>
          <a:xfrm>
            <a:off x="2834336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Negative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31B06-2BC2-4726-A0E6-D2D3572490BC}"/>
              </a:ext>
            </a:extLst>
          </p:cNvPr>
          <p:cNvSpPr/>
          <p:nvPr/>
        </p:nvSpPr>
        <p:spPr>
          <a:xfrm rot="16200000">
            <a:off x="-906190" y="3742228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4AA06A-9FA6-46AE-9075-D278CF6C32EA}"/>
              </a:ext>
            </a:extLst>
          </p:cNvPr>
          <p:cNvSpPr/>
          <p:nvPr/>
        </p:nvSpPr>
        <p:spPr>
          <a:xfrm rot="16200000">
            <a:off x="291298" y="2969286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Positive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B35444-DCC1-44FA-B7C1-3374C8C5C324}"/>
              </a:ext>
            </a:extLst>
          </p:cNvPr>
          <p:cNvSpPr/>
          <p:nvPr/>
        </p:nvSpPr>
        <p:spPr>
          <a:xfrm rot="16200000">
            <a:off x="293041" y="4506068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Negative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FB8188-DF50-4A52-8442-B680653B27D8}"/>
              </a:ext>
            </a:extLst>
          </p:cNvPr>
          <p:cNvSpPr/>
          <p:nvPr/>
        </p:nvSpPr>
        <p:spPr>
          <a:xfrm>
            <a:off x="1286336" y="2403005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True Positive (TP)</a:t>
            </a:r>
            <a:endParaRPr lang="en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EEB8BF-DAA3-4157-ACC8-1B6FDC412412}"/>
              </a:ext>
            </a:extLst>
          </p:cNvPr>
          <p:cNvSpPr/>
          <p:nvPr/>
        </p:nvSpPr>
        <p:spPr>
          <a:xfrm>
            <a:off x="2842753" y="3948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True Negative (TN)</a:t>
            </a:r>
            <a:endParaRPr lang="en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A9F2C5-ACD3-4FEE-A697-EF1CF49D3E9A}"/>
              </a:ext>
            </a:extLst>
          </p:cNvPr>
          <p:cNvSpPr/>
          <p:nvPr/>
        </p:nvSpPr>
        <p:spPr>
          <a:xfrm>
            <a:off x="2842753" y="2400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False Negative (FN)</a:t>
            </a:r>
            <a:endParaRPr lang="en-I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1BE74C-52A4-4BBD-A78D-1F7D9E35080C}"/>
              </a:ext>
            </a:extLst>
          </p:cNvPr>
          <p:cNvSpPr/>
          <p:nvPr/>
        </p:nvSpPr>
        <p:spPr>
          <a:xfrm>
            <a:off x="1286336" y="3948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False Positive (FP)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2621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7" grpId="0" animBg="1"/>
      <p:bldP spid="9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F6E29FB5-B0A0-44B0-A610-AF74BE464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דף עבודה בנושא </a:t>
            </a:r>
            <a:r>
              <a:rPr lang="he-IL"/>
              <a:t>מדידת ביצועים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7E0814F-9F97-4526-BB98-46A296A99C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תרגיל 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32473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B758AC2-26D8-45D2-9E5E-CE169A9A19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מדד </a:t>
            </a:r>
            <a:r>
              <a:rPr lang="en-US"/>
              <a:t>Precision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48A5C-CC3A-41CA-BBBE-A3595BA902CA}"/>
              </a:ext>
            </a:extLst>
          </p:cNvPr>
          <p:cNvSpPr/>
          <p:nvPr/>
        </p:nvSpPr>
        <p:spPr>
          <a:xfrm>
            <a:off x="1277919" y="1544307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חזוי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D259B-C91F-4A70-A2CD-3DDB8C5673AF}"/>
              </a:ext>
            </a:extLst>
          </p:cNvPr>
          <p:cNvSpPr/>
          <p:nvPr/>
        </p:nvSpPr>
        <p:spPr>
          <a:xfrm>
            <a:off x="1277919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חולה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2615C-C0C9-4B2B-B1E5-7A823F8FCF34}"/>
              </a:ext>
            </a:extLst>
          </p:cNvPr>
          <p:cNvSpPr/>
          <p:nvPr/>
        </p:nvSpPr>
        <p:spPr>
          <a:xfrm>
            <a:off x="2834336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בריא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25AD89-172B-480E-9E31-3672BFE06822}"/>
              </a:ext>
            </a:extLst>
          </p:cNvPr>
          <p:cNvSpPr/>
          <p:nvPr/>
        </p:nvSpPr>
        <p:spPr>
          <a:xfrm rot="16200000">
            <a:off x="-906190" y="3742228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אמת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77E83-11DA-4524-A547-09F7FE636A27}"/>
              </a:ext>
            </a:extLst>
          </p:cNvPr>
          <p:cNvSpPr/>
          <p:nvPr/>
        </p:nvSpPr>
        <p:spPr>
          <a:xfrm rot="16200000">
            <a:off x="291298" y="2969286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חולה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AA382-6AAF-4BFF-97BE-D9380FBFBC47}"/>
              </a:ext>
            </a:extLst>
          </p:cNvPr>
          <p:cNvSpPr/>
          <p:nvPr/>
        </p:nvSpPr>
        <p:spPr>
          <a:xfrm rot="16200000">
            <a:off x="293041" y="4506068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בריא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13C9AE-4DE9-4741-9466-39DF766A21FE}"/>
              </a:ext>
            </a:extLst>
          </p:cNvPr>
          <p:cNvSpPr/>
          <p:nvPr/>
        </p:nvSpPr>
        <p:spPr>
          <a:xfrm>
            <a:off x="1286336" y="2403005"/>
            <a:ext cx="1548000" cy="154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5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BD5055-1353-49C7-B38B-CAA775C2FFC3}"/>
              </a:ext>
            </a:extLst>
          </p:cNvPr>
          <p:cNvSpPr/>
          <p:nvPr/>
        </p:nvSpPr>
        <p:spPr>
          <a:xfrm>
            <a:off x="2842753" y="3948068"/>
            <a:ext cx="1548000" cy="154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970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72E536-823A-48A9-84F1-C01B91DED245}"/>
              </a:ext>
            </a:extLst>
          </p:cNvPr>
          <p:cNvSpPr/>
          <p:nvPr/>
        </p:nvSpPr>
        <p:spPr>
          <a:xfrm>
            <a:off x="2842753" y="2400068"/>
            <a:ext cx="1548000" cy="154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15</a:t>
            </a:r>
            <a:endParaRPr lang="en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07436A-3547-4754-85EA-1F009507E958}"/>
              </a:ext>
            </a:extLst>
          </p:cNvPr>
          <p:cNvSpPr/>
          <p:nvPr/>
        </p:nvSpPr>
        <p:spPr>
          <a:xfrm>
            <a:off x="1286336" y="3948068"/>
            <a:ext cx="1548000" cy="154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10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165C2D-DC5E-4669-AB98-363C4F3CADBD}"/>
                  </a:ext>
                </a:extLst>
              </p:cNvPr>
              <p:cNvSpPr txBox="1"/>
              <p:nvPr/>
            </p:nvSpPr>
            <p:spPr>
              <a:xfrm>
                <a:off x="508097" y="235875"/>
                <a:ext cx="2901179" cy="397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800" b="0" i="1" smtClean="0">
                            <a:latin typeface="Cambria Math" panose="02040503050406030204" pitchFamily="18" charset="0"/>
                          </a:rPr>
                          <m:t>חולה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IL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165C2D-DC5E-4669-AB98-363C4F3CA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97" y="235875"/>
                <a:ext cx="2901179" cy="397353"/>
              </a:xfrm>
              <a:prstGeom prst="rect">
                <a:avLst/>
              </a:prstGeom>
              <a:blipFill>
                <a:blip r:embed="rId2"/>
                <a:stretch>
                  <a:fillRect l="-2941" t="-6154" r="-1050" b="-1846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3D799E07-C438-2E5B-1FAF-665FFC843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320" y="1700426"/>
            <a:ext cx="5218410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יחס הדגימות שסווגו נכון לתווית, לסך החיזויים השייכים לתווית.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מחושב על פני העמודות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6">
                <a:extLst>
                  <a:ext uri="{FF2B5EF4-FFF2-40B4-BE49-F238E27FC236}">
                    <a16:creationId xmlns:a16="http://schemas.microsoft.com/office/drawing/2014/main" id="{D317123C-D424-1B28-3FF2-EBC1F96772F4}"/>
                  </a:ext>
                </a:extLst>
              </p:cNvPr>
              <p:cNvSpPr txBox="1"/>
              <p:nvPr/>
            </p:nvSpPr>
            <p:spPr>
              <a:xfrm>
                <a:off x="508096" y="725696"/>
                <a:ext cx="3172087" cy="393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800" b="0" i="1" smtClean="0">
                            <a:latin typeface="Cambria Math" panose="02040503050406030204" pitchFamily="18" charset="0"/>
                          </a:rPr>
                          <m:t>בריא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970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970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970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985</m:t>
                        </m:r>
                      </m:den>
                    </m:f>
                  </m:oMath>
                </a14:m>
                <a:endParaRPr lang="en-IL" sz="1800" dirty="0"/>
              </a:p>
            </p:txBody>
          </p:sp>
        </mc:Choice>
        <mc:Fallback xmlns="">
          <p:sp>
            <p:nvSpPr>
              <p:cNvPr id="4" name="TextBox 16">
                <a:extLst>
                  <a:ext uri="{FF2B5EF4-FFF2-40B4-BE49-F238E27FC236}">
                    <a16:creationId xmlns:a16="http://schemas.microsoft.com/office/drawing/2014/main" id="{D317123C-D424-1B28-3FF2-EBC1F9677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96" y="725696"/>
                <a:ext cx="3172087" cy="393441"/>
              </a:xfrm>
              <a:prstGeom prst="rect">
                <a:avLst/>
              </a:prstGeom>
              <a:blipFill>
                <a:blip r:embed="rId3"/>
                <a:stretch>
                  <a:fillRect l="-2687" t="-6154" r="-768" b="-2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88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B758AC2-26D8-45D2-9E5E-CE169A9A19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מדד </a:t>
            </a:r>
            <a:r>
              <a:rPr lang="en-US"/>
              <a:t>Recall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48A5C-CC3A-41CA-BBBE-A3595BA902CA}"/>
              </a:ext>
            </a:extLst>
          </p:cNvPr>
          <p:cNvSpPr/>
          <p:nvPr/>
        </p:nvSpPr>
        <p:spPr>
          <a:xfrm>
            <a:off x="1277919" y="1544307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חזוי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D259B-C91F-4A70-A2CD-3DDB8C5673AF}"/>
              </a:ext>
            </a:extLst>
          </p:cNvPr>
          <p:cNvSpPr/>
          <p:nvPr/>
        </p:nvSpPr>
        <p:spPr>
          <a:xfrm>
            <a:off x="1277919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חולה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2615C-C0C9-4B2B-B1E5-7A823F8FCF34}"/>
              </a:ext>
            </a:extLst>
          </p:cNvPr>
          <p:cNvSpPr/>
          <p:nvPr/>
        </p:nvSpPr>
        <p:spPr>
          <a:xfrm>
            <a:off x="2834336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בריא</a:t>
            </a:r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25AD89-172B-480E-9E31-3672BFE06822}"/>
              </a:ext>
            </a:extLst>
          </p:cNvPr>
          <p:cNvSpPr/>
          <p:nvPr/>
        </p:nvSpPr>
        <p:spPr>
          <a:xfrm rot="16200000">
            <a:off x="-906190" y="3742228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אמת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77E83-11DA-4524-A547-09F7FE636A27}"/>
              </a:ext>
            </a:extLst>
          </p:cNvPr>
          <p:cNvSpPr/>
          <p:nvPr/>
        </p:nvSpPr>
        <p:spPr>
          <a:xfrm rot="16200000">
            <a:off x="291298" y="2969286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חולה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AA382-6AAF-4BFF-97BE-D9380FBFBC47}"/>
              </a:ext>
            </a:extLst>
          </p:cNvPr>
          <p:cNvSpPr/>
          <p:nvPr/>
        </p:nvSpPr>
        <p:spPr>
          <a:xfrm rot="16200000">
            <a:off x="293041" y="4506068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/>
              <a:t>בריא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13C9AE-4DE9-4741-9466-39DF766A21FE}"/>
              </a:ext>
            </a:extLst>
          </p:cNvPr>
          <p:cNvSpPr/>
          <p:nvPr/>
        </p:nvSpPr>
        <p:spPr>
          <a:xfrm>
            <a:off x="1286336" y="2403005"/>
            <a:ext cx="1548000" cy="154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5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BD5055-1353-49C7-B38B-CAA775C2FFC3}"/>
              </a:ext>
            </a:extLst>
          </p:cNvPr>
          <p:cNvSpPr/>
          <p:nvPr/>
        </p:nvSpPr>
        <p:spPr>
          <a:xfrm>
            <a:off x="2842753" y="3948068"/>
            <a:ext cx="1548000" cy="154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970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72E536-823A-48A9-84F1-C01B91DED245}"/>
              </a:ext>
            </a:extLst>
          </p:cNvPr>
          <p:cNvSpPr/>
          <p:nvPr/>
        </p:nvSpPr>
        <p:spPr>
          <a:xfrm>
            <a:off x="2842753" y="2400068"/>
            <a:ext cx="1548000" cy="154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15</a:t>
            </a:r>
            <a:endParaRPr lang="en-I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07436A-3547-4754-85EA-1F009507E958}"/>
              </a:ext>
            </a:extLst>
          </p:cNvPr>
          <p:cNvSpPr/>
          <p:nvPr/>
        </p:nvSpPr>
        <p:spPr>
          <a:xfrm>
            <a:off x="1286336" y="3948068"/>
            <a:ext cx="1548000" cy="154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/>
              <a:t>10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165C2D-DC5E-4669-AB98-363C4F3CADBD}"/>
                  </a:ext>
                </a:extLst>
              </p:cNvPr>
              <p:cNvSpPr txBox="1"/>
              <p:nvPr/>
            </p:nvSpPr>
            <p:spPr>
              <a:xfrm>
                <a:off x="508097" y="235875"/>
                <a:ext cx="2561470" cy="397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𝑅𝑒𝑐𝑎𝑙𝑙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800" b="0" i="1" smtClean="0">
                            <a:latin typeface="Cambria Math" panose="02040503050406030204" pitchFamily="18" charset="0"/>
                          </a:rPr>
                          <m:t>חולה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IL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165C2D-DC5E-4669-AB98-363C4F3CA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97" y="235875"/>
                <a:ext cx="2561470" cy="397353"/>
              </a:xfrm>
              <a:prstGeom prst="rect">
                <a:avLst/>
              </a:prstGeom>
              <a:blipFill>
                <a:blip r:embed="rId2"/>
                <a:stretch>
                  <a:fillRect l="-3325" t="-6154" r="-1188" b="-1846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3D799E07-C438-2E5B-1FAF-665FFC843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320" y="1700426"/>
            <a:ext cx="5218410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יחס הדגימות שסווגו נכון לתווית לסך הדגימות השייכות לתווית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מחושב על פני השורות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6">
                <a:extLst>
                  <a:ext uri="{FF2B5EF4-FFF2-40B4-BE49-F238E27FC236}">
                    <a16:creationId xmlns:a16="http://schemas.microsoft.com/office/drawing/2014/main" id="{D317123C-D424-1B28-3FF2-EBC1F96772F4}"/>
                  </a:ext>
                </a:extLst>
              </p:cNvPr>
              <p:cNvSpPr txBox="1"/>
              <p:nvPr/>
            </p:nvSpPr>
            <p:spPr>
              <a:xfrm>
                <a:off x="508096" y="725696"/>
                <a:ext cx="2827569" cy="393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𝑅𝑒𝑐𝑎𝑙𝑙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sz="1800" b="0" i="1" smtClean="0">
                            <a:latin typeface="Cambria Math" panose="02040503050406030204" pitchFamily="18" charset="0"/>
                          </a:rPr>
                          <m:t>בריא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970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970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970</m:t>
                        </m:r>
                      </m:num>
                      <m:den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980</m:t>
                        </m:r>
                      </m:den>
                    </m:f>
                  </m:oMath>
                </a14:m>
                <a:endParaRPr lang="en-IL" sz="1800" dirty="0"/>
              </a:p>
            </p:txBody>
          </p:sp>
        </mc:Choice>
        <mc:Fallback xmlns="">
          <p:sp>
            <p:nvSpPr>
              <p:cNvPr id="4" name="TextBox 16">
                <a:extLst>
                  <a:ext uri="{FF2B5EF4-FFF2-40B4-BE49-F238E27FC236}">
                    <a16:creationId xmlns:a16="http://schemas.microsoft.com/office/drawing/2014/main" id="{D317123C-D424-1B28-3FF2-EBC1F9677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96" y="725696"/>
                <a:ext cx="2827569" cy="393441"/>
              </a:xfrm>
              <a:prstGeom prst="rect">
                <a:avLst/>
              </a:prstGeom>
              <a:blipFill>
                <a:blip r:embed="rId3"/>
                <a:stretch>
                  <a:fillRect l="-3017" t="-6154" r="-1293" b="-2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08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2D54B-CBBD-4DB9-8DBE-2EA6D47A6A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3831" y="365124"/>
            <a:ext cx="6267939" cy="1376363"/>
          </a:xfrm>
        </p:spPr>
        <p:txBody>
          <a:bodyPr>
            <a:normAutofit fontScale="92500"/>
          </a:bodyPr>
          <a:lstStyle/>
          <a:p>
            <a:r>
              <a:rPr lang="he-IL"/>
              <a:t>תרגול</a:t>
            </a:r>
            <a:br>
              <a:rPr lang="en-US"/>
            </a:br>
            <a:r>
              <a:rPr lang="en-US"/>
              <a:t>Precision and Recall</a:t>
            </a:r>
            <a:endParaRPr lang="en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C81A836-5057-8CED-3B7B-59F6AF937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27" y="1391097"/>
            <a:ext cx="4733680" cy="407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87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E4A46196-D6F1-4A54-9E03-DFD8E7DE2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1783299"/>
            <a:ext cx="6752570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זיהוי מחלות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/>
              <a:t>Recall priority: “Better safe than sorry.”</a:t>
            </a:r>
            <a:endParaRPr lang="he-IL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זיהוי מייל </a:t>
            </a:r>
            <a:r>
              <a:rPr lang="en-US"/>
              <a:t>SPAM</a:t>
            </a:r>
            <a:endParaRPr lang="he-IL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/>
              <a:t>Precision priority: “Don’t raise false alarms.”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2CC8610-EEE4-493E-AA62-3A28DEDE74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דיון </a:t>
            </a:r>
            <a:r>
              <a:rPr lang="en-US"/>
              <a:t>precision vs. recall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6E2D9-3929-4975-9062-D62F4988983A}"/>
              </a:ext>
            </a:extLst>
          </p:cNvPr>
          <p:cNvSpPr/>
          <p:nvPr/>
        </p:nvSpPr>
        <p:spPr>
          <a:xfrm>
            <a:off x="1277919" y="1544307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Predicted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D80505-A0DB-4A3D-9E83-ADB32C447802}"/>
              </a:ext>
            </a:extLst>
          </p:cNvPr>
          <p:cNvSpPr/>
          <p:nvPr/>
        </p:nvSpPr>
        <p:spPr>
          <a:xfrm>
            <a:off x="1277919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Positive</a:t>
            </a:r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E6769-2C5C-4C57-83EB-D6918549C394}"/>
              </a:ext>
            </a:extLst>
          </p:cNvPr>
          <p:cNvSpPr/>
          <p:nvPr/>
        </p:nvSpPr>
        <p:spPr>
          <a:xfrm>
            <a:off x="2834336" y="1969153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Negative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31B06-2BC2-4726-A0E6-D2D3572490BC}"/>
              </a:ext>
            </a:extLst>
          </p:cNvPr>
          <p:cNvSpPr/>
          <p:nvPr/>
        </p:nvSpPr>
        <p:spPr>
          <a:xfrm rot="16200000">
            <a:off x="-906190" y="3742228"/>
            <a:ext cx="3096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  <a:endParaRPr lang="en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4AA06A-9FA6-46AE-9075-D278CF6C32EA}"/>
              </a:ext>
            </a:extLst>
          </p:cNvPr>
          <p:cNvSpPr/>
          <p:nvPr/>
        </p:nvSpPr>
        <p:spPr>
          <a:xfrm rot="16200000">
            <a:off x="291298" y="2969286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Positive</a:t>
            </a:r>
            <a:endParaRPr lang="en-I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B35444-DCC1-44FA-B7C1-3374C8C5C324}"/>
              </a:ext>
            </a:extLst>
          </p:cNvPr>
          <p:cNvSpPr/>
          <p:nvPr/>
        </p:nvSpPr>
        <p:spPr>
          <a:xfrm rot="16200000">
            <a:off x="293041" y="4506068"/>
            <a:ext cx="1548000" cy="4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Negative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FB8188-DF50-4A52-8442-B680653B27D8}"/>
              </a:ext>
            </a:extLst>
          </p:cNvPr>
          <p:cNvSpPr/>
          <p:nvPr/>
        </p:nvSpPr>
        <p:spPr>
          <a:xfrm>
            <a:off x="1286336" y="2403005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True Positive (TP)</a:t>
            </a:r>
            <a:endParaRPr lang="en-I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EEB8BF-DAA3-4157-ACC8-1B6FDC412412}"/>
              </a:ext>
            </a:extLst>
          </p:cNvPr>
          <p:cNvSpPr/>
          <p:nvPr/>
        </p:nvSpPr>
        <p:spPr>
          <a:xfrm>
            <a:off x="2842753" y="3948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True Negative (TN)</a:t>
            </a:r>
            <a:endParaRPr lang="en-IL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A9F2C5-ACD3-4FEE-A697-EF1CF49D3E9A}"/>
              </a:ext>
            </a:extLst>
          </p:cNvPr>
          <p:cNvSpPr/>
          <p:nvPr/>
        </p:nvSpPr>
        <p:spPr>
          <a:xfrm>
            <a:off x="2842753" y="2400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False Negative (FN)</a:t>
            </a:r>
            <a:endParaRPr lang="en-I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1BE74C-52A4-4BBD-A78D-1F7D9E35080C}"/>
              </a:ext>
            </a:extLst>
          </p:cNvPr>
          <p:cNvSpPr/>
          <p:nvPr/>
        </p:nvSpPr>
        <p:spPr>
          <a:xfrm>
            <a:off x="1286336" y="3948068"/>
            <a:ext cx="1548000" cy="154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False Positive (FP)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9656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7" grpId="0" animBg="1"/>
      <p:bldP spid="9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063F28-4A2F-403E-AE2A-812B0F1B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מדד </a:t>
            </a:r>
            <a:r>
              <a:rPr lang="en-US" dirty="0"/>
              <a:t>F1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DF070DC-6F93-478B-8AF1-DBB6055CB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ממוצע (הרמוני) של מדדי ה</a:t>
            </a:r>
            <a:r>
              <a:rPr lang="en-US" dirty="0"/>
              <a:t>precision</a:t>
            </a:r>
            <a:r>
              <a:rPr lang="he-IL" dirty="0"/>
              <a:t> ו-</a:t>
            </a:r>
            <a:r>
              <a:rPr lang="en-US" dirty="0"/>
              <a:t>recall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נע </a:t>
            </a:r>
            <a:r>
              <a:rPr lang="he-IL"/>
              <a:t>בין 0-1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מדד מחמיר יותר מאשר ממוצע חשבוני וממוצע הנדסי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מקבל ערכים גבוהים רק אם: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e-IL"/>
              <a:t>גם ה-</a:t>
            </a:r>
            <a:r>
              <a:rPr lang="en-US"/>
              <a:t>precision</a:t>
            </a:r>
            <a:r>
              <a:rPr lang="he-IL"/>
              <a:t> טוב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e-IL"/>
              <a:t>גם ה-</a:t>
            </a:r>
            <a:r>
              <a:rPr lang="en-US"/>
              <a:t>recall</a:t>
            </a:r>
            <a:r>
              <a:rPr lang="he-IL"/>
              <a:t> טוב</a:t>
            </a:r>
            <a:endParaRPr lang="en-IL" dirty="0"/>
          </a:p>
        </p:txBody>
      </p:sp>
      <p:pic>
        <p:nvPicPr>
          <p:cNvPr id="4" name="Picture 8" descr="Tensorflow Precision / Recall / F1 score and Confusion matrix ...">
            <a:extLst>
              <a:ext uri="{FF2B5EF4-FFF2-40B4-BE49-F238E27FC236}">
                <a16:creationId xmlns:a16="http://schemas.microsoft.com/office/drawing/2014/main" id="{09199D79-7AC4-41FF-AC29-E4F3E3030B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87" b="39962"/>
          <a:stretch/>
        </p:blipFill>
        <p:spPr bwMode="auto">
          <a:xfrm>
            <a:off x="193040" y="1900460"/>
            <a:ext cx="3954934" cy="70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020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063F28-4A2F-403E-AE2A-812B0F1B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מדד </a:t>
            </a:r>
            <a:r>
              <a:rPr lang="en-US"/>
              <a:t>F1</a:t>
            </a:r>
            <a:r>
              <a:rPr lang="he-IL"/>
              <a:t> - דוגמה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DF070DC-6F93-478B-8AF1-DBB6055CB1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5448" y="1349123"/>
                <a:ext cx="10515600" cy="4351338"/>
              </a:xfrm>
            </p:spPr>
            <p:txBody>
              <a:bodyPr/>
              <a:lstStyle/>
              <a:p>
                <a:pPr marL="457200" indent="-457200" algn="l" rtl="0">
                  <a:buFont typeface="Arial" panose="020B0604020202020204" pitchFamily="34" charset="0"/>
                  <a:buChar char="•"/>
                </a:pPr>
                <a:r>
                  <a:rPr lang="en-US"/>
                  <a:t>Precision = 0.1, recall = 0.9</a:t>
                </a:r>
              </a:p>
              <a:p>
                <a:pPr marL="457200" indent="-457200" algn="l" rtl="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457200" indent="-457200" algn="l" rtl="0">
                  <a:buFont typeface="Arial" panose="020B0604020202020204" pitchFamily="34" charset="0"/>
                  <a:buChar char="•"/>
                </a:pPr>
                <a:r>
                  <a:rPr lang="he-IL"/>
                  <a:t>ממוצע חשבוני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b="0"/>
              </a:p>
              <a:p>
                <a:pPr marL="457200" indent="-457200" algn="l" rtl="0">
                  <a:buFont typeface="Arial" panose="020B0604020202020204" pitchFamily="34" charset="0"/>
                  <a:buChar char="•"/>
                </a:pPr>
                <a:endParaRPr lang="en-US" b="0"/>
              </a:p>
              <a:p>
                <a:pPr marL="457200" indent="-457200" algn="l" rtl="0">
                  <a:buFont typeface="Arial" panose="020B0604020202020204" pitchFamily="34" charset="0"/>
                  <a:buChar char="•"/>
                </a:pPr>
                <a:r>
                  <a:rPr lang="he-IL" b="0"/>
                  <a:t>ממוצע הנדסי</a:t>
                </a:r>
                <a:r>
                  <a:rPr lang="en-US" b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09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b="0"/>
              </a:p>
              <a:p>
                <a:pPr marL="457200" indent="-457200" algn="l" rtl="0">
                  <a:buFont typeface="Arial" panose="020B0604020202020204" pitchFamily="34" charset="0"/>
                  <a:buChar char="•"/>
                </a:pPr>
                <a:endParaRPr lang="en-US" b="0"/>
              </a:p>
              <a:p>
                <a:pPr marL="457200" indent="-457200" algn="l" rtl="0">
                  <a:buFont typeface="Arial" panose="020B0604020202020204" pitchFamily="34" charset="0"/>
                  <a:buChar char="•"/>
                </a:pPr>
                <a:r>
                  <a:rPr lang="he-IL"/>
                  <a:t>ממוצע הרמוני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lang="en-US" b="0"/>
              </a:p>
              <a:p>
                <a:pPr marL="457200" indent="-457200" algn="l" rtl="0">
                  <a:buFont typeface="Arial" panose="020B0604020202020204" pitchFamily="34" charset="0"/>
                  <a:buChar char="•"/>
                </a:pPr>
                <a:endParaRPr lang="en-IL" dirty="0"/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DF070DC-6F93-478B-8AF1-DBB6055CB1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5448" y="1349123"/>
                <a:ext cx="10515600" cy="4351338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224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5d5d435e8_0_5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00" cy="378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spcBef>
                <a:spcPts val="1000"/>
              </a:spcBef>
              <a:spcAft>
                <a:spcPts val="0"/>
              </a:spcAft>
              <a:buNone/>
            </a:pPr>
            <a:r>
              <a:rPr lang="iw-IL" dirty="0"/>
              <a:t>מדד Accuracy</a:t>
            </a:r>
            <a:r>
              <a:rPr lang="he-IL"/>
              <a:t>: יחס הדגימות שסווגו נכון לכל התוויות, לסך הדגימות.</a:t>
            </a:r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None/>
            </a:pPr>
            <a:r>
              <a:rPr lang="he-IL">
                <a:solidFill>
                  <a:schemeClr val="accent1">
                    <a:lumMod val="75000"/>
                  </a:schemeClr>
                </a:solidFill>
              </a:rPr>
              <a:t>אחד לכל הטבלה.</a:t>
            </a:r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מדד Precision</a:t>
            </a:r>
            <a:r>
              <a:rPr lang="he-IL"/>
              <a:t>: יחס הדגימות שסווגו נכון לתווית, לסך החיזויים השייכים לתווית. </a:t>
            </a:r>
            <a:r>
              <a:rPr lang="he-IL">
                <a:solidFill>
                  <a:srgbClr val="92D050"/>
                </a:solidFill>
              </a:rPr>
              <a:t>אחד לכל תווית, מחושב על פני העמודות.</a:t>
            </a:r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מדד Recall</a:t>
            </a:r>
            <a:r>
              <a:rPr lang="he-IL"/>
              <a:t>: יחס הדגימות שסווגו נכון לתווית לסך הדגימות השייכות לתווית. </a:t>
            </a:r>
            <a:r>
              <a:rPr lang="he-IL">
                <a:solidFill>
                  <a:srgbClr val="92D050"/>
                </a:solidFill>
              </a:rPr>
              <a:t>אחד לכל תווית, מחושב על פני השורות.</a:t>
            </a:r>
          </a:p>
          <a:p>
            <a:pPr marL="0" lvl="0" indent="0" algn="r" rtl="1"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מדד </a:t>
            </a:r>
            <a:r>
              <a:rPr lang="iw-IL" dirty="0"/>
              <a:t>F1</a:t>
            </a:r>
            <a:r>
              <a:rPr lang="he-IL" dirty="0"/>
              <a:t>: </a:t>
            </a:r>
            <a:r>
              <a:rPr lang="iw-IL" dirty="0"/>
              <a:t>ממוצע הרמוני של Precision</a:t>
            </a:r>
            <a:r>
              <a:rPr lang="iw-IL"/>
              <a:t>, Recall</a:t>
            </a:r>
            <a:r>
              <a:rPr lang="he-IL"/>
              <a:t>. </a:t>
            </a:r>
            <a:r>
              <a:rPr lang="he-IL">
                <a:solidFill>
                  <a:srgbClr val="92D050"/>
                </a:solidFill>
              </a:rPr>
              <a:t>אחד לכל תווית.</a:t>
            </a:r>
            <a:endParaRPr dirty="0">
              <a:solidFill>
                <a:srgbClr val="92D050"/>
              </a:solidFill>
            </a:endParaRPr>
          </a:p>
        </p:txBody>
      </p:sp>
      <p:sp>
        <p:nvSpPr>
          <p:cNvPr id="115" name="Google Shape;115;ge5d5d435e8_0_5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00" cy="1376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1000"/>
              </a:spcBef>
              <a:spcAft>
                <a:spcPts val="0"/>
              </a:spcAft>
              <a:buNone/>
            </a:pPr>
            <a:r>
              <a:rPr lang="he-IL" dirty="0"/>
              <a:t>סיכום ה</a:t>
            </a:r>
            <a:r>
              <a:rPr lang="iw-IL" dirty="0"/>
              <a:t>מדדים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F6E29FB5-B0A0-44B0-A610-AF74BE464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דף עבודה בנושא </a:t>
            </a:r>
            <a:r>
              <a:rPr lang="he-IL"/>
              <a:t>מדידת ביצועים של זיהוי חולי סרטן, אריות ונמרים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7E0814F-9F97-4526-BB98-46A296A99C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תרגיל 2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07032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F6E29FB5-B0A0-44B0-A610-AF74BE464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דף עבודה </a:t>
            </a:r>
            <a:r>
              <a:rPr lang="he-IL"/>
              <a:t>בנושא מדידת ביצועים של זיהוי חתולים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7E0814F-9F97-4526-BB98-46A296A99C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תרגיל 3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16181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הצגת Confusion Matrix </a:t>
            </a:r>
            <a:r>
              <a:rPr lang="he-IL" dirty="0"/>
              <a:t> </a:t>
            </a:r>
            <a:r>
              <a:rPr lang="iw-IL" dirty="0"/>
              <a:t>גרפי </a:t>
            </a:r>
            <a:endParaRPr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796584C-4DE3-E98D-75A6-6A3A19B0F84B}"/>
              </a:ext>
            </a:extLst>
          </p:cNvPr>
          <p:cNvSpPr txBox="1"/>
          <p:nvPr/>
        </p:nvSpPr>
        <p:spPr>
          <a:xfrm>
            <a:off x="953262" y="1374812"/>
            <a:ext cx="97452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AF00DB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sklearn.metrics </a:t>
            </a:r>
            <a:r>
              <a:rPr lang="en-US" b="0">
                <a:solidFill>
                  <a:srgbClr val="AF00DB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ConfusionMatrixDisplay</a:t>
            </a:r>
          </a:p>
          <a:p>
            <a:r>
              <a:rPr lang="en-US" b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ConfusionMatrixDisplay.from_predictions(y_true=y,y_pred=y_pred, cmap=</a:t>
            </a:r>
            <a:r>
              <a:rPr lang="en-US" b="0">
                <a:solidFill>
                  <a:srgbClr val="A31515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"Blues"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);</a:t>
            </a:r>
          </a:p>
          <a:p>
            <a:endParaRPr lang="en-US" b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D689AEE0-34C3-6ACA-F6C2-A875F365E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380" y="2013591"/>
            <a:ext cx="3608668" cy="33202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 dirty="0"/>
              <a:t>הצגת    </a:t>
            </a:r>
            <a:r>
              <a:rPr lang="iw-IL"/>
              <a:t>Classification report</a:t>
            </a:r>
            <a:endParaRPr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5021751-4686-F95A-93A3-C806AE35E645}"/>
              </a:ext>
            </a:extLst>
          </p:cNvPr>
          <p:cNvSpPr txBox="1"/>
          <p:nvPr/>
        </p:nvSpPr>
        <p:spPr>
          <a:xfrm>
            <a:off x="1655064" y="1883664"/>
            <a:ext cx="6684264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0">
                <a:solidFill>
                  <a:srgbClr val="AF00DB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sklearn.metrics </a:t>
            </a:r>
            <a:r>
              <a:rPr lang="en-US" b="0">
                <a:solidFill>
                  <a:srgbClr val="AF00DB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classification_report</a:t>
            </a:r>
          </a:p>
          <a:p>
            <a:r>
              <a:rPr lang="en-US" b="0">
                <a:solidFill>
                  <a:srgbClr val="795E26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(classification_report(y,y_pred))</a:t>
            </a:r>
          </a:p>
          <a:p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C7AEBE2-C24C-FEA3-FD25-A0B11BB3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180" y="2764505"/>
            <a:ext cx="5430008" cy="21148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תודה על ההשתתפות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601</Words>
  <Application>Microsoft Office PowerPoint</Application>
  <PresentationFormat>מסך רחב</PresentationFormat>
  <Paragraphs>164</Paragraphs>
  <Slides>23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Courier New</vt:lpstr>
      <vt:lpstr>Tahoma</vt:lpstr>
      <vt:lpstr>TECHNION_Op3_General_Heb</vt:lpstr>
      <vt:lpstr>הערכת ביצועים של מסווג</vt:lpstr>
      <vt:lpstr>מסווג</vt:lpstr>
      <vt:lpstr>המטרה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מדד F1</vt:lpstr>
      <vt:lpstr>מדד F1 - דוגמה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בר-יצחק</cp:lastModifiedBy>
  <cp:revision>48</cp:revision>
  <dcterms:created xsi:type="dcterms:W3CDTF">2019-03-02T07:56:19Z</dcterms:created>
  <dcterms:modified xsi:type="dcterms:W3CDTF">2025-07-06T08:20:26Z</dcterms:modified>
</cp:coreProperties>
</file>