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595" r:id="rId3"/>
    <p:sldId id="591" r:id="rId4"/>
    <p:sldId id="291" r:id="rId5"/>
    <p:sldId id="611" r:id="rId6"/>
    <p:sldId id="590" r:id="rId7"/>
    <p:sldId id="596" r:id="rId8"/>
    <p:sldId id="582" r:id="rId9"/>
    <p:sldId id="589" r:id="rId10"/>
    <p:sldId id="633" r:id="rId11"/>
    <p:sldId id="609" r:id="rId12"/>
    <p:sldId id="634" r:id="rId13"/>
    <p:sldId id="618" r:id="rId14"/>
    <p:sldId id="632" r:id="rId15"/>
    <p:sldId id="583" r:id="rId16"/>
    <p:sldId id="290" r:id="rId17"/>
    <p:sldId id="292" r:id="rId18"/>
    <p:sldId id="588" r:id="rId19"/>
    <p:sldId id="598" r:id="rId20"/>
    <p:sldId id="603" r:id="rId21"/>
    <p:sldId id="601" r:id="rId22"/>
    <p:sldId id="602" r:id="rId23"/>
    <p:sldId id="289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hiaHRW9scVpVHOt7LlZiKDVEm5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8E25D-6658-4D9B-876C-8C97E927BF0F}">
  <a:tblStyle styleId="{1778E25D-6658-4D9B-876C-8C97E927BF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900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4173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9393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3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1_כותרת ותוכן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4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7"/>
          <p:cNvSpPr txBox="1">
            <a:spLocks noGrp="1"/>
          </p:cNvSpPr>
          <p:nvPr>
            <p:ph type="body" idx="1"/>
          </p:nvPr>
        </p:nvSpPr>
        <p:spPr>
          <a:xfrm>
            <a:off x="6209302" y="1772261"/>
            <a:ext cx="5418667" cy="321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/>
            </a:lvl1pPr>
            <a:lvl2pPr marL="914400" marR="0" lvl="1" indent="-495300" algn="r" rt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4200"/>
              <a:buFont typeface="Arial"/>
              <a:buChar char="•"/>
              <a:defRPr sz="2800" b="0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>
            <a:spLocks noGrp="1"/>
          </p:cNvSpPr>
          <p:nvPr>
            <p:ph type="pic" idx="2"/>
          </p:nvPr>
        </p:nvSpPr>
        <p:spPr>
          <a:xfrm>
            <a:off x="246185" y="211014"/>
            <a:ext cx="5399088" cy="545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3"/>
          </p:nvPr>
        </p:nvSpPr>
        <p:spPr>
          <a:xfrm>
            <a:off x="6209302" y="525463"/>
            <a:ext cx="5419136" cy="1134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>
  <p:cSld name="שני תכנים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8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5668107" cy="382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609570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8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>
  <p:cSld name="השוואה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69278" y="1681163"/>
            <a:ext cx="56282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369278" y="2505075"/>
            <a:ext cx="5628298" cy="31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60957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609570" cy="3156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body" idx="5"/>
          </p:nvPr>
        </p:nvSpPr>
        <p:spPr>
          <a:xfrm>
            <a:off x="369277" y="365124"/>
            <a:ext cx="11412493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9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>
  <p:cSld name="כותרת בלבד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0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1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eature_(machine_learning)" TargetMode="External"/><Relationship Id="rId2" Type="http://schemas.openxmlformats.org/officeDocument/2006/relationships/hyperlink" Target="https://en.wikipedia.org/wiki/Domain_knowledg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Data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ux2T647yMwJokngvvJSIsbutsnkblJal?usp=sharing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S-ZAZ8mEUBGyWfcwUA629MTPqwFTq9lY?usp=sharing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hivam2503/diamonds?authuser=1" TargetMode="External"/><Relationship Id="rId2" Type="http://schemas.openxmlformats.org/officeDocument/2006/relationships/hyperlink" Target="https://colab.research.google.com/drive/1K34GVayLrAPj5Z5p9VPYeoVbwtWkmVwq?usp=drive_link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תהליך הכנת הנתונים </a:t>
            </a:r>
            <a:br>
              <a:rPr lang="he-IL"/>
            </a:br>
            <a:r>
              <a:rPr lang="he-IL"/>
              <a:t>חלק ב'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קורלציות בין משתנים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8897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6D6E0-DA53-4ADB-BB01-B4318CBD202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he-IL"/>
              <a:t>קורלציות בין משתנים</a:t>
            </a:r>
            <a:endParaRPr lang="en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29388381-4EFD-D61F-6268-4D0BDD9A1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235" y="1828863"/>
            <a:ext cx="6583897" cy="46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57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6D6E0-DA53-4ADB-BB01-B4318CBD202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he-IL"/>
              <a:t>קורלציות בין משתנים</a:t>
            </a:r>
            <a:endParaRPr lang="en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8A3EFC14-6F31-4F8E-BD83-AE2D45C6D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121" y="1392428"/>
            <a:ext cx="9615373" cy="470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6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6D6E0-DA53-4ADB-BB01-B4318CBD202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0961" y="0"/>
            <a:ext cx="11430078" cy="1376363"/>
          </a:xfrm>
        </p:spPr>
        <p:txBody>
          <a:bodyPr>
            <a:normAutofit/>
          </a:bodyPr>
          <a:lstStyle/>
          <a:p>
            <a:r>
              <a:rPr lang="he-IL" dirty="0"/>
              <a:t>קורלציות בין משתנים</a:t>
            </a:r>
            <a:endParaRPr lang="en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CF7AF463-F563-4692-84D9-8F546B78C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610" y="1093417"/>
            <a:ext cx="7006871" cy="522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044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6D6E0-DA53-4ADB-BB01-B4318CBD202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0961" y="-101220"/>
            <a:ext cx="11430078" cy="1376363"/>
          </a:xfrm>
        </p:spPr>
        <p:txBody>
          <a:bodyPr>
            <a:normAutofit/>
          </a:bodyPr>
          <a:lstStyle/>
          <a:p>
            <a:r>
              <a:rPr lang="he-IL"/>
              <a:t>קורלציות בין משתנים</a:t>
            </a:r>
            <a:endParaRPr lang="en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EECE3E4B-A888-31E7-6F6B-270A291FD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73" y="987617"/>
            <a:ext cx="9737582" cy="448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3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הנדסת מאפיינים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51263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C0A949-DB3F-43F0-AAAF-2D8A7AE50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Feature engineering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the process of using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2"/>
              </a:rPr>
              <a:t>domain knowledge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to extract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Predictive modelling"/>
              </a:rPr>
              <a:t>features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from raw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4"/>
              </a:rPr>
              <a:t>data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A0EB5-5CF7-4349-A3FC-B2F8E62D35F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 dirty="0"/>
              <a:t>הנדסת מאפיינים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7B5A8-C384-4C9B-AA8E-CA4C523CA725}"/>
              </a:ext>
            </a:extLst>
          </p:cNvPr>
          <p:cNvSpPr txBox="1"/>
          <p:nvPr/>
        </p:nvSpPr>
        <p:spPr>
          <a:xfrm>
            <a:off x="6362700" y="6070699"/>
            <a:ext cx="4352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/>
              <a:t>https://en.wikipedia.org/wiki/Feature_engineering</a:t>
            </a:r>
          </a:p>
        </p:txBody>
      </p:sp>
    </p:spTree>
    <p:extLst>
      <p:ext uri="{BB962C8B-B14F-4D97-AF65-F5344CB8AC3E}">
        <p14:creationId xmlns:p14="http://schemas.microsoft.com/office/powerpoint/2010/main" val="2350158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D7AEFC-1C8D-42C0-9638-875EC8F21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הוספת והורדת משתנים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he-IL" dirty="0"/>
              <a:t>על בסיס הבנת משמעות הנתונים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he-IL" dirty="0"/>
              <a:t>על בסיס חקר הנתונים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הפיכת משתנים קטגוריאליים למספריים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he-IL" dirty="0"/>
              <a:t>עם סדר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he-IL" dirty="0"/>
              <a:t>ללא סדר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הפיכת משתנים מספריים לקטגוריאליים</a:t>
            </a:r>
            <a:endParaRPr lang="en-IL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אינטראקציות ופולינומים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6D6E0-DA53-4ADB-BB01-B4318CBD202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he-IL" dirty="0"/>
              <a:t>הנדסת מאפיינים (פרשנות מרחיבה)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06740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A539FF1-32CA-22FB-0622-9D1E0ABB55C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 dirty="0"/>
              <a:t>Diamonds dataset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3F90E7A3-F291-713C-0575-4884B7B6C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51" y="2147708"/>
            <a:ext cx="9297698" cy="2562583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2C579A49-6B85-29F1-AFD9-89645F5AD4F9}"/>
              </a:ext>
            </a:extLst>
          </p:cNvPr>
          <p:cNvSpPr txBox="1"/>
          <p:nvPr/>
        </p:nvSpPr>
        <p:spPr>
          <a:xfrm>
            <a:off x="6933537" y="6114553"/>
            <a:ext cx="464261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https://www.kaggle.com/datasets/shivam2503/diamonds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1698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0A982-436B-8433-678E-85B4598D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46F453F-306A-41D0-B1A9-97F6D6A282F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טיפול במשתנה קטגוריאלי עם סדר</a:t>
            </a:r>
            <a:endParaRPr lang="he-IL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082D00EF-95BD-5CF5-0CE6-DD68889EE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673" y="1607807"/>
            <a:ext cx="5475482" cy="1821193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A42D8416-2441-C893-859E-DE2EEEACB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73" y="3636879"/>
            <a:ext cx="6153150" cy="866775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56E55800-B83E-5CB3-086F-F2416BBEE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672" y="4797426"/>
            <a:ext cx="8736271" cy="66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241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FF09EEB-B4CC-2EE8-6A17-5265EA9278F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 dirty="0"/>
              <a:t>Titanic Dataset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9939D32C-A85C-9F87-0994-A9022309E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2104840"/>
            <a:ext cx="11345858" cy="2648320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E6E98B4-4493-DD31-07E9-D280ACF7CC79}"/>
              </a:ext>
            </a:extLst>
          </p:cNvPr>
          <p:cNvSpPr txBox="1"/>
          <p:nvPr/>
        </p:nvSpPr>
        <p:spPr>
          <a:xfrm>
            <a:off x="6520070" y="6082748"/>
            <a:ext cx="5049078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https://www.kaggle.com/datasets/yasserh/titanic-dataset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55964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57F2-52A6-726A-B820-CA873EAB2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7FE1B89-7D16-9133-F72B-4284D88D2F0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טיפול במשתנה קטגוריאלי ללא סדר</a:t>
            </a:r>
            <a:endParaRPr lang="he-IL" dirty="0"/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A812FBB2-6C92-78BA-28F9-DAF5223AE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68" y="1669799"/>
            <a:ext cx="4649920" cy="396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0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D50D5-709A-0395-039F-B2FC15DB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8AC3B1E-3F99-557D-EB09-45BDB1492A9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טיפול במשתנה קטגוריאלי ללא סדר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47549EF-5B03-8D2D-5957-BD1E2BE08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130737"/>
            <a:ext cx="10853928" cy="214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22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7DF8803-158C-D1A9-521D-4FA679F8819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הפיכת משתנה רציף לבדיד</a:t>
            </a:r>
            <a:endParaRPr lang="he-IL" dirty="0"/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048B633D-BE30-3B65-C9C8-E42995540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79" y="1466850"/>
            <a:ext cx="6543675" cy="196215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94B84703-27C1-BBD3-E270-C4D3AFAC7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79" y="3558263"/>
            <a:ext cx="6858957" cy="2095792"/>
          </a:xfrm>
          <a:prstGeom prst="rect">
            <a:avLst/>
          </a:prstGeom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3CE198BB-176B-066E-91EB-EE2732396441}"/>
              </a:ext>
            </a:extLst>
          </p:cNvPr>
          <p:cNvSpPr txBox="1"/>
          <p:nvPr/>
        </p:nvSpPr>
        <p:spPr>
          <a:xfrm>
            <a:off x="8148025" y="1742381"/>
            <a:ext cx="3633746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/>
              <a:t>בשלב הויזואליזציה ניתן להשתמש בשני המאפיינים </a:t>
            </a:r>
            <a:r>
              <a:rPr lang="en-US"/>
              <a:t>target </a:t>
            </a:r>
            <a:r>
              <a:rPr lang="he-IL"/>
              <a:t> וגם </a:t>
            </a:r>
            <a:r>
              <a:rPr lang="en-US"/>
              <a:t>price</a:t>
            </a:r>
            <a:r>
              <a:rPr lang="he-IL"/>
              <a:t>.</a:t>
            </a:r>
          </a:p>
          <a:p>
            <a:pPr algn="r" rtl="1"/>
            <a:endParaRPr lang="he-IL"/>
          </a:p>
          <a:p>
            <a:pPr algn="r" rtl="1"/>
            <a:r>
              <a:rPr lang="he-IL"/>
              <a:t>במידה ורוצים לחזות את </a:t>
            </a:r>
            <a:r>
              <a:rPr lang="en-US"/>
              <a:t>target</a:t>
            </a:r>
            <a:r>
              <a:rPr lang="he-IL"/>
              <a:t>, נבחר מאפיינים </a:t>
            </a:r>
            <a:r>
              <a:rPr lang="en-US"/>
              <a:t>X</a:t>
            </a:r>
            <a:r>
              <a:rPr lang="he-IL"/>
              <a:t> ללא </a:t>
            </a:r>
            <a:r>
              <a:rPr lang="en-US"/>
              <a:t>target, price</a:t>
            </a:r>
            <a:r>
              <a:rPr lang="he-IL"/>
              <a:t> (אחרת יש זליגת מידע)</a:t>
            </a:r>
          </a:p>
          <a:p>
            <a:pPr algn="r" rtl="1"/>
            <a:endParaRPr lang="he-IL"/>
          </a:p>
          <a:p>
            <a:pPr algn="r" rtl="1"/>
            <a:r>
              <a:rPr lang="he-IL"/>
              <a:t>במידה ורוצים לחזות את </a:t>
            </a:r>
            <a:r>
              <a:rPr lang="en-US"/>
              <a:t>price</a:t>
            </a:r>
            <a:r>
              <a:rPr lang="he-IL"/>
              <a:t>, נבחר מאפיינים </a:t>
            </a:r>
            <a:r>
              <a:rPr lang="en-US"/>
              <a:t>X</a:t>
            </a:r>
            <a:r>
              <a:rPr lang="he-IL"/>
              <a:t> ללא </a:t>
            </a:r>
            <a:r>
              <a:rPr lang="en-US"/>
              <a:t>target, price</a:t>
            </a:r>
            <a:r>
              <a:rPr lang="he-IL"/>
              <a:t> (אחרת יש זליגת מידע)</a:t>
            </a:r>
          </a:p>
          <a:p>
            <a:pPr algn="r" rtl="1"/>
            <a:endParaRPr lang="he-IL"/>
          </a:p>
          <a:p>
            <a:pPr algn="r" rtl="1"/>
            <a:r>
              <a:rPr lang="he-IL"/>
              <a:t>במידה ורוצים לחזות משתנה אחר, נבחר מאפיינים </a:t>
            </a:r>
            <a:r>
              <a:rPr lang="en-US"/>
              <a:t>X</a:t>
            </a:r>
            <a:r>
              <a:rPr lang="he-IL"/>
              <a:t> כולל </a:t>
            </a:r>
            <a:r>
              <a:rPr lang="en-US"/>
              <a:t>price</a:t>
            </a:r>
            <a:r>
              <a:rPr lang="he-IL"/>
              <a:t> וללא </a:t>
            </a:r>
            <a:r>
              <a:rPr lang="en-US"/>
              <a:t>target</a:t>
            </a:r>
            <a:r>
              <a:rPr lang="he-IL"/>
              <a:t>, וזאת מכיון ש </a:t>
            </a:r>
            <a:r>
              <a:rPr lang="en-US"/>
              <a:t>price</a:t>
            </a:r>
            <a:r>
              <a:rPr lang="he-IL"/>
              <a:t> מדוייק יותר.</a:t>
            </a:r>
          </a:p>
        </p:txBody>
      </p:sp>
    </p:spTree>
    <p:extLst>
      <p:ext uri="{BB962C8B-B14F-4D97-AF65-F5344CB8AC3E}">
        <p14:creationId xmlns:p14="http://schemas.microsoft.com/office/powerpoint/2010/main" val="3956159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ניקוי והכנת הנתונים</a:t>
            </a:r>
          </a:p>
        </p:txBody>
      </p:sp>
    </p:spTree>
    <p:extLst>
      <p:ext uri="{BB962C8B-B14F-4D97-AF65-F5344CB8AC3E}">
        <p14:creationId xmlns:p14="http://schemas.microsoft.com/office/powerpoint/2010/main" val="1513695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4F1B41-DACA-40F8-8DCA-7015F204A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זיהוי </a:t>
            </a:r>
            <a:r>
              <a:rPr lang="he-IL"/>
              <a:t>ערכים חסרים  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זיהוי </a:t>
            </a:r>
            <a:r>
              <a:rPr lang="he-IL" dirty="0"/>
              <a:t>חריגים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זיהוי כפילויות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8E305-9BE0-4705-884C-13E7AED9B34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 dirty="0"/>
              <a:t>ניקוי והכנת הנתונים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40506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6815610-CC45-52FB-2C32-FF6C3B6F4B8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51692" y="219217"/>
            <a:ext cx="11430078" cy="1376363"/>
          </a:xfrm>
        </p:spPr>
        <p:txBody>
          <a:bodyPr/>
          <a:lstStyle/>
          <a:p>
            <a:r>
              <a:rPr lang="he-IL"/>
              <a:t>דוגמה לזיהוי חריגים ומחיקה לפי תנאי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976A988-4777-D869-281B-13266AD98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283" y="1336501"/>
            <a:ext cx="6202237" cy="515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71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6815610-CC45-52FB-2C32-FF6C3B6F4B8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51692" y="219217"/>
            <a:ext cx="11430078" cy="1376363"/>
          </a:xfrm>
        </p:spPr>
        <p:txBody>
          <a:bodyPr/>
          <a:lstStyle/>
          <a:p>
            <a:r>
              <a:rPr lang="he-IL"/>
              <a:t>טיפול בכפילויות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9047012A-DCDA-76A0-0234-9631C21FD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41" y="1595580"/>
            <a:ext cx="4728234" cy="45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28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2B61898C-DF3A-343C-1108-1E6F7B22C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דוגמה </a:t>
            </a:r>
            <a:r>
              <a:rPr lang="he-IL" dirty="0">
                <a:hlinkClick r:id="rId2"/>
              </a:rPr>
              <a:t>כאן</a:t>
            </a: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0B930A6-1F45-87A4-1997-DA401333118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טיפול במשתנה </a:t>
            </a:r>
            <a:r>
              <a:rPr lang="en-US"/>
              <a:t>date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6759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7604FCC4-FC6B-6242-A63C-C085A6747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עליכם לאמן מודל לחזות הישרדות של נוסעים בטיטניק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/>
              <a:t>טענו את </a:t>
            </a:r>
            <a:r>
              <a:rPr lang="en-US">
                <a:hlinkClick r:id="rId2"/>
              </a:rPr>
              <a:t>titanic dataset</a:t>
            </a:r>
            <a:endParaRPr lang="he-IL" b="0" i="0">
              <a:effectLst/>
              <a:highlight>
                <a:srgbClr val="F1F3F4"/>
              </a:highlight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מחקו עמודות מיותרות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בדקו אם יש כפילויות, אם כן מחקו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טפלו בנתונים חסרים (מלוי או מחיקה)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המירו נתונים קטגוריאליים למספרים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בדקו קורלציה של המאפיינים עם משתנה המטרה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בחרו מאפיינים 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 X 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ומשתנה מטרה 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חלוקה אימון ומבחן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בחרו נרמול נתונים כרצונכם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השתמשו ב 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KNN 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 ובצעו 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 hyper parameter tuning 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על פרמטר 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מדדי ביצוע על נתוני המבחן</a:t>
            </a:r>
          </a:p>
          <a:p>
            <a:endParaRPr lang="he-IL"/>
          </a:p>
          <a:p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08ECFC5-36ED-EC38-699C-D8850A3E7D7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/>
              <a:t>Titanic classification exercise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4500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4865CD6C-12DD-B817-657C-8A5738718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228600" indent="0"/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עליכם לאמן מודל כדי לחזות מחיר של יהלומים.</a:t>
            </a:r>
            <a:endParaRPr lang="he-IL">
              <a:highlight>
                <a:srgbClr val="F1F3F4"/>
              </a:highlight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טענו את </a:t>
            </a:r>
            <a:r>
              <a:rPr lang="en-US">
                <a:highlight>
                  <a:srgbClr val="F1F3F4"/>
                </a:highlight>
                <a:latin typeface="Roboto" panose="02000000000000000000" pitchFamily="2" charset="0"/>
                <a:hlinkClick r:id="rId2"/>
              </a:rPr>
              <a:t>Diamonds dataset</a:t>
            </a:r>
            <a:endParaRPr lang="he-IL">
              <a:highlight>
                <a:srgbClr val="F1F3F4"/>
              </a:highlight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תיאור לגבי המשתנים וסדר שלהם (שימושי להמרות) ניתן למצוא </a:t>
            </a:r>
            <a:r>
              <a:rPr lang="he-IL">
                <a:highlight>
                  <a:srgbClr val="F1F3F4"/>
                </a:highlight>
                <a:latin typeface="Roboto" panose="02000000000000000000" pitchFamily="2" charset="0"/>
                <a:hlinkClick r:id="rId3"/>
              </a:rPr>
              <a:t>כאן</a:t>
            </a:r>
            <a:endParaRPr lang="he-IL">
              <a:highlight>
                <a:srgbClr val="F1F3F4"/>
              </a:highlight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מחקו יהלומים שמידות </a:t>
            </a:r>
            <a:r>
              <a:rPr lang="en-US">
                <a:highlight>
                  <a:srgbClr val="F1F3F4"/>
                </a:highlight>
                <a:latin typeface="Roboto" panose="02000000000000000000" pitchFamily="2" charset="0"/>
              </a:rPr>
              <a:t> x,y,z </a:t>
            </a: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שלהם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בדקו אם יש כפילויות, אם כן מחקו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המירו נתונים קטגוריאליים למספרים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בדקו קורלציה של המאפיינים עם משתנה המטרה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בחרו מאפיינים </a:t>
            </a:r>
            <a:r>
              <a:rPr lang="en-US">
                <a:highlight>
                  <a:srgbClr val="F1F3F4"/>
                </a:highlight>
                <a:latin typeface="Roboto" panose="02000000000000000000" pitchFamily="2" charset="0"/>
              </a:rPr>
              <a:t>X </a:t>
            </a: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 ומשתנה מטרה </a:t>
            </a:r>
            <a:r>
              <a:rPr lang="en-US">
                <a:highlight>
                  <a:srgbClr val="F1F3F4"/>
                </a:highlight>
                <a:latin typeface="Roboto" panose="02000000000000000000" pitchFamily="2" charset="0"/>
              </a:rPr>
              <a:t>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חלוקה אימון ומבחן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נרמלו את נתונים (בחרו שיטה)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אימון </a:t>
            </a:r>
            <a:r>
              <a:rPr lang="en-US">
                <a:highlight>
                  <a:srgbClr val="F1F3F4"/>
                </a:highlight>
                <a:latin typeface="Roboto" panose="02000000000000000000" pitchFamily="2" charset="0"/>
              </a:rPr>
              <a:t>Linear regression </a:t>
            </a: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 על נתוני האימון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>
                <a:highlight>
                  <a:srgbClr val="F1F3F4"/>
                </a:highlight>
                <a:latin typeface="Roboto" panose="02000000000000000000" pitchFamily="2" charset="0"/>
              </a:rPr>
              <a:t>מדדי ביצוע על נתוני המבחן 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של יהלומים.</a:t>
            </a: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C224249-2657-A0AD-85C6-EF833C3021B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/>
              <a:t>Diamonds regression exercise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33002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תודה על ההשתתפות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394</Words>
  <Application>Microsoft Office PowerPoint</Application>
  <PresentationFormat>מסך רחב</PresentationFormat>
  <Paragraphs>70</Paragraphs>
  <Slides>23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23</vt:i4>
      </vt:variant>
    </vt:vector>
  </HeadingPairs>
  <TitlesOfParts>
    <vt:vector size="28" baseType="lpstr">
      <vt:lpstr>Arial</vt:lpstr>
      <vt:lpstr>Calibri</vt:lpstr>
      <vt:lpstr>Roboto</vt:lpstr>
      <vt:lpstr>Tahoma</vt:lpstr>
      <vt:lpstr>TECHNION_Op3_General_Heb</vt:lpstr>
      <vt:lpstr>תהליך הכנת הנתונים  חלק ב'</vt:lpstr>
      <vt:lpstr>קורלציות בין משתנים</vt:lpstr>
      <vt:lpstr>מצגת של PowerPoint‏</vt:lpstr>
      <vt:lpstr>מצגת של PowerPoint‏</vt:lpstr>
      <vt:lpstr>מצגת של PowerPoint‏</vt:lpstr>
      <vt:lpstr>מצגת של PowerPoint‏</vt:lpstr>
      <vt:lpstr>הנדסת מאפיינים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ניקוי והכנת הנתונים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תודה על ההשתתפות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דוד בר יצחק</cp:lastModifiedBy>
  <cp:revision>72</cp:revision>
  <dcterms:created xsi:type="dcterms:W3CDTF">2019-03-02T07:56:19Z</dcterms:created>
  <dcterms:modified xsi:type="dcterms:W3CDTF">2026-05-03T10:10:57Z</dcterms:modified>
</cp:coreProperties>
</file>