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5"/>
  </p:notesMasterIdLst>
  <p:sldIdLst>
    <p:sldId id="605" r:id="rId2"/>
    <p:sldId id="611" r:id="rId3"/>
    <p:sldId id="612" r:id="rId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1" roundtripDataSignature="AMtx7mhiaHRW9scVpVHOt7LlZiKDVEm5D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778E25D-6658-4D9B-876C-8C97E927BF0F}">
  <a:tblStyle styleId="{1778E25D-6658-4D9B-876C-8C97E927BF0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79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2" Type="http://schemas.openxmlformats.org/officeDocument/2006/relationships/presProps" Target="presProps.xml"/><Relationship Id="rId2" Type="http://schemas.openxmlformats.org/officeDocument/2006/relationships/slide" Target="slides/slide1.xml"/><Relationship Id="rId41" Type="http://customschemas.google.com/relationships/presentationmetadata" Target="metadata"/><Relationship Id="rId1" Type="http://schemas.openxmlformats.org/officeDocument/2006/relationships/slideMaster" Target="slideMasters/slideMaster1.xml"/><Relationship Id="rId45" Type="http://schemas.openxmlformats.org/officeDocument/2006/relationships/tableStyles" Target="tableStyles.xml"/><Relationship Id="rId5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388620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588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588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OBJEC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Font typeface="Arial"/>
              <a:buNone/>
              <a:defRPr sz="4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D59F0E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914400" marR="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1371600" marR="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1828800" marR="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2286000" marR="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D59F0E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marL="0" marR="0" lvl="1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marL="0" marR="0" lvl="2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marL="0" marR="0" lvl="3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marL="0" marR="0" lvl="4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marL="0" marR="0" lvl="5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marL="0" marR="0" lvl="6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marL="0" marR="0" lvl="7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marL="0" marR="0" lvl="8" indent="0" algn="l" rtl="1">
              <a:spcBef>
                <a:spcPts val="0"/>
              </a:spcBef>
              <a:buNone/>
              <a:defRPr sz="1200" b="0" i="0" u="none" strike="noStrike" cap="none">
                <a:solidFill>
                  <a:srgbClr val="002147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colab.research.google.com/drive/11WMas5i_TzV2Y-NRvoy8wMFG0eTnU1s3?usp=sharing" TargetMode="External"/><Relationship Id="rId5" Type="http://schemas.openxmlformats.org/officeDocument/2006/relationships/image" Target="../media/image100.png"/><Relationship Id="rId4" Type="http://schemas.openxmlformats.org/officeDocument/2006/relationships/image" Target="../media/image8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DA95-79F1-44F1-8546-8670DC96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הערכת ביצועים של רגרסיה לינארית</a:t>
            </a:r>
            <a:br>
              <a:rPr lang="he-IL" dirty="0"/>
            </a:br>
            <a:r>
              <a:rPr lang="he-IL" dirty="0"/>
              <a:t>מדד השונות המוסברת </a:t>
            </a:r>
            <a:r>
              <a:rPr lang="en-US" dirty="0"/>
              <a:t>R</a:t>
            </a:r>
            <a:r>
              <a:rPr lang="en-US" baseline="30000" dirty="0"/>
              <a:t>2</a:t>
            </a:r>
            <a:endParaRPr lang="en-IL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3E36033A-22B2-48C2-BD07-58837CEB0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07" y="2035806"/>
            <a:ext cx="5220911" cy="354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41586A-8AC9-4B21-B8CE-CB4C08B08E72}"/>
              </a:ext>
            </a:extLst>
          </p:cNvPr>
          <p:cNvCxnSpPr>
            <a:cxnSpLocks/>
          </p:cNvCxnSpPr>
          <p:nvPr/>
        </p:nvCxnSpPr>
        <p:spPr>
          <a:xfrm>
            <a:off x="4644040" y="2317220"/>
            <a:ext cx="0" cy="30744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589375-01A8-4D85-A04B-60924C17A3FA}"/>
              </a:ext>
            </a:extLst>
          </p:cNvPr>
          <p:cNvCxnSpPr>
            <a:cxnSpLocks/>
          </p:cNvCxnSpPr>
          <p:nvPr/>
        </p:nvCxnSpPr>
        <p:spPr>
          <a:xfrm>
            <a:off x="4707616" y="2317220"/>
            <a:ext cx="0" cy="139964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CBFF5D-F03A-4F55-A2FE-0098276B7D3B}"/>
                  </a:ext>
                </a:extLst>
              </p:cNvPr>
              <p:cNvSpPr txBox="1"/>
              <p:nvPr/>
            </p:nvSpPr>
            <p:spPr>
              <a:xfrm>
                <a:off x="5897227" y="2980270"/>
                <a:ext cx="3370218" cy="725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9CBFF5D-F03A-4F55-A2FE-0098276B7D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227" y="2980270"/>
                <a:ext cx="3370218" cy="725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90D47F-CA9B-40DF-9C61-845796F4B2CF}"/>
                  </a:ext>
                </a:extLst>
              </p:cNvPr>
              <p:cNvSpPr txBox="1"/>
              <p:nvPr/>
            </p:nvSpPr>
            <p:spPr>
              <a:xfrm>
                <a:off x="5833533" y="2058309"/>
                <a:ext cx="3693254" cy="725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𝑒𝑟𝑟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3590D47F-CA9B-40DF-9C61-845796F4B2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3533" y="2058309"/>
                <a:ext cx="3693254" cy="725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C1ABD8-7812-4D91-BD25-C263C95DF289}"/>
                  </a:ext>
                </a:extLst>
              </p:cNvPr>
              <p:cNvSpPr txBox="1"/>
              <p:nvPr/>
            </p:nvSpPr>
            <p:spPr>
              <a:xfrm>
                <a:off x="5897227" y="3902231"/>
                <a:ext cx="2060756" cy="75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L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𝑒𝑟𝑟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C1ABD8-7812-4D91-BD25-C263C95DF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97227" y="3902231"/>
                <a:ext cx="2060756" cy="75629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D0522E3-32A6-2DAA-0A8E-E68C7D0E55D1}"/>
              </a:ext>
            </a:extLst>
          </p:cNvPr>
          <p:cNvSpPr txBox="1"/>
          <p:nvPr/>
        </p:nvSpPr>
        <p:spPr>
          <a:xfrm>
            <a:off x="8199786" y="4521289"/>
            <a:ext cx="38122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/>
              <a:t>היחס בין השונות המוסברת לשונות הכללית</a:t>
            </a:r>
          </a:p>
          <a:p>
            <a:pPr algn="r" rtl="1"/>
            <a:r>
              <a:rPr lang="he-IL"/>
              <a:t>ערכים </a:t>
            </a:r>
            <a:r>
              <a:rPr lang="he-IL" dirty="0"/>
              <a:t>נעים (לרוב) בין 0-1</a:t>
            </a:r>
          </a:p>
          <a:p>
            <a:pPr algn="r" rtl="1"/>
            <a:r>
              <a:rPr lang="he-IL" dirty="0"/>
              <a:t>1: התאמה מלאה</a:t>
            </a:r>
          </a:p>
          <a:p>
            <a:pPr algn="r" rtl="1"/>
            <a:r>
              <a:rPr lang="he-IL" dirty="0"/>
              <a:t>0: אין התאמה</a:t>
            </a:r>
          </a:p>
          <a:p>
            <a:pPr algn="r" rtl="1"/>
            <a:r>
              <a:rPr lang="he-IL" dirty="0"/>
              <a:t>ערכים שליליים: חיזוי יותר גרוע מאשר מדד הממוצע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9E76D8DC-7C55-042D-1DAA-249A5840DF04}"/>
                  </a:ext>
                </a:extLst>
              </p:cNvPr>
              <p:cNvSpPr txBox="1"/>
              <p:nvPr/>
            </p:nvSpPr>
            <p:spPr>
              <a:xfrm>
                <a:off x="7242049" y="6003036"/>
                <a:ext cx="4050792" cy="307777"/>
              </a:xfrm>
              <a:prstGeom prst="rect">
                <a:avLst/>
              </a:prstGeom>
              <a:noFill/>
            </p:spPr>
            <p:txBody>
              <a:bodyPr wrap="square" rtlCol="1">
                <a:spAutoFit/>
              </a:bodyPr>
              <a:lstStyle/>
              <a:p>
                <a:pPr algn="r" rtl="1"/>
                <a:r>
                  <a:rPr lang="he-IL"/>
                  <a:t>מחברת הדגמה חישוב מדד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he-IL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he-IL"/>
                  <a:t>   </a:t>
                </a:r>
                <a:r>
                  <a:rPr lang="he-IL">
                    <a:hlinkClick r:id="rId6"/>
                  </a:rPr>
                  <a:t>כאן</a:t>
                </a:r>
                <a:endParaRPr lang="he-IL"/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9E76D8DC-7C55-042D-1DAA-249A5840DF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42049" y="6003036"/>
                <a:ext cx="4050792" cy="307777"/>
              </a:xfrm>
              <a:prstGeom prst="rect">
                <a:avLst/>
              </a:prstGeom>
              <a:blipFill>
                <a:blip r:embed="rId7"/>
                <a:stretch>
                  <a:fillRect t="-4000" r="-301" b="-20000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9207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DC997-6126-5E4A-B9CE-6E860626E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5C07E-57EC-2310-1730-B42AF5045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/>
              <a:t>שונות מוסברת, לא מוסברת וכללית</a:t>
            </a:r>
            <a:endParaRPr lang="en-IL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A6DBA73C-A2C8-5A59-FC43-F8E43FA41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07" y="2035806"/>
            <a:ext cx="5220911" cy="354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AAE88D7-12C2-2905-9C46-8127E49F4C3C}"/>
              </a:ext>
            </a:extLst>
          </p:cNvPr>
          <p:cNvCxnSpPr>
            <a:cxnSpLocks/>
          </p:cNvCxnSpPr>
          <p:nvPr/>
        </p:nvCxnSpPr>
        <p:spPr>
          <a:xfrm>
            <a:off x="4644040" y="2317220"/>
            <a:ext cx="0" cy="30744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F5AC1ACF-2800-502D-668F-F9933B572FD1}"/>
              </a:ext>
            </a:extLst>
          </p:cNvPr>
          <p:cNvCxnSpPr>
            <a:cxnSpLocks/>
          </p:cNvCxnSpPr>
          <p:nvPr/>
        </p:nvCxnSpPr>
        <p:spPr>
          <a:xfrm>
            <a:off x="4707616" y="2317220"/>
            <a:ext cx="0" cy="139964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25C453-4239-4664-3280-E18B7B0C4DD6}"/>
                  </a:ext>
                </a:extLst>
              </p:cNvPr>
              <p:cNvSpPr txBox="1"/>
              <p:nvPr/>
            </p:nvSpPr>
            <p:spPr>
              <a:xfrm>
                <a:off x="6013732" y="3636284"/>
                <a:ext cx="3370218" cy="725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𝑡𝑜𝑡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rgbClr val="00B05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00B05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925C453-4239-4664-3280-E18B7B0C4D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32" y="3636284"/>
                <a:ext cx="3370218" cy="72564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B78403-3220-964D-C297-FE43478A2D98}"/>
                  </a:ext>
                </a:extLst>
              </p:cNvPr>
              <p:cNvSpPr txBox="1"/>
              <p:nvPr/>
            </p:nvSpPr>
            <p:spPr>
              <a:xfrm>
                <a:off x="5946535" y="2728377"/>
                <a:ext cx="3693254" cy="725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𝑒𝑟𝑟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FF000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FF000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6B78403-3220-964D-C297-FE43478A2D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535" y="2728377"/>
                <a:ext cx="3693254" cy="725648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1F37FC-54D0-96C0-3034-70D527374770}"/>
                  </a:ext>
                </a:extLst>
              </p:cNvPr>
              <p:cNvSpPr txBox="1"/>
              <p:nvPr/>
            </p:nvSpPr>
            <p:spPr>
              <a:xfrm>
                <a:off x="6096000" y="4771502"/>
                <a:ext cx="2927340" cy="399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𝑒𝑟𝑟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𝑟𝑒𝑔</m:t>
                          </m:r>
                        </m:sub>
                      </m:sSub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81F37FC-54D0-96C0-3034-70D5273747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771502"/>
                <a:ext cx="2927340" cy="399405"/>
              </a:xfrm>
              <a:prstGeom prst="rect">
                <a:avLst/>
              </a:prstGeom>
              <a:blipFill>
                <a:blip r:embed="rId5"/>
                <a:stretch>
                  <a:fillRect l="-1667" r="-208" b="-2153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4">
                <a:extLst>
                  <a:ext uri="{FF2B5EF4-FFF2-40B4-BE49-F238E27FC236}">
                    <a16:creationId xmlns:a16="http://schemas.microsoft.com/office/drawing/2014/main" id="{0F66011A-A99E-A7FD-A86F-8D5555D72697}"/>
                  </a:ext>
                </a:extLst>
              </p:cNvPr>
              <p:cNvSpPr txBox="1"/>
              <p:nvPr/>
            </p:nvSpPr>
            <p:spPr>
              <a:xfrm>
                <a:off x="5946535" y="1820470"/>
                <a:ext cx="3425746" cy="72564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𝑟𝑒𝑔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brk m:alnAt="25"/>
                            </m:rP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sz="2400" b="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𝑚</m:t>
                          </m:r>
                        </m:sup>
                        <m:e>
                          <m:sSup>
                            <m:sSupPr>
                              <m:ctrlP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p>
                                    <m:sSupPr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acc>
                                        <m:accPr>
                                          <m:chr m:val="̂"/>
                                          <m:ctrlPr>
                                            <a:rPr lang="en-US" sz="24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2400" i="1">
                                              <a:solidFill>
                                                <a:srgbClr val="7030A0"/>
                                              </a:solidFill>
                                              <a:latin typeface="Cambria Math" panose="02040503050406030204" pitchFamily="18" charset="0"/>
                                            </a:rPr>
                                            <m:t>𝑦</m:t>
                                          </m:r>
                                        </m:e>
                                      </m:acc>
                                    </m:e>
                                    <m:sup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sup>
                                  </m:sSup>
                                  <m:r>
                                    <a:rPr lang="en-US" sz="2400" i="1">
                                      <a:solidFill>
                                        <a:srgbClr val="7030A0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acc>
                                    <m:accPr>
                                      <m:chr m:val="̅"/>
                                      <m:ctrlP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2400" i="1">
                                          <a:solidFill>
                                            <a:srgbClr val="7030A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</m:acc>
                                </m:e>
                              </m:d>
                            </m:e>
                            <m:sup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14">
                <a:extLst>
                  <a:ext uri="{FF2B5EF4-FFF2-40B4-BE49-F238E27FC236}">
                    <a16:creationId xmlns:a16="http://schemas.microsoft.com/office/drawing/2014/main" id="{0F66011A-A99E-A7FD-A86F-8D5555D726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6535" y="1820470"/>
                <a:ext cx="3425746" cy="72564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12">
            <a:extLst>
              <a:ext uri="{FF2B5EF4-FFF2-40B4-BE49-F238E27FC236}">
                <a16:creationId xmlns:a16="http://schemas.microsoft.com/office/drawing/2014/main" id="{8CAF1E67-B001-88C4-8219-892C484CB7AB}"/>
              </a:ext>
            </a:extLst>
          </p:cNvPr>
          <p:cNvCxnSpPr>
            <a:cxnSpLocks/>
          </p:cNvCxnSpPr>
          <p:nvPr/>
        </p:nvCxnSpPr>
        <p:spPr>
          <a:xfrm>
            <a:off x="4644040" y="2677294"/>
            <a:ext cx="0" cy="1039573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B6AE409F-54D0-CB73-DAE7-2593711D2F0B}"/>
              </a:ext>
            </a:extLst>
          </p:cNvPr>
          <p:cNvSpPr txBox="1"/>
          <p:nvPr/>
        </p:nvSpPr>
        <p:spPr>
          <a:xfrm>
            <a:off x="9992299" y="1943117"/>
            <a:ext cx="190107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>
                <a:solidFill>
                  <a:schemeClr val="tx1"/>
                </a:solidFill>
              </a:rPr>
              <a:t>שונות מוסברת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EB4DE5B5-4B7E-ACD0-A41F-14AB4928F1DF}"/>
              </a:ext>
            </a:extLst>
          </p:cNvPr>
          <p:cNvSpPr txBox="1"/>
          <p:nvPr/>
        </p:nvSpPr>
        <p:spPr>
          <a:xfrm>
            <a:off x="9992299" y="2790346"/>
            <a:ext cx="190107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>
                <a:solidFill>
                  <a:schemeClr val="tx1"/>
                </a:solidFill>
              </a:rPr>
              <a:t>שונות לא מוסברת</a:t>
            </a: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4059C918-4DC4-2B13-8F85-F0C43C785C10}"/>
              </a:ext>
            </a:extLst>
          </p:cNvPr>
          <p:cNvSpPr txBox="1"/>
          <p:nvPr/>
        </p:nvSpPr>
        <p:spPr>
          <a:xfrm>
            <a:off x="9992299" y="3716867"/>
            <a:ext cx="190107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r" rtl="1"/>
            <a:r>
              <a:rPr lang="he-IL">
                <a:solidFill>
                  <a:schemeClr val="tx1"/>
                </a:solidFill>
              </a:rPr>
              <a:t>שונות כללית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15">
                <a:extLst>
                  <a:ext uri="{FF2B5EF4-FFF2-40B4-BE49-F238E27FC236}">
                    <a16:creationId xmlns:a16="http://schemas.microsoft.com/office/drawing/2014/main" id="{D34D15D6-2AE4-0F03-4411-5CDD0202D9AF}"/>
                  </a:ext>
                </a:extLst>
              </p:cNvPr>
              <p:cNvSpPr txBox="1"/>
              <p:nvPr/>
            </p:nvSpPr>
            <p:spPr>
              <a:xfrm>
                <a:off x="6589083" y="6078814"/>
                <a:ext cx="5067990" cy="42396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sup>
                        </m:sSup>
                        <m:r>
                          <a:rPr lang="en-US" sz="2400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− </m:t>
                        </m:r>
                        <m:sSup>
                          <m:sSupPr>
                            <m:ctrlP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d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sz="2400" i="1" smtClean="0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acc>
                              <m:accPr>
                                <m:chr m:val="̂"/>
                                <m:ctrlP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2400" i="1">
                                    <a:solidFill>
                                      <a:srgbClr val="7030A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p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  <m:r>
                          <a:rPr lang="en-US" sz="2400" i="1">
                            <a:solidFill>
                              <a:srgbClr val="7030A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acc>
                          <m:accPr>
                            <m:chr m:val="̅"/>
                            <m:ctrlP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400" i="1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e>
                    </m:d>
                  </m:oMath>
                </a14:m>
                <a:endParaRPr lang="en-IL" sz="2400" dirty="0"/>
              </a:p>
            </p:txBody>
          </p:sp>
        </mc:Choice>
        <mc:Fallback xmlns="">
          <p:sp>
            <p:nvSpPr>
              <p:cNvPr id="3" name="TextBox 15">
                <a:extLst>
                  <a:ext uri="{FF2B5EF4-FFF2-40B4-BE49-F238E27FC236}">
                    <a16:creationId xmlns:a16="http://schemas.microsoft.com/office/drawing/2014/main" id="{D34D15D6-2AE4-0F03-4411-5CDD0202D9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9083" y="6078814"/>
                <a:ext cx="5067990" cy="42396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59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DDA95-79F1-44F1-8546-8670DC9683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/>
              <a:t>הערכת ביצועים של </a:t>
            </a:r>
            <a:r>
              <a:rPr lang="he-IL"/>
              <a:t>רגרסיה לינארית </a:t>
            </a:r>
            <a:br>
              <a:rPr lang="he-IL"/>
            </a:br>
            <a:r>
              <a:rPr lang="he-IL"/>
              <a:t>מדד </a:t>
            </a:r>
            <a:r>
              <a:rPr lang="en-US"/>
              <a:t>R</a:t>
            </a:r>
            <a:r>
              <a:rPr lang="en-US" baseline="30000"/>
              <a:t>2</a:t>
            </a:r>
            <a:endParaRPr lang="en-IL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3E36033A-22B2-48C2-BD07-58837CEB0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007" y="2035806"/>
            <a:ext cx="5220911" cy="35437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341586A-8AC9-4B21-B8CE-CB4C08B08E72}"/>
              </a:ext>
            </a:extLst>
          </p:cNvPr>
          <p:cNvCxnSpPr>
            <a:cxnSpLocks/>
          </p:cNvCxnSpPr>
          <p:nvPr/>
        </p:nvCxnSpPr>
        <p:spPr>
          <a:xfrm>
            <a:off x="4644040" y="2317220"/>
            <a:ext cx="0" cy="307447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A589375-01A8-4D85-A04B-60924C17A3FA}"/>
              </a:ext>
            </a:extLst>
          </p:cNvPr>
          <p:cNvCxnSpPr>
            <a:cxnSpLocks/>
          </p:cNvCxnSpPr>
          <p:nvPr/>
        </p:nvCxnSpPr>
        <p:spPr>
          <a:xfrm>
            <a:off x="4707616" y="2317220"/>
            <a:ext cx="0" cy="1399647"/>
          </a:xfrm>
          <a:prstGeom prst="straightConnector1">
            <a:avLst/>
          </a:prstGeom>
          <a:ln w="38100">
            <a:solidFill>
              <a:srgbClr val="00B05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C1ABD8-7812-4D91-BD25-C263C95DF289}"/>
                  </a:ext>
                </a:extLst>
              </p:cNvPr>
              <p:cNvSpPr txBox="1"/>
              <p:nvPr/>
            </p:nvSpPr>
            <p:spPr>
              <a:xfrm>
                <a:off x="6013732" y="2092794"/>
                <a:ext cx="1551963" cy="76726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L" sz="24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7030A0"/>
                                  </a:solidFill>
                                  <a:latin typeface="Cambria Math" panose="02040503050406030204" pitchFamily="18" charset="0"/>
                                </a:rPr>
                                <m:t>𝑟𝑒𝑔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9C1ABD8-7812-4D91-BD25-C263C95DF2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32" y="2092794"/>
                <a:ext cx="1551963" cy="76726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Arrow Connector 12">
            <a:extLst>
              <a:ext uri="{FF2B5EF4-FFF2-40B4-BE49-F238E27FC236}">
                <a16:creationId xmlns:a16="http://schemas.microsoft.com/office/drawing/2014/main" id="{648E2B5A-3115-E598-039C-2733B03E5CE6}"/>
              </a:ext>
            </a:extLst>
          </p:cNvPr>
          <p:cNvCxnSpPr>
            <a:cxnSpLocks/>
          </p:cNvCxnSpPr>
          <p:nvPr/>
        </p:nvCxnSpPr>
        <p:spPr>
          <a:xfrm>
            <a:off x="4644040" y="2677294"/>
            <a:ext cx="0" cy="1039573"/>
          </a:xfrm>
          <a:prstGeom prst="straightConnector1">
            <a:avLst/>
          </a:prstGeom>
          <a:ln w="38100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D799D771-2AE9-E8EA-0AFC-BFA1A470D0FA}"/>
                  </a:ext>
                </a:extLst>
              </p:cNvPr>
              <p:cNvSpPr txBox="1"/>
              <p:nvPr/>
            </p:nvSpPr>
            <p:spPr>
              <a:xfrm>
                <a:off x="6013732" y="3489394"/>
                <a:ext cx="4318170" cy="75629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IL" sz="240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𝑒𝑟𝑟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b="0" i="1" smtClean="0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11" name="TextBox 15">
                <a:extLst>
                  <a:ext uri="{FF2B5EF4-FFF2-40B4-BE49-F238E27FC236}">
                    <a16:creationId xmlns:a16="http://schemas.microsoft.com/office/drawing/2014/main" id="{D799D771-2AE9-E8EA-0AFC-BFA1A470D0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32" y="3489394"/>
                <a:ext cx="4318170" cy="75629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2">
            <a:extLst>
              <a:ext uri="{FF2B5EF4-FFF2-40B4-BE49-F238E27FC236}">
                <a16:creationId xmlns:a16="http://schemas.microsoft.com/office/drawing/2014/main" id="{6280EAEA-414A-C8A9-A0B4-C344BD9CADA1}"/>
              </a:ext>
            </a:extLst>
          </p:cNvPr>
          <p:cNvSpPr txBox="1"/>
          <p:nvPr/>
        </p:nvSpPr>
        <p:spPr>
          <a:xfrm>
            <a:off x="7958820" y="2000315"/>
            <a:ext cx="3812261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he-IL"/>
              <a:t>היחס בין השונות המוסברת לשונות הכללית</a:t>
            </a:r>
          </a:p>
          <a:p>
            <a:pPr algn="r" rtl="1"/>
            <a:r>
              <a:rPr lang="he-IL"/>
              <a:t>ערכים </a:t>
            </a:r>
            <a:r>
              <a:rPr lang="he-IL" dirty="0"/>
              <a:t>נעים (לרוב) בין 0-1</a:t>
            </a:r>
          </a:p>
          <a:p>
            <a:pPr algn="r" rtl="1"/>
            <a:r>
              <a:rPr lang="he-IL" dirty="0"/>
              <a:t>1: התאמה מלאה</a:t>
            </a:r>
          </a:p>
          <a:p>
            <a:pPr algn="r" rtl="1"/>
            <a:r>
              <a:rPr lang="he-IL" dirty="0"/>
              <a:t>0: אין התאמה</a:t>
            </a:r>
          </a:p>
          <a:p>
            <a:pPr algn="r" rtl="1"/>
            <a:r>
              <a:rPr lang="he-IL" dirty="0"/>
              <a:t>ערכים שליליים: חיזוי יותר גרוע מאשר מדד הממוצע</a:t>
            </a:r>
            <a:endParaRPr lang="en-IL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15">
                <a:extLst>
                  <a:ext uri="{FF2B5EF4-FFF2-40B4-BE49-F238E27FC236}">
                    <a16:creationId xmlns:a16="http://schemas.microsoft.com/office/drawing/2014/main" id="{5F85D5D2-FA91-0FB3-899E-27AB2D4C095B}"/>
                  </a:ext>
                </a:extLst>
              </p:cNvPr>
              <p:cNvSpPr txBox="1"/>
              <p:nvPr/>
            </p:nvSpPr>
            <p:spPr>
              <a:xfrm>
                <a:off x="6013732" y="4579068"/>
                <a:ext cx="2927340" cy="39940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i="1" smtClean="0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𝑡𝑜𝑡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𝑆𝑆</m:t>
                              </m:r>
                            </m:e>
                            <m:sub>
                              <m:r>
                                <a:rPr lang="en-US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𝑒𝑟𝑟</m:t>
                              </m:r>
                            </m:sub>
                          </m:sSub>
                          <m:r>
                            <a:rPr lang="en-US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𝑆𝑆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rgbClr val="7030A0"/>
                              </a:solidFill>
                              <a:latin typeface="Cambria Math" panose="02040503050406030204" pitchFamily="18" charset="0"/>
                            </a:rPr>
                            <m:t>𝑟𝑒𝑔</m:t>
                          </m:r>
                        </m:sub>
                      </m:sSub>
                    </m:oMath>
                  </m:oMathPara>
                </a14:m>
                <a:endParaRPr lang="en-IL" sz="2400" dirty="0"/>
              </a:p>
            </p:txBody>
          </p:sp>
        </mc:Choice>
        <mc:Fallback xmlns="">
          <p:sp>
            <p:nvSpPr>
              <p:cNvPr id="4" name="TextBox 15">
                <a:extLst>
                  <a:ext uri="{FF2B5EF4-FFF2-40B4-BE49-F238E27FC236}">
                    <a16:creationId xmlns:a16="http://schemas.microsoft.com/office/drawing/2014/main" id="{5F85D5D2-FA91-0FB3-899E-27AB2D4C09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3732" y="4579068"/>
                <a:ext cx="2927340" cy="399405"/>
              </a:xfrm>
              <a:prstGeom prst="rect">
                <a:avLst/>
              </a:prstGeom>
              <a:blipFill>
                <a:blip r:embed="rId5"/>
                <a:stretch>
                  <a:fillRect l="-1875" r="-208" b="-21212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16584920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</TotalTime>
  <Words>134</Words>
  <Application>Microsoft Office PowerPoint</Application>
  <PresentationFormat>מסך רחב</PresentationFormat>
  <Paragraphs>28</Paragraphs>
  <Slides>3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3</vt:i4>
      </vt:variant>
    </vt:vector>
  </HeadingPairs>
  <TitlesOfParts>
    <vt:vector size="8" baseType="lpstr">
      <vt:lpstr>Arial</vt:lpstr>
      <vt:lpstr>Calibri</vt:lpstr>
      <vt:lpstr>Cambria Math</vt:lpstr>
      <vt:lpstr>Tahoma</vt:lpstr>
      <vt:lpstr>TECHNION_Op3_General_Heb</vt:lpstr>
      <vt:lpstr>הערכת ביצועים של רגרסיה לינארית מדד השונות המוסברת R2</vt:lpstr>
      <vt:lpstr>שונות מוסברת, לא מוסברת וכללית</vt:lpstr>
      <vt:lpstr>הערכת ביצועים של רגרסיה לינארית  מדד R2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השתלמות ניתוח נתונים ולמידת מכונה</dc:title>
  <dc:creator>Jacob Mike</dc:creator>
  <cp:lastModifiedBy>אריאל דוד בר יצחק</cp:lastModifiedBy>
  <cp:revision>43</cp:revision>
  <dcterms:created xsi:type="dcterms:W3CDTF">2019-03-02T07:56:19Z</dcterms:created>
  <dcterms:modified xsi:type="dcterms:W3CDTF">2026-03-15T19:18:29Z</dcterms:modified>
</cp:coreProperties>
</file>