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344" r:id="rId3"/>
    <p:sldId id="345" r:id="rId4"/>
    <p:sldId id="258" r:id="rId5"/>
    <p:sldId id="260" r:id="rId6"/>
    <p:sldId id="263" r:id="rId7"/>
    <p:sldId id="283" r:id="rId8"/>
    <p:sldId id="273" r:id="rId9"/>
    <p:sldId id="284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86" r:id="rId19"/>
    <p:sldId id="285" r:id="rId20"/>
    <p:sldId id="282" r:id="rId21"/>
    <p:sldId id="287" r:id="rId22"/>
    <p:sldId id="275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hEIEc7JQ6G+ckZAfaR9kvxPShb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iw-IL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53" name="Google Shape;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" name="Google Shape;65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7" name="Google Shape;77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46055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9" name="Google Shape;159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114839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9" name="Google Shape;129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" name="Google Shape;147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Title Slide">
  <p:cSld name="14_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1107"/>
            <a:ext cx="12177238" cy="685578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8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  <a:defRPr sz="44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body" idx="1"/>
          </p:nvPr>
        </p:nvSpPr>
        <p:spPr>
          <a:xfrm>
            <a:off x="3848100" y="3424238"/>
            <a:ext cx="75247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  <a:defRPr sz="3600">
                <a:solidFill>
                  <a:srgbClr val="D79E0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3798876" y="6043367"/>
            <a:ext cx="7894974" cy="365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dt" idx="10"/>
          </p:nvPr>
        </p:nvSpPr>
        <p:spPr>
          <a:xfrm>
            <a:off x="578392" y="6043367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>
                <a:solidFill>
                  <a:srgbClr val="D79E0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כותרת ותוכן">
  <p:cSld name="2_כותרת ותוכן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69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9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9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9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כותרת בלבד">
  <p:cSld name="1_כותרת בלבד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70"/>
          <p:cNvSpPr txBox="1">
            <a:spLocks noGrp="1"/>
          </p:cNvSpPr>
          <p:nvPr>
            <p:ph type="body" idx="1"/>
          </p:nvPr>
        </p:nvSpPr>
        <p:spPr>
          <a:xfrm>
            <a:off x="404447" y="365124"/>
            <a:ext cx="11377324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0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0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השוואה">
  <p:cSld name="השוואה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1"/>
          <p:cNvSpPr txBox="1">
            <a:spLocks noGrp="1"/>
          </p:cNvSpPr>
          <p:nvPr>
            <p:ph type="body" idx="1"/>
          </p:nvPr>
        </p:nvSpPr>
        <p:spPr>
          <a:xfrm>
            <a:off x="369278" y="1681163"/>
            <a:ext cx="562829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body" idx="2"/>
          </p:nvPr>
        </p:nvSpPr>
        <p:spPr>
          <a:xfrm>
            <a:off x="369278" y="2505075"/>
            <a:ext cx="5628298" cy="314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60957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609570" cy="3156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5"/>
          </p:nvPr>
        </p:nvSpPr>
        <p:spPr>
          <a:xfrm>
            <a:off x="369277" y="365124"/>
            <a:ext cx="11412493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  <a:defRPr sz="4400" b="1"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4400"/>
              <a:buNone/>
              <a:defRPr sz="4400" b="1"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ריק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3"/>
          <p:cNvSpPr txBox="1">
            <a:spLocks noGrp="1"/>
          </p:cNvSpPr>
          <p:nvPr>
            <p:ph type="ftr" idx="11"/>
          </p:nvPr>
        </p:nvSpPr>
        <p:spPr>
          <a:xfrm>
            <a:off x="6277708" y="6073902"/>
            <a:ext cx="5504062" cy="379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3200"/>
              <a:buFont typeface="Arial"/>
              <a:buNone/>
              <a:defRPr sz="3200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dt" idx="10"/>
          </p:nvPr>
        </p:nvSpPr>
        <p:spPr>
          <a:xfrm>
            <a:off x="3981529" y="6073902"/>
            <a:ext cx="18859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1999" cy="6866313"/>
          </a:xfrm>
          <a:prstGeom prst="rect">
            <a:avLst/>
          </a:prstGeom>
        </p:spPr>
      </p:pic>
      <p:sp>
        <p:nvSpPr>
          <p:cNvPr id="11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04447" y="365124"/>
            <a:ext cx="11377324" cy="1376363"/>
          </a:xfrm>
          <a:noFill/>
        </p:spPr>
        <p:txBody>
          <a:bodyPr anchor="ctr">
            <a:normAutofit/>
          </a:bodyPr>
          <a:lstStyle>
            <a:lvl1pPr algn="r" rtl="1">
              <a:defRPr sz="4400" b="1"/>
            </a:lvl1pPr>
            <a:lvl2pPr marL="457200" indent="0" algn="r" rtl="1">
              <a:buNone/>
              <a:defRPr sz="4400" b="1"/>
            </a:lvl2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3"/>
          </p:nvPr>
        </p:nvSpPr>
        <p:spPr>
          <a:xfrm>
            <a:off x="6277708" y="6073902"/>
            <a:ext cx="5504062" cy="379652"/>
          </a:xfrm>
        </p:spPr>
        <p:txBody>
          <a:bodyPr/>
          <a:lstStyle>
            <a:lvl1pPr marL="0" indent="0" algn="r" rtl="1">
              <a:buFont typeface="Arial" panose="020B0604020202020204" pitchFamily="34" charset="0"/>
              <a:buNone/>
              <a:defRPr sz="3200">
                <a:solidFill>
                  <a:srgbClr val="0021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IL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4"/>
          </p:nvPr>
        </p:nvSpPr>
        <p:spPr>
          <a:xfrm>
            <a:off x="3981529" y="6073902"/>
            <a:ext cx="1885950" cy="365125"/>
          </a:xfrm>
        </p:spPr>
        <p:txBody>
          <a:bodyPr/>
          <a:lstStyle>
            <a:lvl1pPr marL="0" indent="0" algn="r" rtl="1"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</a:defRPr>
            </a:lvl1pPr>
          </a:lstStyle>
          <a:p>
            <a:fld id="{AA2153F9-CD1E-4915-8F64-241C69FF8ED7}" type="datetimeFigureOut">
              <a:rPr lang="en-IL" smtClean="0"/>
              <a:t>02/23/2026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15156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59F0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lab.research.google.com/drive/1_s1uH0BseMDTbBGvJ6lgkJkJ1aMt5dok?usp=sharing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IudLrV5T1rxEBkAkml66BbMyGKilVOEd?usp=drive_link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q06bBq0smik_l_ayMAsVRWJ_PNfoqu4q?usp=sharing" TargetMode="External"/><Relationship Id="rId7" Type="http://schemas.openxmlformats.org/officeDocument/2006/relationships/hyperlink" Target="https://colab.research.google.com/drive/1Ce4uO4sBMqQBFijUj6GniGRVtjO7FR-O?usp=sharing" TargetMode="External"/><Relationship Id="rId2" Type="http://schemas.openxmlformats.org/officeDocument/2006/relationships/hyperlink" Target="https://www.youtube.com/playlist?list=PLNLf5_3sUeLxvDaeTk05knb0HEqVymnuw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lab.research.google.com/drive/1XC1lZBVwAP33Ch6NymOrWkw9JTjvdem9?usp=sharing" TargetMode="External"/><Relationship Id="rId5" Type="http://schemas.openxmlformats.org/officeDocument/2006/relationships/hyperlink" Target="https://colab.research.google.com/drive/1n4GzM4qYxo3DwJvBu_tmrw1ns8BXq-FR?usp=sharing" TargetMode="External"/><Relationship Id="rId4" Type="http://schemas.openxmlformats.org/officeDocument/2006/relationships/hyperlink" Target="https://colab.research.google.com/drive/1PR9y0RZn0l5xW1jNW5Ui0VJ3FXkFUXf6?usp=sharing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en-US"/>
              <a:t>Pandas</a:t>
            </a:r>
            <a:endParaRPr dirty="0"/>
          </a:p>
        </p:txBody>
      </p:sp>
      <p:sp>
        <p:nvSpPr>
          <p:cNvPr id="56" name="Google Shape;56;p1"/>
          <p:cNvSpPr txBox="1">
            <a:spLocks noGrp="1"/>
          </p:cNvSpPr>
          <p:nvPr>
            <p:ph type="body" idx="1"/>
          </p:nvPr>
        </p:nvSpPr>
        <p:spPr>
          <a:xfrm>
            <a:off x="3829050" y="3864505"/>
            <a:ext cx="752475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he-IL" sz="2400"/>
              <a:t>ספריה לניהול טבלאות – </a:t>
            </a:r>
            <a:r>
              <a:rPr lang="en-US" sz="2400"/>
              <a:t>Data Frames</a:t>
            </a:r>
          </a:p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 lang="en-US" dirty="0"/>
          </a:p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lt-text">
            <a:extLst>
              <a:ext uri="{FF2B5EF4-FFF2-40B4-BE49-F238E27FC236}">
                <a16:creationId xmlns:a16="http://schemas.microsoft.com/office/drawing/2014/main" id="{48E8FB6F-3E88-4E97-8A0C-C324E4236A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16"/>
          <a:stretch/>
        </p:blipFill>
        <p:spPr bwMode="auto">
          <a:xfrm>
            <a:off x="975023" y="2253131"/>
            <a:ext cx="3060681" cy="3089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alt-text">
            <a:extLst>
              <a:ext uri="{FF2B5EF4-FFF2-40B4-BE49-F238E27FC236}">
                <a16:creationId xmlns:a16="http://schemas.microsoft.com/office/drawing/2014/main" id="{CD7C093E-8C3B-4BA7-90D7-A277534FA2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72" r="36457"/>
          <a:stretch/>
        </p:blipFill>
        <p:spPr bwMode="auto">
          <a:xfrm>
            <a:off x="4251768" y="2253131"/>
            <a:ext cx="3294927" cy="3089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alt-text">
            <a:extLst>
              <a:ext uri="{FF2B5EF4-FFF2-40B4-BE49-F238E27FC236}">
                <a16:creationId xmlns:a16="http://schemas.microsoft.com/office/drawing/2014/main" id="{D408BFD2-3BE8-40BA-B34F-933DE7A47B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31"/>
          <a:stretch/>
        </p:blipFill>
        <p:spPr bwMode="auto">
          <a:xfrm>
            <a:off x="7762759" y="2253131"/>
            <a:ext cx="3581544" cy="3089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מציין מיקום טקסט 6">
            <a:extLst>
              <a:ext uri="{FF2B5EF4-FFF2-40B4-BE49-F238E27FC236}">
                <a16:creationId xmlns:a16="http://schemas.microsoft.com/office/drawing/2014/main" id="{F1027A0B-F6B2-46AC-925A-B3D6245C74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e-IL" dirty="0"/>
              <a:t>דוגמא: סיווג אירוסים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89640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http://sebastianraschka.com/Images_old/2014_python_lda/iris_petal_sepal.png">
            <a:extLst>
              <a:ext uri="{FF2B5EF4-FFF2-40B4-BE49-F238E27FC236}">
                <a16:creationId xmlns:a16="http://schemas.microsoft.com/office/drawing/2014/main" id="{EE10FCFE-4D60-486C-A021-F80A72D4F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176" y="876369"/>
            <a:ext cx="4435073" cy="4240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63FDA59-4DEB-4833-8054-1214B61AC1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he-IL" dirty="0"/>
              <a:t>מאפיינים של פרח</a:t>
            </a:r>
            <a:endParaRPr lang="en-IL" dirty="0"/>
          </a:p>
        </p:txBody>
      </p:sp>
      <p:graphicFrame>
        <p:nvGraphicFramePr>
          <p:cNvPr id="7" name="מציין מיקום תוכן 6">
            <a:extLst>
              <a:ext uri="{FF2B5EF4-FFF2-40B4-BE49-F238E27FC236}">
                <a16:creationId xmlns:a16="http://schemas.microsoft.com/office/drawing/2014/main" id="{4F998CFD-F94C-4146-931F-0ACD474A5F6F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5970940" y="1509536"/>
          <a:ext cx="5633484" cy="4062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6742">
                  <a:extLst>
                    <a:ext uri="{9D8B030D-6E8A-4147-A177-3AD203B41FA5}">
                      <a16:colId xmlns:a16="http://schemas.microsoft.com/office/drawing/2014/main" val="2958855768"/>
                    </a:ext>
                  </a:extLst>
                </a:gridCol>
                <a:gridCol w="2816742">
                  <a:extLst>
                    <a:ext uri="{9D8B030D-6E8A-4147-A177-3AD203B41FA5}">
                      <a16:colId xmlns:a16="http://schemas.microsoft.com/office/drawing/2014/main" val="1931826670"/>
                    </a:ext>
                  </a:extLst>
                </a:gridCol>
              </a:tblGrid>
              <a:tr h="806210"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משמעות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מאפיין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7790541"/>
                  </a:ext>
                </a:extLst>
              </a:tr>
              <a:tr h="806210"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אורך עלי גביע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Sepal length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093076"/>
                  </a:ext>
                </a:extLst>
              </a:tr>
              <a:tr h="806210"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רוחב עלי הגביע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Sepal width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520718"/>
                  </a:ext>
                </a:extLst>
              </a:tr>
              <a:tr h="838108"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אורך כלי הכותרת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Petal length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66106"/>
                  </a:ext>
                </a:extLst>
              </a:tr>
              <a:tr h="806210">
                <a:tc>
                  <a:txBody>
                    <a:bodyPr/>
                    <a:lstStyle/>
                    <a:p>
                      <a:pPr algn="ctr"/>
                      <a:r>
                        <a:rPr lang="he-IL" dirty="0"/>
                        <a:t>רוחב עלי הכותרת</a:t>
                      </a:r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Petal width</a:t>
                      </a:r>
                      <a:endParaRPr lang="en-I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700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0370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8"/>
          <p:cNvSpPr txBox="1">
            <a:spLocks noGrp="1"/>
          </p:cNvSpPr>
          <p:nvPr>
            <p:ph type="body" idx="2"/>
          </p:nvPr>
        </p:nvSpPr>
        <p:spPr>
          <a:xfrm>
            <a:off x="351693" y="319969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w-IL"/>
              <a:t>ייבוא הספרייה לסביבת העבודה</a:t>
            </a:r>
            <a:endParaRPr/>
          </a:p>
        </p:txBody>
      </p:sp>
      <p:pic>
        <p:nvPicPr>
          <p:cNvPr id="68" name="Google Shape;68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18143" y="2744385"/>
            <a:ext cx="5755714" cy="1138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0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w-IL"/>
              <a:t>קריאת טבלה מקובץ CSV</a:t>
            </a:r>
            <a:endParaRPr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875EDFF3-9FB2-96F1-039A-F9217B28E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6815" y="1859688"/>
            <a:ext cx="6899441" cy="3524567"/>
          </a:xfrm>
          <a:prstGeom prst="rect">
            <a:avLst/>
          </a:prstGeom>
        </p:spPr>
      </p:pic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BC90304D-3830-A385-01BB-D61E0401D75B}"/>
              </a:ext>
            </a:extLst>
          </p:cNvPr>
          <p:cNvSpPr txBox="1"/>
          <p:nvPr/>
        </p:nvSpPr>
        <p:spPr>
          <a:xfrm>
            <a:off x="8603311" y="5969656"/>
            <a:ext cx="194807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/>
              <a:t>לינק למחברת הדגמה</a:t>
            </a:r>
            <a:br>
              <a:rPr lang="en-US"/>
            </a:br>
            <a:r>
              <a:rPr lang="en-US">
                <a:hlinkClick r:id="rId4"/>
              </a:rPr>
              <a:t>Iris Dataset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3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w-IL" dirty="0"/>
              <a:t>הצגת ראש הטבלה </a:t>
            </a:r>
            <a:r>
              <a:rPr lang="he-IL" dirty="0"/>
              <a:t>- </a:t>
            </a:r>
            <a:r>
              <a:rPr lang="iw-IL" dirty="0"/>
              <a:t>  df.head()</a:t>
            </a:r>
            <a:endParaRPr dirty="0"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A5ECD7BC-3FA0-39F4-C68B-099A1D16C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838" y="2228682"/>
            <a:ext cx="5544324" cy="24006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3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w-IL"/>
              <a:t>הצגת </a:t>
            </a:r>
            <a:r>
              <a:rPr lang="he-IL"/>
              <a:t>מידע על העמודות - </a:t>
            </a:r>
            <a:r>
              <a:rPr lang="iw-IL"/>
              <a:t>  df.</a:t>
            </a:r>
            <a:r>
              <a:rPr lang="en-US"/>
              <a:t>info</a:t>
            </a:r>
            <a:r>
              <a:rPr lang="iw-IL"/>
              <a:t>()</a:t>
            </a:r>
            <a:endParaRPr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2F761EA6-5C92-E720-09F1-8D43AA898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971" y="2019103"/>
            <a:ext cx="3458058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377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3"/>
          <p:cNvSpPr txBox="1">
            <a:spLocks noGrp="1"/>
          </p:cNvSpPr>
          <p:nvPr>
            <p:ph type="body" idx="1"/>
          </p:nvPr>
        </p:nvSpPr>
        <p:spPr>
          <a:xfrm>
            <a:off x="404447" y="365124"/>
            <a:ext cx="11377324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w-IL"/>
              <a:t>סטטיסטיקה תיאורית </a:t>
            </a:r>
            <a:endParaRPr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0FA7C745-E32C-2B2B-D810-2FCD06584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074" y="1780945"/>
            <a:ext cx="6277851" cy="32961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3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w-IL"/>
              <a:t>הצגת </a:t>
            </a:r>
            <a:r>
              <a:rPr lang="he-IL"/>
              <a:t>ערכים ייחודיים ומספרם</a:t>
            </a: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CB8501AC-2ED8-8C81-D745-B61BA2B1A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312" y="2604972"/>
            <a:ext cx="5563376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742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4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w-IL" dirty="0"/>
              <a:t>הצגת שמות העמודות </a:t>
            </a:r>
            <a:r>
              <a:rPr lang="he-IL" dirty="0"/>
              <a:t>- </a:t>
            </a:r>
            <a:r>
              <a:rPr lang="iw-IL" dirty="0"/>
              <a:t>  df.columns</a:t>
            </a:r>
            <a:endParaRPr dirty="0"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389F8E0A-52E9-843B-CDCA-95F4C52E7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9916" y="2909815"/>
            <a:ext cx="6392167" cy="10383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5"/>
          <p:cNvSpPr txBox="1">
            <a:spLocks noGrp="1"/>
          </p:cNvSpPr>
          <p:nvPr>
            <p:ph type="body" idx="1"/>
          </p:nvPr>
        </p:nvSpPr>
        <p:spPr>
          <a:xfrm>
            <a:off x="404447" y="365124"/>
            <a:ext cx="11377324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w-IL" dirty="0"/>
              <a:t>בחירת עמודה </a:t>
            </a:r>
            <a:r>
              <a:rPr lang="he-IL" dirty="0"/>
              <a:t>- </a:t>
            </a:r>
            <a:r>
              <a:rPr lang="iw-IL" dirty="0"/>
              <a:t> df [col] או df [[col]]</a:t>
            </a:r>
            <a:endParaRPr dirty="0"/>
          </a:p>
        </p:txBody>
      </p:sp>
      <p:sp>
        <p:nvSpPr>
          <p:cNvPr id="113" name="Google Shape;113;p55"/>
          <p:cNvSpPr txBox="1"/>
          <p:nvPr/>
        </p:nvSpPr>
        <p:spPr>
          <a:xfrm>
            <a:off x="6188568" y="1855976"/>
            <a:ext cx="392973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w-IL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אפשרות א’: df</a:t>
            </a:r>
            <a:r>
              <a:rPr lang="iw-IL" sz="1400" b="1" i="0" u="none" strike="noStrike" cap="none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[</a:t>
            </a:r>
            <a:r>
              <a:rPr lang="iw-IL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</a:t>
            </a:r>
            <a:r>
              <a:rPr lang="iw-IL" sz="1400" b="1" i="0" u="none" strike="noStrike" cap="none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r>
              <a:rPr lang="iw-IL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he-IL"/>
              <a:t> </a:t>
            </a:r>
            <a:r>
              <a:rPr lang="en-US"/>
              <a:t>Pandas Series</a:t>
            </a:r>
            <a:endParaRPr sz="1400" b="0" i="0" u="none" strike="noStrike" cap="none">
              <a:solidFill>
                <a:srgbClr val="FFD9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5"/>
          <p:cNvSpPr txBox="1"/>
          <p:nvPr/>
        </p:nvSpPr>
        <p:spPr>
          <a:xfrm>
            <a:off x="347893" y="1741487"/>
            <a:ext cx="3880038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iw-IL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אפשרות ב’: df</a:t>
            </a:r>
            <a:r>
              <a:rPr lang="iw-IL" sz="1400" b="1" i="0" u="none" strike="noStrike" cap="none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[[</a:t>
            </a:r>
            <a:r>
              <a:rPr lang="iw-IL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</a:t>
            </a:r>
            <a:r>
              <a:rPr lang="iw-IL" sz="1400" b="1" i="0" u="none" strike="noStrike" cap="none">
                <a:solidFill>
                  <a:srgbClr val="FFD966"/>
                </a:solidFill>
                <a:latin typeface="Arial"/>
                <a:ea typeface="Arial"/>
                <a:cs typeface="Arial"/>
                <a:sym typeface="Arial"/>
              </a:rPr>
              <a:t>]]</a:t>
            </a:r>
            <a:r>
              <a:rPr lang="iw-IL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he-IL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Pandas Dataframe</a:t>
            </a:r>
            <a:endParaRPr sz="1400" b="0" i="0" u="none" strike="noStrike" cap="none">
              <a:solidFill>
                <a:srgbClr val="FFD9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FE9E09A5-A0D7-0774-33DF-783B948CD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481" y="2110820"/>
            <a:ext cx="2042927" cy="3397556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3A0CF40E-EA00-5545-F963-5F848DC69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250" y="2540224"/>
            <a:ext cx="3991532" cy="259116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6"/>
          <p:cNvSpPr txBox="1">
            <a:spLocks noGrp="1"/>
          </p:cNvSpPr>
          <p:nvPr>
            <p:ph type="body" idx="1"/>
          </p:nvPr>
        </p:nvSpPr>
        <p:spPr>
          <a:xfrm>
            <a:off x="404447" y="365124"/>
            <a:ext cx="11377324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w-IL"/>
              <a:t>בחירת עמודות df[[cols]]</a:t>
            </a:r>
            <a:endParaRPr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ADBE5349-5AEB-AEEC-81AC-5CD1C61C2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9225" y="1874026"/>
            <a:ext cx="3362975" cy="380415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7"/>
          <p:cNvSpPr txBox="1">
            <a:spLocks noGrp="1"/>
          </p:cNvSpPr>
          <p:nvPr>
            <p:ph type="body" idx="1"/>
          </p:nvPr>
        </p:nvSpPr>
        <p:spPr>
          <a:xfrm>
            <a:off x="404447" y="365124"/>
            <a:ext cx="11377324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w-IL"/>
              <a:t>בחירת שורות לפי אינדקס df[from:to]</a:t>
            </a:r>
            <a:endParaRPr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D65A6228-57ED-4A65-3EE2-C29574E3D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6808" y="1940710"/>
            <a:ext cx="5390808" cy="37786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8"/>
          <p:cNvSpPr txBox="1">
            <a:spLocks noGrp="1"/>
          </p:cNvSpPr>
          <p:nvPr>
            <p:ph type="body" idx="1"/>
          </p:nvPr>
        </p:nvSpPr>
        <p:spPr>
          <a:xfrm>
            <a:off x="404447" y="365124"/>
            <a:ext cx="11377324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w-IL"/>
              <a:t>בחירת שורות באמצעות תנאי</a:t>
            </a:r>
            <a:endParaRPr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A4FE47C8-C1C0-DB37-55CE-7BDB76E8A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4969" y="1950539"/>
            <a:ext cx="3439005" cy="2591162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63AC9DDC-F206-77A0-AFDE-DB9349FA86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1022" y="1950540"/>
            <a:ext cx="5131178" cy="29963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9"/>
          <p:cNvSpPr txBox="1">
            <a:spLocks noGrp="1"/>
          </p:cNvSpPr>
          <p:nvPr>
            <p:ph type="body" idx="1"/>
          </p:nvPr>
        </p:nvSpPr>
        <p:spPr>
          <a:xfrm>
            <a:off x="404447" y="365124"/>
            <a:ext cx="11377324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w-IL"/>
              <a:t>בחירת שורות באמצעות תנאי (2)</a:t>
            </a:r>
            <a:endParaRPr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9B9222C2-5A19-3E4E-0E24-E4D4A9DB4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5604" y="1741487"/>
            <a:ext cx="6335009" cy="381053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0"/>
          <p:cNvSpPr txBox="1">
            <a:spLocks noGrp="1"/>
          </p:cNvSpPr>
          <p:nvPr>
            <p:ph type="body" idx="1"/>
          </p:nvPr>
        </p:nvSpPr>
        <p:spPr>
          <a:xfrm>
            <a:off x="404447" y="365124"/>
            <a:ext cx="11377324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w-IL"/>
              <a:t>בחירת שורות באמצעות תנאי מורכב</a:t>
            </a:r>
            <a:endParaRPr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C5F828CF-A569-2978-B7A4-E3CA1851F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2709" y="1823574"/>
            <a:ext cx="6620799" cy="39057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1"/>
          <p:cNvSpPr txBox="1">
            <a:spLocks noGrp="1"/>
          </p:cNvSpPr>
          <p:nvPr>
            <p:ph type="body" idx="1"/>
          </p:nvPr>
        </p:nvSpPr>
        <p:spPr>
          <a:xfrm>
            <a:off x="404447" y="365124"/>
            <a:ext cx="11377324" cy="1376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iw-IL"/>
              <a:t>מיון</a:t>
            </a:r>
            <a:endParaRPr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2864A2F3-C293-B743-5433-A5578DE59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946" y="783388"/>
            <a:ext cx="6268325" cy="470600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242D4DC9-FB59-692D-1E9B-8C6E3AB60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/>
              <a:t>מחיקת עמודות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9EF9AB7D-D7B8-F71E-5300-379D083F4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5576" y="1741487"/>
            <a:ext cx="4940958" cy="3719249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BE9DB14D-F998-106A-C6BA-AAF70CEE2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603" y="1741487"/>
            <a:ext cx="5151648" cy="387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188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A8B5DFA-7067-4B88-5CC4-BA657BABE793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>
            <a:normAutofit/>
          </a:bodyPr>
          <a:lstStyle/>
          <a:p>
            <a:r>
              <a:rPr lang="he-IL"/>
              <a:t>מחיקת ערכים חסרים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7FAD1A2F-1FD4-A3D6-A7B5-E24646B5F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2" y="1001140"/>
            <a:ext cx="2777488" cy="4239840"/>
          </a:xfrm>
          <a:prstGeom prst="rect">
            <a:avLst/>
          </a:prstGeom>
        </p:spPr>
      </p:pic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F45355D3-AAF8-73C5-4792-80D980DDDE4A}"/>
              </a:ext>
            </a:extLst>
          </p:cNvPr>
          <p:cNvSpPr txBox="1"/>
          <p:nvPr/>
        </p:nvSpPr>
        <p:spPr>
          <a:xfrm>
            <a:off x="5138928" y="2862072"/>
            <a:ext cx="5138928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/>
              <a:t>הערה: פקודה זו נבצע על </a:t>
            </a:r>
            <a:r>
              <a:rPr lang="en-US"/>
              <a:t>Penguin Dataset</a:t>
            </a:r>
            <a:r>
              <a:rPr lang="he-IL"/>
              <a:t> כי שם יש ערכים חסרים</a:t>
            </a:r>
          </a:p>
        </p:txBody>
      </p:sp>
    </p:spTree>
    <p:extLst>
      <p:ext uri="{BB962C8B-B14F-4D97-AF65-F5344CB8AC3E}">
        <p14:creationId xmlns:p14="http://schemas.microsoft.com/office/powerpoint/2010/main" val="2892858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4"/>
          <p:cNvSpPr txBox="1">
            <a:spLocks noGrp="1"/>
          </p:cNvSpPr>
          <p:nvPr>
            <p:ph type="body" idx="1"/>
          </p:nvPr>
        </p:nvSpPr>
        <p:spPr>
          <a:xfrm>
            <a:off x="351693" y="1825625"/>
            <a:ext cx="11430077" cy="3783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85800" indent="-457200" algn="r" rt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יש לתרגל את הפקודות במצגת על המחברת הבאה</a:t>
            </a:r>
            <a:b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/>
              </a:rPr>
              <a:t>Penguin Dataset</a:t>
            </a:r>
            <a:endParaRPr lang="he-IL" sz="24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685800" indent="-457200" algn="r" rt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he-IL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כדי לבצע בה שינויים ולשמור את השינויים, יש לפתוח את המחברת ולבצע לה העתק אליכם </a:t>
            </a:r>
            <a:r>
              <a:rPr lang="en-US"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File, Save copy in drive</a:t>
            </a:r>
            <a:endParaRPr lang="en-US" sz="2400" dirty="0"/>
          </a:p>
        </p:txBody>
      </p:sp>
      <p:sp>
        <p:nvSpPr>
          <p:cNvPr id="174" name="Google Shape;174;p64"/>
          <p:cNvSpPr txBox="1">
            <a:spLocks noGrp="1"/>
          </p:cNvSpPr>
          <p:nvPr>
            <p:ph type="body" idx="2"/>
          </p:nvPr>
        </p:nvSpPr>
        <p:spPr>
          <a:xfrm>
            <a:off x="351693" y="365124"/>
            <a:ext cx="11430078" cy="1250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4400"/>
              <a:buNone/>
            </a:pPr>
            <a:r>
              <a:rPr lang="he-IL"/>
              <a:t>תרגיל 1 </a:t>
            </a:r>
            <a:r>
              <a:rPr lang="he-IL" dirty="0"/>
              <a:t>בקבוצות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טקסט 1">
            <a:extLst>
              <a:ext uri="{FF2B5EF4-FFF2-40B4-BE49-F238E27FC236}">
                <a16:creationId xmlns:a16="http://schemas.microsoft.com/office/drawing/2014/main" id="{CAA32398-4F35-6898-FF1A-5C9B68F742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he-IL" sz="2000" b="0" i="0" u="none" strike="noStrike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יש לצפות בסרטוני הסבר ומחברות:</a:t>
            </a:r>
            <a:endParaRPr lang="pt-BR" sz="2000" b="0">
              <a:effectLst/>
            </a:endParaRP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pt-BR" sz="1800" b="0" i="0" u="sng" strike="noStrike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2"/>
              </a:rPr>
              <a:t>Pandas videos</a:t>
            </a:r>
            <a:endParaRPr lang="pt-BR" b="0">
              <a:effectLst/>
            </a:endParaRP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pt-BR" sz="1800" b="0" i="0" u="sng" strike="noStrike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3"/>
              </a:rPr>
              <a:t>Pandas Notebook 1 </a:t>
            </a:r>
            <a:endParaRPr lang="pt-BR" b="0">
              <a:effectLst/>
            </a:endParaRP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pt-BR" sz="1800" b="0" i="0" u="sng" strike="noStrike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4"/>
              </a:rPr>
              <a:t>Pandas Notebook 2</a:t>
            </a:r>
            <a:endParaRPr lang="pt-BR" b="0">
              <a:effectLst/>
            </a:endParaRP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pt-BR" sz="1800" b="0" i="0" u="sng" strike="noStrike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5"/>
              </a:rPr>
              <a:t>Pandas Notebook 3</a:t>
            </a:r>
            <a:endParaRPr lang="pt-BR" b="0">
              <a:effectLst/>
            </a:endParaRP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he-IL" sz="2000" b="0">
                <a:effectLst/>
              </a:rPr>
              <a:t>לאחר מכן יש לפתור את שתי מחברות התרגילים:</a:t>
            </a:r>
            <a:endParaRPr lang="he-IL" sz="2000"/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pt-BR" sz="1800" b="0" i="0" u="sng" strike="noStrike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6"/>
              </a:rPr>
              <a:t>Pandas Exercise 1</a:t>
            </a:r>
            <a:endParaRPr lang="pt-BR" b="0">
              <a:effectLst/>
            </a:endParaRPr>
          </a:p>
          <a:p>
            <a:pPr algn="l" rtl="0">
              <a:spcBef>
                <a:spcPts val="0"/>
              </a:spcBef>
              <a:spcAft>
                <a:spcPts val="0"/>
              </a:spcAft>
            </a:pPr>
            <a:r>
              <a:rPr lang="pt-BR" sz="1800" b="0" i="0" u="sng" strike="noStrike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7"/>
              </a:rPr>
              <a:t>Pandas Exercise 2</a:t>
            </a:r>
            <a:endParaRPr lang="pt-BR" b="0">
              <a:effectLst/>
            </a:endParaRPr>
          </a:p>
          <a:p>
            <a:pPr algn="l"/>
            <a:br>
              <a:rPr lang="pt-BR"/>
            </a:br>
            <a:endParaRPr lang="he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F727576-792C-E8E6-723E-22DBE8122E32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he-IL"/>
              <a:t>תרגילים מתקדמים</a:t>
            </a:r>
          </a:p>
        </p:txBody>
      </p:sp>
    </p:spTree>
    <p:extLst>
      <p:ext uri="{BB962C8B-B14F-4D97-AF65-F5344CB8AC3E}">
        <p14:creationId xmlns:p14="http://schemas.microsoft.com/office/powerpoint/2010/main" val="13357509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 txBox="1">
            <a:spLocks noGrp="1"/>
          </p:cNvSpPr>
          <p:nvPr>
            <p:ph type="title"/>
          </p:nvPr>
        </p:nvSpPr>
        <p:spPr>
          <a:xfrm>
            <a:off x="3736622" y="2766218"/>
            <a:ext cx="780062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</a:pPr>
            <a:r>
              <a:rPr lang="iw-IL"/>
              <a:t>שאלות?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NION_Op3_General_Heb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235</Words>
  <Application>Microsoft Office PowerPoint</Application>
  <PresentationFormat>מסך רחב</PresentationFormat>
  <Paragraphs>48</Paragraphs>
  <Slides>22</Slides>
  <Notes>17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22</vt:i4>
      </vt:variant>
    </vt:vector>
  </HeadingPairs>
  <TitlesOfParts>
    <vt:vector size="25" baseType="lpstr">
      <vt:lpstr>Arial</vt:lpstr>
      <vt:lpstr>Tahoma</vt:lpstr>
      <vt:lpstr>TECHNION_Op3_General_Heb</vt:lpstr>
      <vt:lpstr>Pandas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שאלות?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מדעי הנתונים ולמידת מכונה</dc:title>
  <dc:creator>Jacob Mike</dc:creator>
  <cp:lastModifiedBy>user</cp:lastModifiedBy>
  <cp:revision>31</cp:revision>
  <dcterms:created xsi:type="dcterms:W3CDTF">2019-03-02T07:56:19Z</dcterms:created>
  <dcterms:modified xsi:type="dcterms:W3CDTF">2026-02-23T08:28:05Z</dcterms:modified>
</cp:coreProperties>
</file>