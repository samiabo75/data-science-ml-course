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7" r:id="rId4"/>
    <p:sldId id="258" r:id="rId5"/>
    <p:sldId id="268" r:id="rId6"/>
    <p:sldId id="269" r:id="rId7"/>
    <p:sldId id="264" r:id="rId8"/>
  </p:sldIdLst>
  <p:sldSz cx="12192000" cy="6858000"/>
  <p:notesSz cx="6858000" cy="9144000"/>
  <p:embeddedFontLst>
    <p:embeddedFont>
      <p:font typeface="Tahoma" panose="020B060403050404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n9DURemGLhgG5IoWTfZlP6r1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59" name="Google Shape;3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65" name="Google Shape;3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981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045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ahoma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1400"/>
              <a:buFont typeface="Arial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>
  <p:cSld name="שני תכנים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5668107" cy="382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609570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ction">
  <p:cSld name="Trac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5"/>
          <p:cNvSpPr txBox="1">
            <a:spLocks noGrp="1"/>
          </p:cNvSpPr>
          <p:nvPr>
            <p:ph type="body" idx="1"/>
          </p:nvPr>
        </p:nvSpPr>
        <p:spPr>
          <a:xfrm>
            <a:off x="6266428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2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3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4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5"/>
          </p:nvPr>
        </p:nvSpPr>
        <p:spPr>
          <a:xfrm>
            <a:off x="919283" y="2782888"/>
            <a:ext cx="4992567" cy="343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 flipH="1">
            <a:off x="752100" y="739303"/>
            <a:ext cx="6825035" cy="537939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6322977" y="1663435"/>
            <a:ext cx="5869021" cy="2003898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557775" tIns="53035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1"/>
          </p:nvPr>
        </p:nvSpPr>
        <p:spPr>
          <a:xfrm>
            <a:off x="6822159" y="2878246"/>
            <a:ext cx="4925188" cy="339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Us">
  <p:cSld name="About U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7"/>
          <p:cNvSpPr>
            <a:spLocks noGrp="1"/>
          </p:cNvSpPr>
          <p:nvPr>
            <p:ph type="pic" idx="2"/>
          </p:nvPr>
        </p:nvSpPr>
        <p:spPr>
          <a:xfrm flipH="1">
            <a:off x="5012530" y="0"/>
            <a:ext cx="719613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-2" y="1672143"/>
            <a:ext cx="6019802" cy="3513714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676650" tIns="795525" rIns="91425" bIns="45700" anchor="t" anchorCtr="0">
            <a:norm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594575" y="3007594"/>
            <a:ext cx="4850550" cy="1731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blem">
  <p:cSld name="Problem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68" name="Google Shape;68;p18"/>
          <p:cNvSpPr>
            <a:spLocks noGrp="1"/>
          </p:cNvSpPr>
          <p:nvPr>
            <p:ph type="pic" idx="2"/>
          </p:nvPr>
        </p:nvSpPr>
        <p:spPr>
          <a:xfrm flipH="1">
            <a:off x="0" y="729926"/>
            <a:ext cx="3581400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3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body" idx="4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5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6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7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8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9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3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4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4065516" y="1185284"/>
            <a:ext cx="7288284" cy="4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ution">
  <p:cSld name="Solu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2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3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4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5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6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7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8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1384299" y="2768600"/>
            <a:ext cx="2956810" cy="112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Overview">
  <p:cSld name="Product Overview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2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3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4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5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6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7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8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2452697" y="1581912"/>
            <a:ext cx="7286605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>
            <a:spLocks noGrp="1"/>
          </p:cNvSpPr>
          <p:nvPr>
            <p:ph type="pic" idx="9"/>
          </p:nvPr>
        </p:nvSpPr>
        <p:spPr>
          <a:xfrm>
            <a:off x="1510614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>
            <a:spLocks noGrp="1"/>
          </p:cNvSpPr>
          <p:nvPr>
            <p:ph type="pic" idx="13"/>
          </p:nvPr>
        </p:nvSpPr>
        <p:spPr>
          <a:xfrm>
            <a:off x="4369110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>
            <a:spLocks noGrp="1"/>
          </p:cNvSpPr>
          <p:nvPr>
            <p:ph type="pic" idx="14"/>
          </p:nvPr>
        </p:nvSpPr>
        <p:spPr>
          <a:xfrm>
            <a:off x="7227608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0"/>
          <p:cNvSpPr>
            <a:spLocks noGrp="1"/>
          </p:cNvSpPr>
          <p:nvPr>
            <p:ph type="pic" idx="15"/>
          </p:nvPr>
        </p:nvSpPr>
        <p:spPr>
          <a:xfrm>
            <a:off x="10078575" y="2847098"/>
            <a:ext cx="603504" cy="6035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Benefits">
  <p:cSld name="Product Benefi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>
            <a:spLocks noGrp="1"/>
          </p:cNvSpPr>
          <p:nvPr>
            <p:ph type="pic" idx="2"/>
          </p:nvPr>
        </p:nvSpPr>
        <p:spPr>
          <a:xfrm>
            <a:off x="622570" y="729926"/>
            <a:ext cx="6456836" cy="5388772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6467704" y="1881922"/>
            <a:ext cx="5749200" cy="3084630"/>
          </a:xfrm>
          <a:prstGeom prst="rect">
            <a:avLst/>
          </a:prstGeom>
          <a:solidFill>
            <a:schemeClr val="lt2">
              <a:alpha val="92941"/>
            </a:schemeClr>
          </a:solidFill>
          <a:ln>
            <a:noFill/>
          </a:ln>
        </p:spPr>
        <p:txBody>
          <a:bodyPr spcFirstLastPara="1" wrap="square" lIns="694925" tIns="71322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7079405" y="3201410"/>
            <a:ext cx="4614604" cy="129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Overview">
  <p:cSld name="Company Overview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1403350" y="1371599"/>
            <a:ext cx="9385300" cy="985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siness Model">
  <p:cSld name="Business Model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>
            <a:spLocks noGrp="1"/>
          </p:cNvSpPr>
          <p:nvPr>
            <p:ph type="pic" idx="2"/>
          </p:nvPr>
        </p:nvSpPr>
        <p:spPr>
          <a:xfrm>
            <a:off x="5011738" y="0"/>
            <a:ext cx="7196930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-1" y="1036629"/>
            <a:ext cx="6007099" cy="4784742"/>
          </a:xfrm>
          <a:prstGeom prst="rect">
            <a:avLst/>
          </a:prstGeom>
          <a:solidFill>
            <a:schemeClr val="accent6">
              <a:alpha val="80000"/>
            </a:schemeClr>
          </a:solidFill>
          <a:ln>
            <a:noFill/>
          </a:ln>
        </p:spPr>
        <p:txBody>
          <a:bodyPr spcFirstLastPara="1" wrap="square" lIns="822950" tIns="640075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3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4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5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6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7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Overview">
  <p:cSld name="Market Overview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2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3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4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5" name="Google Shape;145;p24"/>
          <p:cNvCxnSpPr/>
          <p:nvPr/>
        </p:nvCxnSpPr>
        <p:spPr>
          <a:xfrm>
            <a:off x="832513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24"/>
          <p:cNvSpPr txBox="1">
            <a:spLocks noGrp="1"/>
          </p:cNvSpPr>
          <p:nvPr>
            <p:ph type="body" idx="5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6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4000"/>
              <a:buNone/>
              <a:defRPr sz="4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8" name="Google Shape;148;p24"/>
          <p:cNvCxnSpPr/>
          <p:nvPr/>
        </p:nvCxnSpPr>
        <p:spPr>
          <a:xfrm>
            <a:off x="4699359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4"/>
          <p:cNvCxnSpPr/>
          <p:nvPr/>
        </p:nvCxnSpPr>
        <p:spPr>
          <a:xfrm>
            <a:off x="8566207" y="3939883"/>
            <a:ext cx="2903678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729016" y="1643321"/>
            <a:ext cx="4856634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Comparison">
  <p:cSld name="Market Comparis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>
            <a:spLocks noGrp="1"/>
          </p:cNvSpPr>
          <p:nvPr>
            <p:ph type="pic" idx="2"/>
          </p:nvPr>
        </p:nvSpPr>
        <p:spPr>
          <a:xfrm>
            <a:off x="0" y="0"/>
            <a:ext cx="5334461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3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4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5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noFill/>
          <a:ln w="28575" cap="flat" cmpd="sng">
            <a:solidFill>
              <a:srgbClr val="9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9F9F9"/>
              </a:buClr>
              <a:buSzPts val="2400"/>
              <a:buNone/>
              <a:defRPr sz="2400" cap="none">
                <a:solidFill>
                  <a:srgbClr val="C9F9F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6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7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6207016" y="74663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">
  <p:cSld name="Our Competition">
    <p:bg>
      <p:bgPr>
        <a:solidFill>
          <a:srgbClr val="17161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>
            <a:spLocks noGrp="1"/>
          </p:cNvSpPr>
          <p:nvPr>
            <p:ph type="pic" idx="2"/>
          </p:nvPr>
        </p:nvSpPr>
        <p:spPr>
          <a:xfrm rot="5400000" flipH="1">
            <a:off x="-2092961" y="2092960"/>
            <a:ext cx="6858002" cy="2672081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26"/>
          <p:cNvSpPr txBox="1">
            <a:spLocks noGrp="1"/>
          </p:cNvSpPr>
          <p:nvPr>
            <p:ph type="body" idx="3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4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5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2796032" y="1649421"/>
            <a:ext cx="5184648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Competition v2">
  <p:cSld name="Our Competition v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90" y="0"/>
            <a:ext cx="121886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2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3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4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1200"/>
              <a:buNone/>
              <a:defRPr sz="12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body" idx="5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4BCF7"/>
              </a:buClr>
              <a:buSzPts val="1200"/>
              <a:buNone/>
              <a:defRPr sz="1200" cap="none">
                <a:solidFill>
                  <a:srgbClr val="F4BCF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6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7F1FF"/>
              </a:buClr>
              <a:buSzPts val="1200"/>
              <a:buNone/>
              <a:defRPr sz="1200" cap="none">
                <a:solidFill>
                  <a:srgbClr val="97F1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body" idx="7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57EED"/>
              </a:buClr>
              <a:buSzPts val="1200"/>
              <a:buNone/>
              <a:defRPr sz="1200" cap="none">
                <a:solidFill>
                  <a:srgbClr val="E57EE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body" idx="8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000"/>
              <a:buNone/>
              <a:defRPr sz="10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88" name="Google Shape;188;p27"/>
          <p:cNvCxnSpPr/>
          <p:nvPr/>
        </p:nvCxnSpPr>
        <p:spPr>
          <a:xfrm>
            <a:off x="3758002" y="3713168"/>
            <a:ext cx="4683649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27"/>
          <p:cNvCxnSpPr/>
          <p:nvPr/>
        </p:nvCxnSpPr>
        <p:spPr>
          <a:xfrm rot="10800000" flipH="1">
            <a:off x="6091322" y="2030298"/>
            <a:ext cx="4678" cy="3376818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0" name="Google Shape;190;p27"/>
          <p:cNvSpPr txBox="1">
            <a:spLocks noGrp="1"/>
          </p:cNvSpPr>
          <p:nvPr>
            <p:ph type="body" idx="9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body" idx="13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794508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wth Strategy">
  <p:cSld name="Growth Strateg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28"/>
          <p:cNvSpPr txBox="1">
            <a:spLocks noGrp="1"/>
          </p:cNvSpPr>
          <p:nvPr>
            <p:ph type="body" idx="2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body" idx="3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4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28"/>
          <p:cNvSpPr txBox="1">
            <a:spLocks noGrp="1"/>
          </p:cNvSpPr>
          <p:nvPr>
            <p:ph type="body" idx="5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3" name="Google Shape;203;p28"/>
          <p:cNvSpPr txBox="1">
            <a:spLocks noGrp="1"/>
          </p:cNvSpPr>
          <p:nvPr>
            <p:ph type="body" idx="6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7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Year Action Plan">
  <p:cSld name="Two-Year Action Pla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11" name="Google Shape;211;p29"/>
          <p:cNvSpPr txBox="1">
            <a:spLocks noGrp="1"/>
          </p:cNvSpPr>
          <p:nvPr>
            <p:ph type="body" idx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body" idx="2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3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9"/>
          <p:cNvSpPr txBox="1">
            <a:spLocks noGrp="1"/>
          </p:cNvSpPr>
          <p:nvPr>
            <p:ph type="body" idx="4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5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body" idx="6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body" idx="7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8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9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3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4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body" idx="15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body" idx="16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body" idx="17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body" idx="18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19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body" idx="20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body" idx="2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body" idx="22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23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body" idx="24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25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9"/>
          <p:cNvSpPr txBox="1">
            <a:spLocks noGrp="1"/>
          </p:cNvSpPr>
          <p:nvPr>
            <p:ph type="body" idx="26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9"/>
          <p:cNvSpPr txBox="1">
            <a:spLocks noGrp="1"/>
          </p:cNvSpPr>
          <p:nvPr>
            <p:ph type="body" idx="27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29"/>
          <p:cNvSpPr txBox="1">
            <a:spLocks noGrp="1"/>
          </p:cNvSpPr>
          <p:nvPr>
            <p:ph type="body" idx="28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29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29"/>
          <p:cNvSpPr txBox="1">
            <a:spLocks noGrp="1"/>
          </p:cNvSpPr>
          <p:nvPr>
            <p:ph type="body" idx="30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3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29"/>
          <p:cNvSpPr txBox="1">
            <a:spLocks noGrp="1"/>
          </p:cNvSpPr>
          <p:nvPr>
            <p:ph type="body" idx="32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33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body" idx="34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35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title"/>
          </p:nvPr>
        </p:nvSpPr>
        <p:spPr>
          <a:xfrm>
            <a:off x="2451534" y="989042"/>
            <a:ext cx="72877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ncials">
  <p:cSld name="Financials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>
            <a:spLocks noGrp="1"/>
          </p:cNvSpPr>
          <p:nvPr>
            <p:ph type="pic" idx="2"/>
          </p:nvPr>
        </p:nvSpPr>
        <p:spPr>
          <a:xfrm>
            <a:off x="7179732" y="0"/>
            <a:ext cx="5012268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30"/>
          <p:cNvSpPr>
            <a:spLocks noGrp="1"/>
          </p:cNvSpPr>
          <p:nvPr>
            <p:ph type="pic" idx="3"/>
          </p:nvPr>
        </p:nvSpPr>
        <p:spPr>
          <a:xfrm>
            <a:off x="7179732" y="0"/>
            <a:ext cx="5012267" cy="6867376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1" name="Google Shape;251;p30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0"/>
          <p:cNvSpPr txBox="1">
            <a:spLocks noGrp="1"/>
          </p:cNvSpPr>
          <p:nvPr>
            <p:ph type="body" idx="1"/>
          </p:nvPr>
        </p:nvSpPr>
        <p:spPr>
          <a:xfrm>
            <a:off x="793750" y="1238250"/>
            <a:ext cx="5422392" cy="459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et The Team">
  <p:cSld name="Meet The Team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1"/>
          <p:cNvSpPr>
            <a:spLocks noGrp="1"/>
          </p:cNvSpPr>
          <p:nvPr>
            <p:ph type="pic" idx="2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31"/>
          <p:cNvSpPr txBox="1">
            <a:spLocks noGrp="1"/>
          </p:cNvSpPr>
          <p:nvPr>
            <p:ph type="body" idx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body" idx="3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31"/>
          <p:cNvSpPr>
            <a:spLocks noGrp="1"/>
          </p:cNvSpPr>
          <p:nvPr>
            <p:ph type="pic" idx="4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31"/>
          <p:cNvSpPr>
            <a:spLocks noGrp="1"/>
          </p:cNvSpPr>
          <p:nvPr>
            <p:ph type="pic" idx="5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31"/>
          <p:cNvSpPr>
            <a:spLocks noGrp="1"/>
          </p:cNvSpPr>
          <p:nvPr>
            <p:ph type="pic" idx="6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31"/>
          <p:cNvSpPr txBox="1">
            <a:spLocks noGrp="1"/>
          </p:cNvSpPr>
          <p:nvPr>
            <p:ph type="body" idx="7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body" idx="8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body" idx="9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13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14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5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>
            <a:spLocks noGrp="1"/>
          </p:cNvSpPr>
          <p:nvPr>
            <p:ph type="title"/>
          </p:nvPr>
        </p:nvSpPr>
        <p:spPr>
          <a:xfrm>
            <a:off x="2452698" y="1566777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Full Team">
  <p:cSld name="The Full Team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lt2">
              <a:alpha val="8470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2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3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4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5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6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7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8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32"/>
          <p:cNvSpPr>
            <a:spLocks noGrp="1"/>
          </p:cNvSpPr>
          <p:nvPr>
            <p:ph type="pic" idx="9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32"/>
          <p:cNvSpPr txBox="1">
            <a:spLocks noGrp="1"/>
          </p:cNvSpPr>
          <p:nvPr>
            <p:ph type="body" idx="13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body" idx="14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32"/>
          <p:cNvSpPr txBox="1">
            <a:spLocks noGrp="1"/>
          </p:cNvSpPr>
          <p:nvPr>
            <p:ph type="body" idx="15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32"/>
          <p:cNvSpPr txBox="1">
            <a:spLocks noGrp="1"/>
          </p:cNvSpPr>
          <p:nvPr>
            <p:ph type="body" idx="16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2"/>
          <p:cNvSpPr txBox="1">
            <a:spLocks noGrp="1"/>
          </p:cNvSpPr>
          <p:nvPr>
            <p:ph type="body" idx="17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32"/>
          <p:cNvSpPr txBox="1">
            <a:spLocks noGrp="1"/>
          </p:cNvSpPr>
          <p:nvPr>
            <p:ph type="body" idx="18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2"/>
          <p:cNvSpPr txBox="1">
            <a:spLocks noGrp="1"/>
          </p:cNvSpPr>
          <p:nvPr>
            <p:ph type="body" idx="19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20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2"/>
          <p:cNvSpPr>
            <a:spLocks noGrp="1"/>
          </p:cNvSpPr>
          <p:nvPr>
            <p:ph type="pic" idx="2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32"/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2"/>
          <p:cNvSpPr>
            <a:spLocks noGrp="1"/>
          </p:cNvSpPr>
          <p:nvPr>
            <p:ph type="pic" idx="22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2"/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2"/>
          <p:cNvSpPr>
            <a:spLocks noGrp="1"/>
          </p:cNvSpPr>
          <p:nvPr>
            <p:ph type="pic" idx="23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2"/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2"/>
          <p:cNvSpPr>
            <a:spLocks noGrp="1"/>
          </p:cNvSpPr>
          <p:nvPr>
            <p:ph type="pic" idx="24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2"/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>
            <a:spLocks noGrp="1"/>
          </p:cNvSpPr>
          <p:nvPr>
            <p:ph type="pic" idx="25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2"/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2"/>
          <p:cNvSpPr>
            <a:spLocks noGrp="1"/>
          </p:cNvSpPr>
          <p:nvPr>
            <p:ph type="pic" idx="26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2"/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2"/>
          <p:cNvSpPr>
            <a:spLocks noGrp="1"/>
          </p:cNvSpPr>
          <p:nvPr>
            <p:ph type="pic" idx="27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2"/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2"/>
          <p:cNvSpPr txBox="1">
            <a:spLocks noGrp="1"/>
          </p:cNvSpPr>
          <p:nvPr>
            <p:ph type="title"/>
          </p:nvPr>
        </p:nvSpPr>
        <p:spPr>
          <a:xfrm>
            <a:off x="2452698" y="1187753"/>
            <a:ext cx="7286604" cy="634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ing">
  <p:cSld name="Funding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D34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 txBox="1">
            <a:spLocks noGrp="1"/>
          </p:cNvSpPr>
          <p:nvPr>
            <p:ph type="body" idx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16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2" name="Google Shape;322;p33"/>
          <p:cNvSpPr txBox="1">
            <a:spLocks noGrp="1"/>
          </p:cNvSpPr>
          <p:nvPr>
            <p:ph type="body" idx="2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33"/>
          <p:cNvSpPr txBox="1">
            <a:spLocks noGrp="1"/>
          </p:cNvSpPr>
          <p:nvPr>
            <p:ph type="body" idx="3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7D80"/>
              </a:buClr>
              <a:buSzPts val="1600"/>
              <a:buNone/>
              <a:defRPr sz="16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33"/>
          <p:cNvSpPr txBox="1">
            <a:spLocks noGrp="1"/>
          </p:cNvSpPr>
          <p:nvPr>
            <p:ph type="body" idx="4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body" idx="5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  <a:defRPr sz="16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3"/>
          <p:cNvSpPr txBox="1">
            <a:spLocks noGrp="1"/>
          </p:cNvSpPr>
          <p:nvPr>
            <p:ph type="body" idx="6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3"/>
          <p:cNvSpPr txBox="1">
            <a:spLocks noGrp="1"/>
          </p:cNvSpPr>
          <p:nvPr>
            <p:ph type="body" idx="7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C1F8"/>
              </a:buClr>
              <a:buSzPts val="1600"/>
              <a:buNone/>
              <a:defRPr sz="16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3"/>
          <p:cNvSpPr txBox="1">
            <a:spLocks noGrp="1"/>
          </p:cNvSpPr>
          <p:nvPr>
            <p:ph type="body" idx="8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9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13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14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B6C1F8"/>
              </a:buClr>
              <a:buSzPts val="2800"/>
              <a:buNone/>
              <a:defRPr sz="2800" cap="none">
                <a:solidFill>
                  <a:srgbClr val="B6C1F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15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87D80"/>
              </a:buClr>
              <a:buSzPts val="2800"/>
              <a:buNone/>
              <a:defRPr sz="2800" cap="none">
                <a:solidFill>
                  <a:srgbClr val="F87D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793750" y="715939"/>
            <a:ext cx="48646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title"/>
          </p:nvPr>
        </p:nvSpPr>
        <p:spPr>
          <a:xfrm>
            <a:off x="0" y="1353381"/>
            <a:ext cx="5622878" cy="4151236"/>
          </a:xfrm>
          <a:prstGeom prst="rect">
            <a:avLst/>
          </a:prstGeom>
          <a:solidFill>
            <a:schemeClr val="accent3">
              <a:alpha val="89803"/>
            </a:schemeClr>
          </a:solidFill>
          <a:ln>
            <a:noFill/>
          </a:ln>
        </p:spPr>
        <p:txBody>
          <a:bodyPr spcFirstLastPara="1" wrap="square" lIns="649200" tIns="7498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4"/>
          <p:cNvSpPr txBox="1">
            <a:spLocks noGrp="1"/>
          </p:cNvSpPr>
          <p:nvPr>
            <p:ph type="body" idx="1"/>
          </p:nvPr>
        </p:nvSpPr>
        <p:spPr>
          <a:xfrm>
            <a:off x="577993" y="2689071"/>
            <a:ext cx="4567209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dk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8153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35"/>
          <p:cNvSpPr txBox="1">
            <a:spLocks noGrp="1"/>
          </p:cNvSpPr>
          <p:nvPr>
            <p:ph type="body" idx="1"/>
          </p:nvPr>
        </p:nvSpPr>
        <p:spPr>
          <a:xfrm>
            <a:off x="7465112" y="2326705"/>
            <a:ext cx="4114592" cy="221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347" name="Google Shape;347;p35"/>
          <p:cNvSpPr txBox="1">
            <a:spLocks noGrp="1"/>
          </p:cNvSpPr>
          <p:nvPr>
            <p:ph type="title"/>
          </p:nvPr>
        </p:nvSpPr>
        <p:spPr>
          <a:xfrm>
            <a:off x="7452360" y="1728566"/>
            <a:ext cx="4127344" cy="72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קופית כותרת" type="title">
  <p:cSld name="TITLE">
    <p:bg>
      <p:bgPr>
        <a:solidFill>
          <a:schemeClr val="accent2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7"/>
          <p:cNvSpPr txBox="1"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>
                <a:solidFill>
                  <a:srgbClr val="3F3F3F"/>
                </a:solidFill>
              </a:defRPr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5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xK_Xb0Ras_ZNiJ1CMnixlKGRmlES37Fx/edit?usp=drive_link&amp;ouid=113275702501995684649&amp;rtpof=true&amp;sd=tru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ikb30.wordpress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"/>
          <p:cNvSpPr txBox="1">
            <a:spLocks noGrp="1"/>
          </p:cNvSpPr>
          <p:nvPr>
            <p:ph type="title"/>
          </p:nvPr>
        </p:nvSpPr>
        <p:spPr>
          <a:xfrm>
            <a:off x="3829050" y="1925832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</a:pPr>
            <a:r>
              <a:rPr lang="iw-IL" dirty="0"/>
              <a:t>השתלמות </a:t>
            </a:r>
            <a:r>
              <a:rPr lang="he-IL" dirty="0"/>
              <a:t>מדעי הנתונים תשפ"ו</a:t>
            </a:r>
            <a:endParaRPr dirty="0"/>
          </a:p>
        </p:txBody>
      </p:sp>
      <p:sp>
        <p:nvSpPr>
          <p:cNvPr id="362" name="Google Shape;362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79E0F"/>
              </a:buClr>
              <a:buSzPts val="3600"/>
              <a:buNone/>
            </a:pPr>
            <a:r>
              <a:rPr lang="he-IL"/>
              <a:t>מנהלה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"/>
          <p:cNvSpPr txBox="1">
            <a:spLocks noGrp="1"/>
          </p:cNvSpPr>
          <p:nvPr>
            <p:ph type="body" idx="2"/>
          </p:nvPr>
        </p:nvSpPr>
        <p:spPr>
          <a:xfrm>
            <a:off x="1677725" y="1825625"/>
            <a:ext cx="10104045" cy="383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 dirty="0"/>
              <a:t>אריאל בר-יצחק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תואר ראשון במדעי המחשב וניהול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מלמד ב</a:t>
            </a:r>
            <a:r>
              <a:rPr lang="he-IL" dirty="0"/>
              <a:t>תיכון </a:t>
            </a:r>
            <a:r>
              <a:rPr lang="iw-IL" dirty="0"/>
              <a:t>ליאו באק חיפה</a:t>
            </a:r>
            <a:endParaRPr lang="he-IL" dirty="0"/>
          </a:p>
          <a:p>
            <a:pPr indent="-443865">
              <a:buFont typeface="Arial"/>
              <a:buChar char="•"/>
            </a:pPr>
            <a:r>
              <a:rPr lang="he-IL" dirty="0"/>
              <a:t>עובד בפיקוח אחריות על פיתוח וקידום תחום </a:t>
            </a:r>
            <a:r>
              <a:rPr lang="en-US" dirty="0"/>
              <a:t>DS &amp; ML</a:t>
            </a:r>
            <a:endParaRPr lang="he-IL"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הורא</a:t>
            </a:r>
            <a:r>
              <a:rPr lang="he-IL" dirty="0"/>
              <a:t>ת </a:t>
            </a:r>
            <a:r>
              <a:rPr lang="iw-IL" dirty="0"/>
              <a:t> DS &amp; ML</a:t>
            </a:r>
            <a:r>
              <a:rPr lang="he-IL" dirty="0"/>
              <a:t>החל משנת תשפ"א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מנחה </a:t>
            </a:r>
            <a:r>
              <a:rPr lang="iw-IL" u="sng" dirty="0">
                <a:solidFill>
                  <a:schemeClr val="hlink"/>
                </a:solidFill>
                <a:hlinkClick r:id="rId3"/>
              </a:rPr>
              <a:t>השתלמויות</a:t>
            </a:r>
            <a:r>
              <a:rPr lang="iw-IL" dirty="0"/>
              <a:t> DS &amp; ML</a:t>
            </a:r>
            <a:r>
              <a:rPr lang="he-IL" dirty="0"/>
              <a:t> החל משנת תשפ"א</a:t>
            </a:r>
            <a:endParaRPr dirty="0"/>
          </a:p>
          <a:p>
            <a:pPr marL="457200" lvl="0" indent="-4438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מתחזק </a:t>
            </a:r>
            <a:r>
              <a:rPr lang="iw-IL" u="sng" dirty="0">
                <a:solidFill>
                  <a:schemeClr val="hlink"/>
                </a:solidFill>
                <a:hlinkClick r:id="rId4"/>
              </a:rPr>
              <a:t>בלוג</a:t>
            </a:r>
            <a:r>
              <a:rPr lang="iw-IL" dirty="0"/>
              <a:t> עם חומרי למידה</a:t>
            </a:r>
            <a:endParaRPr dirty="0"/>
          </a:p>
          <a:p>
            <a:pPr marL="457200" lvl="0" indent="-266065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/>
          </a:p>
        </p:txBody>
      </p:sp>
      <p:sp>
        <p:nvSpPr>
          <p:cNvPr id="369" name="Google Shape;369;p2"/>
          <p:cNvSpPr txBox="1">
            <a:spLocks noGrp="1"/>
          </p:cNvSpPr>
          <p:nvPr>
            <p:ph type="body" idx="3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iw-IL"/>
              <a:t>מנח</a:t>
            </a:r>
            <a:r>
              <a:rPr lang="he-IL"/>
              <a:t>ה</a:t>
            </a:r>
            <a:r>
              <a:rPr lang="iw-IL"/>
              <a:t> ההשתלמות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המשימות ייעשו ב</a:t>
            </a:r>
            <a:r>
              <a:rPr lang="he-IL" dirty="0"/>
              <a:t>חלקן</a:t>
            </a:r>
            <a:r>
              <a:rPr lang="iw-IL" dirty="0"/>
              <a:t> </a:t>
            </a:r>
            <a:r>
              <a:rPr lang="he-IL" dirty="0"/>
              <a:t>ואולי ברובן </a:t>
            </a:r>
            <a:r>
              <a:rPr lang="iw-IL" dirty="0"/>
              <a:t>בזמן ההשתלמות עצמה</a:t>
            </a:r>
            <a:r>
              <a:rPr lang="he-IL" dirty="0"/>
              <a:t>. מי שמתכנן ללמד את החלופה צריך לשאוף לבצע את כל המשימות 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80% נוכחות חובה (48 שעות). 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תהיינה הקלטות של השיעורים. </a:t>
            </a:r>
            <a:endParaRPr lang="en-US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iw-IL" dirty="0"/>
              <a:t>הגשת פרויקט</a:t>
            </a:r>
            <a:r>
              <a:rPr lang="he-IL" dirty="0"/>
              <a:t> מסכם</a:t>
            </a:r>
            <a:r>
              <a:rPr lang="iw-IL" dirty="0"/>
              <a:t> בסוף ההשתלמות</a:t>
            </a:r>
            <a:r>
              <a:rPr lang="he-IL" dirty="0"/>
              <a:t> - חובה</a:t>
            </a:r>
            <a:endParaRPr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-IL"/>
              <a:t>דרישות ההשתלמות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9755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>
              <a:buFont typeface="Arial"/>
              <a:buChar char="•"/>
            </a:pPr>
            <a:r>
              <a:rPr lang="he-IL" dirty="0"/>
              <a:t>רישום במצפן לאחר כ-3 מפגשים</a:t>
            </a:r>
          </a:p>
          <a:p>
            <a:pPr marL="685800" indent="-457200">
              <a:buFont typeface="Arial"/>
              <a:buChar char="•"/>
            </a:pPr>
            <a:r>
              <a:rPr lang="he-IL" dirty="0"/>
              <a:t>קבוצת </a:t>
            </a:r>
            <a:r>
              <a:rPr lang="he-IL" dirty="0" err="1"/>
              <a:t>ווטסאפ</a:t>
            </a:r>
            <a:r>
              <a:rPr lang="he-IL" dirty="0"/>
              <a:t> של ההשתלמות </a:t>
            </a:r>
          </a:p>
          <a:p>
            <a:pPr marL="685800" indent="-457200">
              <a:buFont typeface="Arial"/>
              <a:buChar char="•"/>
            </a:pPr>
            <a:r>
              <a:rPr lang="he-IL" dirty="0" err="1"/>
              <a:t>קלאסרום</a:t>
            </a:r>
            <a:r>
              <a:rPr lang="he-IL" dirty="0"/>
              <a:t> השתלמות (חשבונות </a:t>
            </a:r>
            <a:r>
              <a:rPr lang="en-US" dirty="0" err="1"/>
              <a:t>gmail</a:t>
            </a:r>
            <a:r>
              <a:rPr lang="he-IL" dirty="0"/>
              <a:t> פרטיים)</a:t>
            </a:r>
          </a:p>
          <a:p>
            <a:pPr marL="685800" indent="-457200">
              <a:buFont typeface="Arial"/>
              <a:buChar char="•"/>
            </a:pPr>
            <a:r>
              <a:rPr lang="he-IL" dirty="0"/>
              <a:t>לוז ההשתלמות </a:t>
            </a:r>
            <a:r>
              <a:rPr lang="he-IL" dirty="0" err="1"/>
              <a:t>בקלאסרום</a:t>
            </a: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לינקים להקלטות המפגשים </a:t>
            </a:r>
            <a:r>
              <a:rPr lang="he-IL" dirty="0" err="1"/>
              <a:t>בקלאסרום</a:t>
            </a: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מיקרופון סגור, מצלמה פתוחה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dirty="0"/>
              <a:t>מילוי נוכחות בזמן המפגש</a:t>
            </a:r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e-IL"/>
              <a:t>משאבים נדרשים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he-IL" sz="2400" dirty="0"/>
              <a:t>ימי ראשון</a:t>
            </a:r>
          </a:p>
          <a:p>
            <a:pPr marL="1143000" lvl="1" indent="-457200">
              <a:spcBef>
                <a:spcPts val="1000"/>
              </a:spcBef>
              <a:buSzPts val="2800"/>
              <a:buFont typeface="Arial"/>
              <a:buChar char="•"/>
            </a:pPr>
            <a:r>
              <a:rPr lang="he-IL" dirty="0"/>
              <a:t>שיעור 17:00 עד 20:15</a:t>
            </a:r>
          </a:p>
          <a:p>
            <a:pPr marL="1143000" lvl="1" indent="-457200">
              <a:spcBef>
                <a:spcPts val="1000"/>
              </a:spcBef>
              <a:buSzPts val="2800"/>
              <a:buFont typeface="Arial"/>
              <a:buChar char="•"/>
            </a:pPr>
            <a:r>
              <a:rPr lang="he-IL" dirty="0"/>
              <a:t>הפסקה סביבות 18:30 (15 דקות)</a:t>
            </a:r>
          </a:p>
          <a:p>
            <a:pPr marL="228600" indent="0"/>
            <a:endParaRPr lang="he-IL" sz="2400" dirty="0"/>
          </a:p>
          <a:p>
            <a:pPr marL="685800" indent="-457200">
              <a:buFont typeface="Arial"/>
              <a:buChar char="•"/>
            </a:pPr>
            <a:endParaRPr lang="he-IL" sz="2400" dirty="0"/>
          </a:p>
          <a:p>
            <a:pPr marL="685800" indent="-457200">
              <a:buFont typeface="Arial"/>
              <a:buChar char="•"/>
            </a:pPr>
            <a:endParaRPr lang="he-IL" dirty="0"/>
          </a:p>
          <a:p>
            <a:pPr marL="6858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endParaRPr lang="he-IL" dirty="0"/>
          </a:p>
          <a:p>
            <a:pPr marL="1143000" lvl="1" indent="-3048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75" name="Google Shape;375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e-IL"/>
              <a:t>לו"ז למפגשים בזום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496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A672B5E-75B8-C89A-C381-DF948B65351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צילום קבוצתי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B000929-245F-8B2F-02DA-CE0327B6A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41" y="1570838"/>
            <a:ext cx="5671516" cy="385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0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9" descr="תמונה שמכילה חץ&#10;&#10;התיאור נוצר באופן אוטומטי"/>
          <p:cNvPicPr preferRelativeResize="0">
            <a:picLocks noGrp="1"/>
          </p:cNvPicPr>
          <p:nvPr>
            <p:ph type="body" idx="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7733" y="1375522"/>
            <a:ext cx="7616535" cy="410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 pitch deck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147</Words>
  <Application>Microsoft Office PowerPoint</Application>
  <PresentationFormat>מסך רחב</PresentationFormat>
  <Paragraphs>32</Paragraphs>
  <Slides>7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2" baseType="lpstr">
      <vt:lpstr>Tahoma</vt:lpstr>
      <vt:lpstr>Courier New</vt:lpstr>
      <vt:lpstr>Arial</vt:lpstr>
      <vt:lpstr>Calibri</vt:lpstr>
      <vt:lpstr>Tech pitch deck</vt:lpstr>
      <vt:lpstr>השתלמות מדעי הנתונים תשפ"ו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אריאל בר-יצחק</dc:creator>
  <cp:lastModifiedBy>אריאל דוד בר יצחק</cp:lastModifiedBy>
  <cp:revision>29</cp:revision>
  <dcterms:created xsi:type="dcterms:W3CDTF">2022-11-16T18:03:32Z</dcterms:created>
  <dcterms:modified xsi:type="dcterms:W3CDTF">2026-02-08T18:38:58Z</dcterms:modified>
</cp:coreProperties>
</file>