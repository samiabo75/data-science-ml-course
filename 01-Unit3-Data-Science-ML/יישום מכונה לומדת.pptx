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3"/>
  </p:notesMasterIdLst>
  <p:sldIdLst>
    <p:sldId id="275" r:id="rId2"/>
    <p:sldId id="276" r:id="rId3"/>
    <p:sldId id="309" r:id="rId4"/>
    <p:sldId id="606" r:id="rId5"/>
    <p:sldId id="350" r:id="rId6"/>
    <p:sldId id="607" r:id="rId7"/>
    <p:sldId id="618" r:id="rId8"/>
    <p:sldId id="281" r:id="rId9"/>
    <p:sldId id="295" r:id="rId10"/>
    <p:sldId id="621" r:id="rId11"/>
    <p:sldId id="564" r:id="rId12"/>
    <p:sldId id="622" r:id="rId13"/>
    <p:sldId id="554" r:id="rId14"/>
    <p:sldId id="541" r:id="rId15"/>
    <p:sldId id="563" r:id="rId16"/>
    <p:sldId id="566" r:id="rId17"/>
    <p:sldId id="304" r:id="rId18"/>
    <p:sldId id="562" r:id="rId19"/>
    <p:sldId id="617" r:id="rId20"/>
    <p:sldId id="608" r:id="rId21"/>
    <p:sldId id="612" r:id="rId22"/>
    <p:sldId id="609" r:id="rId23"/>
    <p:sldId id="610" r:id="rId24"/>
    <p:sldId id="611" r:id="rId25"/>
    <p:sldId id="619" r:id="rId26"/>
    <p:sldId id="613" r:id="rId27"/>
    <p:sldId id="614" r:id="rId28"/>
    <p:sldId id="615" r:id="rId29"/>
    <p:sldId id="616" r:id="rId30"/>
    <p:sldId id="620" r:id="rId31"/>
    <p:sldId id="289" r:id="rId3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0" roundtripDataSignature="AMtx7mhiaHRW9scVpVHOt7LlZiKDVEm5D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778E25D-6658-4D9B-876C-8C97E927BF0F}">
  <a:tblStyle styleId="{1778E25D-6658-4D9B-876C-8C97E927BF0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tcBdr/>
        <a:fill>
          <a:solidFill>
            <a:srgbClr val="D0DEEF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0DEEF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19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40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388620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1588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1588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BB95838B-CEBA-213E-AE56-261CCFA0F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e5ddece03a_0_0:notes">
            <a:extLst>
              <a:ext uri="{FF2B5EF4-FFF2-40B4-BE49-F238E27FC236}">
                <a16:creationId xmlns:a16="http://schemas.microsoft.com/office/drawing/2014/main" id="{3B440777-A748-1EBF-1A6A-03153BF73E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e5ddece03a_0_0:notes">
            <a:extLst>
              <a:ext uri="{FF2B5EF4-FFF2-40B4-BE49-F238E27FC236}">
                <a16:creationId xmlns:a16="http://schemas.microsoft.com/office/drawing/2014/main" id="{335135E4-B586-73B4-58C4-80F1D1F82C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ge5ddece03a_0_0:notes">
            <a:extLst>
              <a:ext uri="{FF2B5EF4-FFF2-40B4-BE49-F238E27FC236}">
                <a16:creationId xmlns:a16="http://schemas.microsoft.com/office/drawing/2014/main" id="{E68BC2BE-90B5-CD81-C55C-521C5975C93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588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w-IL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648765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191241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380897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314097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469721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930131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4_Title Slide">
  <p:cSld name="14_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1107"/>
            <a:ext cx="12177238" cy="6855785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3"/>
          <p:cNvSpPr txBox="1">
            <a:spLocks noGrp="1"/>
          </p:cNvSpPr>
          <p:nvPr>
            <p:ph type="title"/>
          </p:nvPr>
        </p:nvSpPr>
        <p:spPr>
          <a:xfrm>
            <a:off x="3829050" y="2327275"/>
            <a:ext cx="752475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147"/>
              </a:buClr>
              <a:buSzPts val="4400"/>
              <a:buNone/>
              <a:defRPr sz="44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3"/>
          <p:cNvSpPr txBox="1">
            <a:spLocks noGrp="1"/>
          </p:cNvSpPr>
          <p:nvPr>
            <p:ph type="body" idx="1"/>
          </p:nvPr>
        </p:nvSpPr>
        <p:spPr>
          <a:xfrm>
            <a:off x="3848100" y="3424238"/>
            <a:ext cx="752475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600"/>
              <a:buNone/>
              <a:defRPr sz="3600">
                <a:solidFill>
                  <a:srgbClr val="D79E0F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33"/>
          <p:cNvSpPr txBox="1">
            <a:spLocks noGrp="1"/>
          </p:cNvSpPr>
          <p:nvPr>
            <p:ph type="ftr" idx="11"/>
          </p:nvPr>
        </p:nvSpPr>
        <p:spPr>
          <a:xfrm>
            <a:off x="3798876" y="6043367"/>
            <a:ext cx="7894974" cy="365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32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3"/>
          <p:cNvSpPr txBox="1">
            <a:spLocks noGrp="1"/>
          </p:cNvSpPr>
          <p:nvPr>
            <p:ph type="dt" idx="10"/>
          </p:nvPr>
        </p:nvSpPr>
        <p:spPr>
          <a:xfrm>
            <a:off x="578392" y="6043367"/>
            <a:ext cx="18859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>
                <a:solidFill>
                  <a:srgbClr val="D79E0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3"/>
          <p:cNvSpPr txBox="1"/>
          <p:nvPr/>
        </p:nvSpPr>
        <p:spPr>
          <a:xfrm>
            <a:off x="4846620" y="6586610"/>
            <a:ext cx="249876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© kobymike@gmail.com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כותרת ותוכן" type="obj">
  <p:cSld name="OBJEC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9" cy="6866313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36"/>
          <p:cNvSpPr txBox="1"/>
          <p:nvPr/>
        </p:nvSpPr>
        <p:spPr>
          <a:xfrm>
            <a:off x="4846619" y="6579645"/>
            <a:ext cx="249876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© kobymike@gmail.com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36"/>
          <p:cNvSpPr txBox="1">
            <a:spLocks noGrp="1"/>
          </p:cNvSpPr>
          <p:nvPr>
            <p:ph type="title"/>
          </p:nvPr>
        </p:nvSpPr>
        <p:spPr>
          <a:xfrm>
            <a:off x="1279635" y="355224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147"/>
              </a:buClr>
              <a:buSzPts val="44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36"/>
          <p:cNvSpPr txBox="1">
            <a:spLocks noGrp="1"/>
          </p:cNvSpPr>
          <p:nvPr>
            <p:ph type="body" idx="1"/>
          </p:nvPr>
        </p:nvSpPr>
        <p:spPr>
          <a:xfrm>
            <a:off x="1271752" y="1842899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2pPr>
            <a:lvl3pPr marL="137160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3pPr>
            <a:lvl4pPr marL="182880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marL="228600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3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3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 rtl="1">
              <a:spcBef>
                <a:spcPts val="0"/>
              </a:spcBef>
              <a:buNone/>
              <a:defRPr/>
            </a:lvl1pPr>
            <a:lvl2pPr marL="0" lvl="1" indent="0" algn="l" rtl="1">
              <a:spcBef>
                <a:spcPts val="0"/>
              </a:spcBef>
              <a:buNone/>
              <a:defRPr/>
            </a:lvl2pPr>
            <a:lvl3pPr marL="0" lvl="2" indent="0" algn="l" rtl="1">
              <a:spcBef>
                <a:spcPts val="0"/>
              </a:spcBef>
              <a:buNone/>
              <a:defRPr/>
            </a:lvl3pPr>
            <a:lvl4pPr marL="0" lvl="3" indent="0" algn="l" rtl="1">
              <a:spcBef>
                <a:spcPts val="0"/>
              </a:spcBef>
              <a:buNone/>
              <a:defRPr/>
            </a:lvl4pPr>
            <a:lvl5pPr marL="0" lvl="4" indent="0" algn="l" rtl="1">
              <a:spcBef>
                <a:spcPts val="0"/>
              </a:spcBef>
              <a:buNone/>
              <a:defRPr/>
            </a:lvl5pPr>
            <a:lvl6pPr marL="0" lvl="5" indent="0" algn="l" rtl="1">
              <a:spcBef>
                <a:spcPts val="0"/>
              </a:spcBef>
              <a:buNone/>
              <a:defRPr/>
            </a:lvl6pPr>
            <a:lvl7pPr marL="0" lvl="6" indent="0" algn="l" rtl="1">
              <a:spcBef>
                <a:spcPts val="0"/>
              </a:spcBef>
              <a:buNone/>
              <a:defRPr/>
            </a:lvl7pPr>
            <a:lvl8pPr marL="0" lvl="7" indent="0" algn="l" rtl="1">
              <a:spcBef>
                <a:spcPts val="0"/>
              </a:spcBef>
              <a:buNone/>
              <a:defRPr/>
            </a:lvl8pPr>
            <a:lvl9pPr marL="0" lvl="8" indent="0" algn="l" rtl="1">
              <a:spcBef>
                <a:spcPts val="0"/>
              </a:spcBef>
              <a:buNone/>
              <a:defRPr/>
            </a:lvl9pPr>
          </a:lstStyle>
          <a:p>
            <a:pPr marL="0" lvl="0" indent="0" algn="l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Title Slide">
  <p:cSld name="9_Title Slide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3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9" cy="6866313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37"/>
          <p:cNvSpPr txBox="1">
            <a:spLocks noGrp="1"/>
          </p:cNvSpPr>
          <p:nvPr>
            <p:ph type="body" idx="1"/>
          </p:nvPr>
        </p:nvSpPr>
        <p:spPr>
          <a:xfrm>
            <a:off x="6209302" y="1772261"/>
            <a:ext cx="5418667" cy="3217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 b="1"/>
            </a:lvl1pPr>
            <a:lvl2pPr marL="914400" marR="0" lvl="1" indent="-495300" algn="r" rtl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D59F0E"/>
              </a:buClr>
              <a:buSzPts val="4200"/>
              <a:buFont typeface="Arial"/>
              <a:buChar char="•"/>
              <a:defRPr sz="2800" b="0"/>
            </a:lvl2pPr>
            <a:lvl3pPr marL="137160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3pPr>
            <a:lvl4pPr marL="182880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marL="228600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37"/>
          <p:cNvSpPr>
            <a:spLocks noGrp="1"/>
          </p:cNvSpPr>
          <p:nvPr>
            <p:ph type="pic" idx="2"/>
          </p:nvPr>
        </p:nvSpPr>
        <p:spPr>
          <a:xfrm>
            <a:off x="246185" y="211014"/>
            <a:ext cx="5399088" cy="54512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59F0E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59F0E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59F0E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59F0E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59F0E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7" name="Google Shape;47;p37"/>
          <p:cNvSpPr txBox="1">
            <a:spLocks noGrp="1"/>
          </p:cNvSpPr>
          <p:nvPr>
            <p:ph type="body" idx="3"/>
          </p:nvPr>
        </p:nvSpPr>
        <p:spPr>
          <a:xfrm>
            <a:off x="6209302" y="525463"/>
            <a:ext cx="5419136" cy="1134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4400"/>
              <a:buNone/>
              <a:defRPr sz="4400" b="1"/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4400"/>
              <a:buNone/>
              <a:defRPr sz="4400" b="1"/>
            </a:lvl2pPr>
            <a:lvl3pPr marL="137160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4400"/>
              <a:buNone/>
              <a:defRPr sz="4400" b="1"/>
            </a:lvl3pPr>
            <a:lvl4pPr marL="182880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marL="228600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37"/>
          <p:cNvSpPr txBox="1"/>
          <p:nvPr/>
        </p:nvSpPr>
        <p:spPr>
          <a:xfrm>
            <a:off x="4846620" y="6586610"/>
            <a:ext cx="249876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© kobymike@gmail.com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שני תכנים">
  <p:cSld name="שני תכנים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9" cy="6866313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38"/>
          <p:cNvSpPr txBox="1">
            <a:spLocks noGrp="1"/>
          </p:cNvSpPr>
          <p:nvPr>
            <p:ph type="body" idx="1"/>
          </p:nvPr>
        </p:nvSpPr>
        <p:spPr>
          <a:xfrm>
            <a:off x="351693" y="1825625"/>
            <a:ext cx="5668107" cy="3820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/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  <a:defRPr/>
            </a:lvl2pPr>
            <a:lvl3pPr marL="137160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3pPr>
            <a:lvl4pPr marL="182880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marL="228600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3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609570" cy="3835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/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  <a:defRPr/>
            </a:lvl2pPr>
            <a:lvl3pPr marL="137160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3pPr>
            <a:lvl4pPr marL="182880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marL="228600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38"/>
          <p:cNvSpPr txBox="1">
            <a:spLocks noGrp="1"/>
          </p:cNvSpPr>
          <p:nvPr>
            <p:ph type="body" idx="3"/>
          </p:nvPr>
        </p:nvSpPr>
        <p:spPr>
          <a:xfrm>
            <a:off x="351693" y="365124"/>
            <a:ext cx="11430078" cy="1376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4400"/>
              <a:buNone/>
              <a:defRPr sz="4400" b="1"/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4400"/>
              <a:buNone/>
              <a:defRPr sz="4400" b="1"/>
            </a:lvl2pPr>
            <a:lvl3pPr marL="137160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3pPr>
            <a:lvl4pPr marL="182880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marL="228600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38"/>
          <p:cNvSpPr txBox="1">
            <a:spLocks noGrp="1"/>
          </p:cNvSpPr>
          <p:nvPr>
            <p:ph type="ftr" idx="11"/>
          </p:nvPr>
        </p:nvSpPr>
        <p:spPr>
          <a:xfrm>
            <a:off x="6277708" y="6073902"/>
            <a:ext cx="5504062" cy="379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Clr>
                <a:srgbClr val="002147"/>
              </a:buClr>
              <a:buSzPts val="3200"/>
              <a:buFont typeface="Arial"/>
              <a:buNone/>
              <a:defRPr sz="3200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38"/>
          <p:cNvSpPr txBox="1">
            <a:spLocks noGrp="1"/>
          </p:cNvSpPr>
          <p:nvPr>
            <p:ph type="dt" idx="10"/>
          </p:nvPr>
        </p:nvSpPr>
        <p:spPr>
          <a:xfrm>
            <a:off x="3981529" y="6073902"/>
            <a:ext cx="18859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8"/>
          <p:cNvSpPr txBox="1"/>
          <p:nvPr/>
        </p:nvSpPr>
        <p:spPr>
          <a:xfrm>
            <a:off x="4846620" y="6586610"/>
            <a:ext cx="249876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© kobymike@gmail.com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השוואה">
  <p:cSld name="השוואה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3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9" cy="6866313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39"/>
          <p:cNvSpPr txBox="1">
            <a:spLocks noGrp="1"/>
          </p:cNvSpPr>
          <p:nvPr>
            <p:ph type="body" idx="1"/>
          </p:nvPr>
        </p:nvSpPr>
        <p:spPr>
          <a:xfrm>
            <a:off x="369278" y="1681163"/>
            <a:ext cx="562829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39"/>
          <p:cNvSpPr txBox="1">
            <a:spLocks noGrp="1"/>
          </p:cNvSpPr>
          <p:nvPr>
            <p:ph type="body" idx="2"/>
          </p:nvPr>
        </p:nvSpPr>
        <p:spPr>
          <a:xfrm>
            <a:off x="369278" y="2505075"/>
            <a:ext cx="5628298" cy="3141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/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  <a:defRPr/>
            </a:lvl2pPr>
            <a:lvl3pPr marL="137160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3pPr>
            <a:lvl4pPr marL="182880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marL="228600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3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60957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2" name="Google Shape;62;p3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609570" cy="3156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/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  <a:defRPr/>
            </a:lvl2pPr>
            <a:lvl3pPr marL="137160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3pPr>
            <a:lvl4pPr marL="182880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marL="228600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39"/>
          <p:cNvSpPr txBox="1">
            <a:spLocks noGrp="1"/>
          </p:cNvSpPr>
          <p:nvPr>
            <p:ph type="body" idx="5"/>
          </p:nvPr>
        </p:nvSpPr>
        <p:spPr>
          <a:xfrm>
            <a:off x="369277" y="365124"/>
            <a:ext cx="11412493" cy="1376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4400"/>
              <a:buNone/>
              <a:defRPr sz="4400" b="1"/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4400"/>
              <a:buNone/>
              <a:defRPr sz="4400" b="1"/>
            </a:lvl2pPr>
            <a:lvl3pPr marL="137160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3pPr>
            <a:lvl4pPr marL="182880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marL="228600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4" name="Google Shape;64;p39"/>
          <p:cNvSpPr txBox="1">
            <a:spLocks noGrp="1"/>
          </p:cNvSpPr>
          <p:nvPr>
            <p:ph type="ftr" idx="11"/>
          </p:nvPr>
        </p:nvSpPr>
        <p:spPr>
          <a:xfrm>
            <a:off x="6277708" y="6073902"/>
            <a:ext cx="5504062" cy="379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Clr>
                <a:srgbClr val="002147"/>
              </a:buClr>
              <a:buSzPts val="3200"/>
              <a:buFont typeface="Arial"/>
              <a:buNone/>
              <a:defRPr sz="3200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39"/>
          <p:cNvSpPr txBox="1">
            <a:spLocks noGrp="1"/>
          </p:cNvSpPr>
          <p:nvPr>
            <p:ph type="dt" idx="10"/>
          </p:nvPr>
        </p:nvSpPr>
        <p:spPr>
          <a:xfrm>
            <a:off x="3981529" y="6073902"/>
            <a:ext cx="18859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9"/>
          <p:cNvSpPr txBox="1"/>
          <p:nvPr/>
        </p:nvSpPr>
        <p:spPr>
          <a:xfrm>
            <a:off x="4846620" y="6586610"/>
            <a:ext cx="249876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© kobymike@gmail.com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כותרת בלבד">
  <p:cSld name="כותרת בלבד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4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9" cy="6866313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40"/>
          <p:cNvSpPr txBox="1">
            <a:spLocks noGrp="1"/>
          </p:cNvSpPr>
          <p:nvPr>
            <p:ph type="body" idx="1"/>
          </p:nvPr>
        </p:nvSpPr>
        <p:spPr>
          <a:xfrm>
            <a:off x="404447" y="365124"/>
            <a:ext cx="11377324" cy="1376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4400"/>
              <a:buNone/>
              <a:defRPr sz="4400" b="1"/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4400"/>
              <a:buNone/>
              <a:defRPr sz="4400" b="1"/>
            </a:lvl2pPr>
            <a:lvl3pPr marL="137160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3pPr>
            <a:lvl4pPr marL="182880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marL="228600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0" name="Google Shape;70;p40"/>
          <p:cNvSpPr txBox="1">
            <a:spLocks noGrp="1"/>
          </p:cNvSpPr>
          <p:nvPr>
            <p:ph type="ftr" idx="11"/>
          </p:nvPr>
        </p:nvSpPr>
        <p:spPr>
          <a:xfrm>
            <a:off x="6277708" y="6073902"/>
            <a:ext cx="5504062" cy="379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Clr>
                <a:srgbClr val="002147"/>
              </a:buClr>
              <a:buSzPts val="3200"/>
              <a:buFont typeface="Arial"/>
              <a:buNone/>
              <a:defRPr sz="3200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40"/>
          <p:cNvSpPr txBox="1">
            <a:spLocks noGrp="1"/>
          </p:cNvSpPr>
          <p:nvPr>
            <p:ph type="dt" idx="10"/>
          </p:nvPr>
        </p:nvSpPr>
        <p:spPr>
          <a:xfrm>
            <a:off x="3981529" y="6073902"/>
            <a:ext cx="18859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40"/>
          <p:cNvSpPr txBox="1"/>
          <p:nvPr/>
        </p:nvSpPr>
        <p:spPr>
          <a:xfrm>
            <a:off x="4846620" y="6586610"/>
            <a:ext cx="249876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© kobymike@gmail.com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ריק" type="blank">
  <p:cSld name="BLANK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4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9" cy="6866313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41"/>
          <p:cNvSpPr txBox="1">
            <a:spLocks noGrp="1"/>
          </p:cNvSpPr>
          <p:nvPr>
            <p:ph type="ftr" idx="11"/>
          </p:nvPr>
        </p:nvSpPr>
        <p:spPr>
          <a:xfrm>
            <a:off x="6277708" y="6073902"/>
            <a:ext cx="5504062" cy="379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Clr>
                <a:srgbClr val="002147"/>
              </a:buClr>
              <a:buSzPts val="3200"/>
              <a:buFont typeface="Arial"/>
              <a:buNone/>
              <a:defRPr sz="3200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41"/>
          <p:cNvSpPr txBox="1">
            <a:spLocks noGrp="1"/>
          </p:cNvSpPr>
          <p:nvPr>
            <p:ph type="dt" idx="10"/>
          </p:nvPr>
        </p:nvSpPr>
        <p:spPr>
          <a:xfrm>
            <a:off x="3981529" y="6073902"/>
            <a:ext cx="18859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41"/>
          <p:cNvSpPr txBox="1"/>
          <p:nvPr/>
        </p:nvSpPr>
        <p:spPr>
          <a:xfrm>
            <a:off x="4846620" y="6586610"/>
            <a:ext cx="249876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© kobymike@gmail.com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1999" cy="6866313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1693" y="1825625"/>
            <a:ext cx="11430077" cy="3783867"/>
          </a:xfrm>
        </p:spPr>
        <p:txBody>
          <a:bodyPr/>
          <a:lstStyle>
            <a:lvl1pPr marL="0" indent="0" algn="r" rtl="1">
              <a:buNone/>
              <a:defRPr/>
            </a:lvl1pPr>
            <a:lvl2pPr marL="457200" indent="0" algn="r" rtl="1">
              <a:buNone/>
              <a:defRPr/>
            </a:lvl2pPr>
            <a:lvl3pPr marL="914400" indent="0" algn="r" rtl="1">
              <a:buNone/>
              <a:defRPr/>
            </a:lvl3pPr>
            <a:lvl4pPr marL="1371600" indent="0" algn="r" rtl="1">
              <a:buNone/>
              <a:defRPr/>
            </a:lvl4pPr>
            <a:lvl5pPr marL="1828800" indent="0" algn="r" rtl="1">
              <a:buNone/>
              <a:defRPr/>
            </a:lvl5pPr>
          </a:lstStyle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3"/>
          </p:nvPr>
        </p:nvSpPr>
        <p:spPr>
          <a:xfrm>
            <a:off x="6277708" y="6073902"/>
            <a:ext cx="5504062" cy="379652"/>
          </a:xfrm>
        </p:spPr>
        <p:txBody>
          <a:bodyPr/>
          <a:lstStyle>
            <a:lvl1pPr marL="0" indent="0" algn="r" rtl="1">
              <a:buFont typeface="Arial" panose="020B0604020202020204" pitchFamily="34" charset="0"/>
              <a:buNone/>
              <a:defRPr sz="3200">
                <a:solidFill>
                  <a:srgbClr val="00214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endParaRPr lang="en-IL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4"/>
          </p:nvPr>
        </p:nvSpPr>
        <p:spPr>
          <a:xfrm>
            <a:off x="3981529" y="6073902"/>
            <a:ext cx="1885950" cy="365125"/>
          </a:xfrm>
        </p:spPr>
        <p:txBody>
          <a:bodyPr/>
          <a:lstStyle>
            <a:lvl1pPr marL="0" indent="0" algn="r" rtl="1">
              <a:buFont typeface="Arial" panose="020B0604020202020204" pitchFamily="34" charset="0"/>
              <a:buNone/>
              <a:defRPr sz="2400" b="0">
                <a:solidFill>
                  <a:schemeClr val="bg1"/>
                </a:solidFill>
              </a:defRPr>
            </a:lvl1pPr>
          </a:lstStyle>
          <a:p>
            <a:fld id="{AA2153F9-CD1E-4915-8F64-241C69FF8ED7}" type="datetimeFigureOut">
              <a:rPr lang="en-IL" smtClean="0"/>
              <a:t>04/26/2026</a:t>
            </a:fld>
            <a:endParaRPr lang="en-IL"/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351693" y="365124"/>
            <a:ext cx="11430078" cy="1376363"/>
          </a:xfrm>
          <a:noFill/>
        </p:spPr>
        <p:txBody>
          <a:bodyPr vert="horz" lIns="91440" tIns="45720" rIns="91440" bIns="45720" rtlCol="0" anchor="ctr">
            <a:normAutofit/>
          </a:bodyPr>
          <a:lstStyle>
            <a:lvl1pPr>
              <a:defRPr sz="4400" b="1"/>
            </a:lvl1pPr>
            <a:lvl2pPr>
              <a:defRPr lang="en-US" sz="4400" b="1" dirty="0"/>
            </a:lvl2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0" name="תיבת טקסט 9">
            <a:extLst>
              <a:ext uri="{FF2B5EF4-FFF2-40B4-BE49-F238E27FC236}">
                <a16:creationId xmlns:a16="http://schemas.microsoft.com/office/drawing/2014/main" id="{9C97BFB6-EA8A-42F7-A32F-7ACC4B938AC3}"/>
              </a:ext>
            </a:extLst>
          </p:cNvPr>
          <p:cNvSpPr txBox="1"/>
          <p:nvPr userDrawn="1"/>
        </p:nvSpPr>
        <p:spPr>
          <a:xfrm>
            <a:off x="4846619" y="6579645"/>
            <a:ext cx="24987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© kobymike@gmail.com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98819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147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3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59F0E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marR="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59F0E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1371600" marR="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59F0E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1828800" marR="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59F0E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2286000" marR="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59F0E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1">
              <a:spcBef>
                <a:spcPts val="0"/>
              </a:spcBef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1">
              <a:spcBef>
                <a:spcPts val="0"/>
              </a:spcBef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1">
              <a:spcBef>
                <a:spcPts val="0"/>
              </a:spcBef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1">
              <a:spcBef>
                <a:spcPts val="0"/>
              </a:spcBef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1">
              <a:spcBef>
                <a:spcPts val="0"/>
              </a:spcBef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1">
              <a:spcBef>
                <a:spcPts val="0"/>
              </a:spcBef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1">
              <a:spcBef>
                <a:spcPts val="0"/>
              </a:spcBef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1">
              <a:spcBef>
                <a:spcPts val="0"/>
              </a:spcBef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1">
              <a:spcBef>
                <a:spcPts val="0"/>
              </a:spcBef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scikit-learn.org/stable/modules/generated/sklearn.model_selection.train_test_split.html" TargetMode="Externa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scikit-learn.org/stable/modules/cross_validation.html" TargetMode="Externa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drive.google.com/file/d/1Z978LUuaYI9xR9f4qAF8fEhWmOgiEWax/view?usp=sharing" TargetMode="External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https://drive.google.com/file/d/1Z3xJCKj5k_ovbvnkPfm-qknmQgplcjD3/view?usp=sharing" TargetMode="External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4"/>
          <p:cNvSpPr txBox="1">
            <a:spLocks noGrp="1"/>
          </p:cNvSpPr>
          <p:nvPr>
            <p:ph type="title"/>
          </p:nvPr>
        </p:nvSpPr>
        <p:spPr>
          <a:xfrm>
            <a:off x="3829050" y="2327275"/>
            <a:ext cx="752475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147"/>
              </a:buClr>
              <a:buSzPts val="4400"/>
              <a:buNone/>
            </a:pPr>
            <a:r>
              <a:rPr lang="iw-IL"/>
              <a:t>Overfit</a:t>
            </a:r>
            <a:r>
              <a:rPr lang="en-US"/>
              <a:t> and </a:t>
            </a:r>
            <a:r>
              <a:rPr lang="iw-IL"/>
              <a:t> Underfit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5"/>
          <p:cNvSpPr txBox="1">
            <a:spLocks noGrp="1"/>
          </p:cNvSpPr>
          <p:nvPr>
            <p:ph type="title"/>
          </p:nvPr>
        </p:nvSpPr>
        <p:spPr>
          <a:xfrm>
            <a:off x="1279635" y="355224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147"/>
              </a:buClr>
              <a:buSzPts val="4400"/>
              <a:buNone/>
            </a:pPr>
            <a:r>
              <a:rPr lang="iw-IL"/>
              <a:t>Model Complexity vs Generalization</a:t>
            </a:r>
            <a:endParaRPr/>
          </a:p>
        </p:txBody>
      </p:sp>
      <p:pic>
        <p:nvPicPr>
          <p:cNvPr id="205" name="Google Shape;205;p25" descr="Image result for machine learning model complexity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31936" y="2009599"/>
            <a:ext cx="9515475" cy="3629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2D1C3B3-7E0E-4F8E-ABC0-9DC1679EA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592" y="355224"/>
            <a:ext cx="11630643" cy="1325563"/>
          </a:xfrm>
        </p:spPr>
        <p:txBody>
          <a:bodyPr/>
          <a:lstStyle/>
          <a:p>
            <a:r>
              <a:rPr lang="en-US" dirty="0"/>
              <a:t>Regression overfitting and underfitting</a:t>
            </a:r>
            <a:endParaRPr lang="en-IL" dirty="0"/>
          </a:p>
        </p:txBody>
      </p:sp>
      <p:pic>
        <p:nvPicPr>
          <p:cNvPr id="6146" name="Picture 2" descr="Image result for machine learning regularization">
            <a:extLst>
              <a:ext uri="{FF2B5EF4-FFF2-40B4-BE49-F238E27FC236}">
                <a16:creationId xmlns:a16="http://schemas.microsoft.com/office/drawing/2014/main" id="{CCAEA3D8-49E7-40AC-BFE6-2681D97D42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67" y="2234340"/>
            <a:ext cx="11852444" cy="3132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41233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B3E80-59C5-4831-84D5-67451464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1488"/>
            <a:ext cx="11963400" cy="1325563"/>
          </a:xfrm>
        </p:spPr>
        <p:txBody>
          <a:bodyPr/>
          <a:lstStyle/>
          <a:p>
            <a:r>
              <a:rPr lang="en-US" dirty="0"/>
              <a:t>Classification overfitting and underfitting</a:t>
            </a:r>
            <a:endParaRPr lang="en-IL" dirty="0"/>
          </a:p>
        </p:txBody>
      </p:sp>
      <p:pic>
        <p:nvPicPr>
          <p:cNvPr id="4" name="תמונה 4">
            <a:extLst>
              <a:ext uri="{FF2B5EF4-FFF2-40B4-BE49-F238E27FC236}">
                <a16:creationId xmlns:a16="http://schemas.microsoft.com/office/drawing/2014/main" id="{A2FBD1B1-CA75-4EB0-99F5-1F18514F01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5300" y="1516195"/>
            <a:ext cx="8961399" cy="3711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3600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A026EF0F-D359-439A-A566-BE086687BC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</a:t>
            </a:r>
            <a:r>
              <a:rPr lang="he-IL" dirty="0"/>
              <a:t> קטן</a:t>
            </a:r>
          </a:p>
          <a:p>
            <a:pPr lvl="1"/>
            <a:r>
              <a:rPr lang="he-IL" dirty="0"/>
              <a:t>קו </a:t>
            </a:r>
            <a:r>
              <a:rPr lang="he-IL"/>
              <a:t>החלטה עקלקל יותר – </a:t>
            </a:r>
            <a:r>
              <a:rPr lang="he-IL" dirty="0"/>
              <a:t>מודל יותר מורכב – הכללה פחותה</a:t>
            </a:r>
          </a:p>
          <a:p>
            <a:r>
              <a:rPr lang="en-US" dirty="0"/>
              <a:t>K</a:t>
            </a:r>
            <a:r>
              <a:rPr lang="he-IL" dirty="0"/>
              <a:t> גדול</a:t>
            </a:r>
          </a:p>
          <a:p>
            <a:pPr lvl="1"/>
            <a:r>
              <a:rPr lang="he-IL" dirty="0"/>
              <a:t>קו החלטה חלק יותר – מודל פשוט יותר – הכללה טובה יותר</a:t>
            </a:r>
          </a:p>
          <a:p>
            <a:endParaRPr lang="en-IL" dirty="0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3C9DB438-B442-4AEC-8B1B-9CB7F60686F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he-IL" dirty="0"/>
              <a:t>השפעת הפרמטר </a:t>
            </a:r>
            <a:r>
              <a:rPr lang="en-US" dirty="0"/>
              <a:t>K</a:t>
            </a:r>
            <a:endParaRPr lang="en-IL" dirty="0"/>
          </a:p>
        </p:txBody>
      </p:sp>
      <p:pic>
        <p:nvPicPr>
          <p:cNvPr id="6146" name="Picture 2" descr="Image result for knn decision boundaries">
            <a:extLst>
              <a:ext uri="{FF2B5EF4-FFF2-40B4-BE49-F238E27FC236}">
                <a16:creationId xmlns:a16="http://schemas.microsoft.com/office/drawing/2014/main" id="{21166FC1-9805-4C75-939A-C0706C3DADC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04" t="5503" r="5318" b="6640"/>
          <a:stretch/>
        </p:blipFill>
        <p:spPr bwMode="auto">
          <a:xfrm>
            <a:off x="92597" y="3686596"/>
            <a:ext cx="8831484" cy="29862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23444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8"/>
          <p:cNvSpPr txBox="1">
            <a:spLocks noGrp="1"/>
          </p:cNvSpPr>
          <p:nvPr>
            <p:ph type="title"/>
          </p:nvPr>
        </p:nvSpPr>
        <p:spPr>
          <a:xfrm>
            <a:off x="1279635" y="355224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147"/>
              </a:buClr>
              <a:buSzPts val="4400"/>
              <a:buNone/>
            </a:pPr>
            <a:r>
              <a:rPr lang="iw-IL"/>
              <a:t>Overfit and underfit - KNN</a:t>
            </a:r>
            <a:endParaRPr/>
          </a:p>
        </p:txBody>
      </p:sp>
      <p:pic>
        <p:nvPicPr>
          <p:cNvPr id="223" name="Google Shape;223;p28" descr="Image result for knn model complexity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64041" y="1760879"/>
            <a:ext cx="9063918" cy="509712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תיבת טקסט 1">
            <a:extLst>
              <a:ext uri="{FF2B5EF4-FFF2-40B4-BE49-F238E27FC236}">
                <a16:creationId xmlns:a16="http://schemas.microsoft.com/office/drawing/2014/main" id="{8AA86D1B-7F2C-C835-C4BC-7E071606277D}"/>
              </a:ext>
            </a:extLst>
          </p:cNvPr>
          <p:cNvSpPr txBox="1"/>
          <p:nvPr/>
        </p:nvSpPr>
        <p:spPr>
          <a:xfrm>
            <a:off x="1978572" y="1422979"/>
            <a:ext cx="2443656" cy="30777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/>
              <a:t>Large k – Small complexity</a:t>
            </a:r>
            <a:endParaRPr lang="he-IL"/>
          </a:p>
        </p:txBody>
      </p:sp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AA2563FE-159A-86DE-FBE6-96E6928FAA46}"/>
              </a:ext>
            </a:extLst>
          </p:cNvPr>
          <p:cNvSpPr txBox="1"/>
          <p:nvPr/>
        </p:nvSpPr>
        <p:spPr>
          <a:xfrm>
            <a:off x="5050219" y="1404997"/>
            <a:ext cx="2785243" cy="30777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/>
              <a:t>Medium k – Medium complexity</a:t>
            </a:r>
            <a:endParaRPr lang="he-IL"/>
          </a:p>
        </p:txBody>
      </p:sp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DC74A182-C87C-8E40-4484-084634E271C9}"/>
              </a:ext>
            </a:extLst>
          </p:cNvPr>
          <p:cNvSpPr txBox="1"/>
          <p:nvPr/>
        </p:nvSpPr>
        <p:spPr>
          <a:xfrm>
            <a:off x="8184303" y="1403133"/>
            <a:ext cx="2443656" cy="30777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/>
              <a:t>Small K – Large complexity</a:t>
            </a:r>
            <a:endParaRPr lang="he-IL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>
          <a:extLst>
            <a:ext uri="{FF2B5EF4-FFF2-40B4-BE49-F238E27FC236}">
              <a16:creationId xmlns:a16="http://schemas.microsoft.com/office/drawing/2014/main" id="{8D030205-0753-4586-68C0-C7B9B7DC8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e5ddece03a_0_0">
            <a:extLst>
              <a:ext uri="{FF2B5EF4-FFF2-40B4-BE49-F238E27FC236}">
                <a16:creationId xmlns:a16="http://schemas.microsoft.com/office/drawing/2014/main" id="{1B5B73C7-73E2-98C5-181F-8C2CA4420F2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79635" y="355224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iw-IL"/>
              <a:t>סיכום בטבלה</a:t>
            </a:r>
            <a:endParaRPr/>
          </a:p>
        </p:txBody>
      </p:sp>
      <p:sp>
        <p:nvSpPr>
          <p:cNvPr id="230" name="Google Shape;230;ge5ddece03a_0_0">
            <a:extLst>
              <a:ext uri="{FF2B5EF4-FFF2-40B4-BE49-F238E27FC236}">
                <a16:creationId xmlns:a16="http://schemas.microsoft.com/office/drawing/2014/main" id="{FE980C65-CA40-99D7-3E8A-0A04E19733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416527" y="1616724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iw-IL"/>
              <a:t> </a:t>
            </a:r>
            <a:endParaRPr/>
          </a:p>
        </p:txBody>
      </p:sp>
      <p:graphicFrame>
        <p:nvGraphicFramePr>
          <p:cNvPr id="3" name="טבלה 2">
            <a:extLst>
              <a:ext uri="{FF2B5EF4-FFF2-40B4-BE49-F238E27FC236}">
                <a16:creationId xmlns:a16="http://schemas.microsoft.com/office/drawing/2014/main" id="{AF0A38ED-F4C7-31FD-3BA0-DFFDC3AAE2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1249728"/>
              </p:ext>
            </p:extLst>
          </p:nvPr>
        </p:nvGraphicFramePr>
        <p:xfrm>
          <a:off x="3373120" y="2868506"/>
          <a:ext cx="8128000" cy="1554480"/>
        </p:xfrm>
        <a:graphic>
          <a:graphicData uri="http://schemas.openxmlformats.org/drawingml/2006/table">
            <a:tbl>
              <a:tblPr rtl="1" firstRow="1" bandRow="1">
                <a:tableStyleId>{1778E25D-6658-4D9B-876C-8C97E927BF0F}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70322848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9636737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769938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6063917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1"/>
                      <a:r>
                        <a:rPr lang="he-IL"/>
                        <a:t>למידת יתר </a:t>
                      </a:r>
                    </a:p>
                    <a:p>
                      <a:pPr algn="ctr" rtl="1"/>
                      <a:r>
                        <a:rPr lang="en-US"/>
                        <a:t>overfitting</a:t>
                      </a:r>
                      <a:endParaRPr lang="he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/>
                        <a:t>למידה טובה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/>
                        <a:t>למידת חסר</a:t>
                      </a:r>
                    </a:p>
                    <a:p>
                      <a:pPr algn="ctr" rtl="1"/>
                      <a:r>
                        <a:rPr lang="en-US"/>
                        <a:t>Underfitting</a:t>
                      </a:r>
                      <a:endParaRPr lang="he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/>
                        <a:t>מצב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05128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he-IL"/>
                        <a:t>גבוה מאד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/>
                        <a:t>גבוה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/>
                        <a:t>נמוך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/>
                        <a:t>דיוק על נתוני האימון</a:t>
                      </a:r>
                    </a:p>
                    <a:p>
                      <a:pPr algn="ctr" rtl="1"/>
                      <a:r>
                        <a:rPr lang="en-US"/>
                        <a:t>Train accuracy</a:t>
                      </a:r>
                      <a:endParaRPr lang="he-I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14531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נמוך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גבוה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/>
                        <a:t>נמוך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דיוק על נתוני המבחן</a:t>
                      </a:r>
                    </a:p>
                    <a:p>
                      <a:pPr algn="ctr" rtl="1"/>
                      <a:r>
                        <a:rPr lang="en-US" dirty="0"/>
                        <a:t>Test accuracy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1088945"/>
                  </a:ext>
                </a:extLst>
              </a:tr>
            </a:tbl>
          </a:graphicData>
        </a:graphic>
      </p:graphicFrame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F7AB3981-A270-A33B-1AFE-D4EB322305C6}"/>
              </a:ext>
            </a:extLst>
          </p:cNvPr>
          <p:cNvSpPr txBox="1"/>
          <p:nvPr/>
        </p:nvSpPr>
        <p:spPr>
          <a:xfrm>
            <a:off x="4520045" y="1660728"/>
            <a:ext cx="7110745" cy="73866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he-IL"/>
              <a:t>נרצה תמיד למדוד את הדיוק על נתוני האימון וגם נתוני המבחן. הדיוק על נתוני האימון מעיד עד כמה האלגוריתם למד. הדיוק על נתוני המבחן מעיד עד כמה ההכללה טובה. קיימות 3 אפשרויות המרוכזות בטבלה:</a:t>
            </a:r>
          </a:p>
        </p:txBody>
      </p:sp>
    </p:spTree>
    <p:extLst>
      <p:ext uri="{BB962C8B-B14F-4D97-AF65-F5344CB8AC3E}">
        <p14:creationId xmlns:p14="http://schemas.microsoft.com/office/powerpoint/2010/main" val="38705831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9"/>
          <p:cNvSpPr txBox="1">
            <a:spLocks noGrp="1"/>
          </p:cNvSpPr>
          <p:nvPr>
            <p:ph type="title"/>
          </p:nvPr>
        </p:nvSpPr>
        <p:spPr>
          <a:xfrm>
            <a:off x="1279635" y="355224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147"/>
              </a:buClr>
              <a:buSzPts val="4400"/>
              <a:buNone/>
            </a:pPr>
            <a:r>
              <a:rPr lang="iw-IL" dirty="0"/>
              <a:t>כיצד נמנעים מ</a:t>
            </a:r>
            <a:r>
              <a:rPr lang="he-IL" dirty="0"/>
              <a:t> </a:t>
            </a:r>
            <a:r>
              <a:rPr lang="en-US" dirty="0"/>
              <a:t>overfitting</a:t>
            </a:r>
            <a:endParaRPr dirty="0"/>
          </a:p>
        </p:txBody>
      </p:sp>
      <p:sp>
        <p:nvSpPr>
          <p:cNvPr id="237" name="Google Shape;237;p29"/>
          <p:cNvSpPr txBox="1">
            <a:spLocks noGrp="1"/>
          </p:cNvSpPr>
          <p:nvPr>
            <p:ph type="body" idx="1"/>
          </p:nvPr>
        </p:nvSpPr>
        <p:spPr>
          <a:xfrm>
            <a:off x="1271752" y="1842899"/>
            <a:ext cx="10515600" cy="2100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5720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iw-IL" dirty="0"/>
              <a:t>הגדלת מספר דוגמאות האימון</a:t>
            </a:r>
            <a:endParaRPr lang="he-IL" dirty="0"/>
          </a:p>
          <a:p>
            <a:pPr marL="457200" lvl="0" indent="-45720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he-IL" dirty="0"/>
              <a:t>כיוון היפר-פרמטרים (</a:t>
            </a:r>
            <a:r>
              <a:rPr lang="en-US"/>
              <a:t>K</a:t>
            </a:r>
            <a:r>
              <a:rPr lang="he-IL"/>
              <a:t>)</a:t>
            </a:r>
          </a:p>
          <a:p>
            <a:pPr marL="457200" lvl="0" indent="-45720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he-IL"/>
              <a:t>יש </a:t>
            </a:r>
            <a:r>
              <a:rPr lang="he-IL" dirty="0"/>
              <a:t>דרכים נוספות, שילמדו בהמשך</a:t>
            </a:r>
            <a:endParaRPr dirty="0"/>
          </a:p>
          <a:p>
            <a:pPr marL="914400" lvl="1" indent="-3048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/>
              <a:buNone/>
            </a:pP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"/>
          <p:cNvSpPr txBox="1">
            <a:spLocks noGrp="1"/>
          </p:cNvSpPr>
          <p:nvPr>
            <p:ph type="title"/>
          </p:nvPr>
        </p:nvSpPr>
        <p:spPr>
          <a:xfrm>
            <a:off x="3194756" y="2327275"/>
            <a:ext cx="8159044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147"/>
              </a:buClr>
              <a:buSzPts val="4400"/>
              <a:buNone/>
            </a:pPr>
            <a:r>
              <a:rPr lang="he-IL" dirty="0"/>
              <a:t>שלבי אימון, ולידציה ומבחן</a:t>
            </a:r>
          </a:p>
        </p:txBody>
      </p:sp>
    </p:spTree>
    <p:extLst>
      <p:ext uri="{BB962C8B-B14F-4D97-AF65-F5344CB8AC3E}">
        <p14:creationId xmlns:p14="http://schemas.microsoft.com/office/powerpoint/2010/main" val="37315662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BFD50-90A1-D9BC-692B-CF27D31B2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CF9FBEE-6B4B-95A5-7786-07586088FB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he-IL"/>
              <a:t>פרמטרים נלמדים </a:t>
            </a:r>
            <a:r>
              <a:rPr lang="he-IL" dirty="0"/>
              <a:t>של האלגוריתם ושל תהליך הלמידה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he-IL" dirty="0"/>
              <a:t>לדוגמא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/>
              <a:t>w,b</a:t>
            </a:r>
            <a:r>
              <a:rPr lang="he-IL"/>
              <a:t> ברגרסיה לינארית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he-IL"/>
              <a:t>בעתיד הקרוב: </a:t>
            </a:r>
            <a:r>
              <a:rPr lang="en-US"/>
              <a:t>w,b</a:t>
            </a:r>
            <a:r>
              <a:rPr lang="he-IL"/>
              <a:t> של </a:t>
            </a:r>
            <a:r>
              <a:rPr lang="en-US"/>
              <a:t>SVM Linear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he-IL"/>
              <a:t>בעתיד הרחוק: </a:t>
            </a:r>
            <a:r>
              <a:rPr lang="en-US"/>
              <a:t>w,b</a:t>
            </a:r>
            <a:r>
              <a:rPr lang="he-IL"/>
              <a:t> של שכבת נוירונים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he-IL"/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he-IL"/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he-IL"/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B1C3DF-90D3-F9DF-F972-41A8305F09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he-IL"/>
              <a:t>פרמטרים - </a:t>
            </a:r>
            <a:r>
              <a:rPr lang="en-US"/>
              <a:t>parameters</a:t>
            </a:r>
            <a:r>
              <a:rPr lang="he-IL"/>
              <a:t> 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9450486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430B16A-5B0E-452F-A17C-9BE9D42AF1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he-IL" dirty="0"/>
              <a:t>פרמטרים מבניים של האלגוריתם ושל תהליך הלמידה שנבחרים על ידי האדם שבונה </a:t>
            </a:r>
            <a:r>
              <a:rPr lang="he-IL"/>
              <a:t>את המודל</a:t>
            </a:r>
            <a:endParaRPr lang="he-IL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he-IL" dirty="0"/>
              <a:t>לדוגמא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dirty="0"/>
              <a:t>K</a:t>
            </a:r>
            <a:r>
              <a:rPr lang="he-IL" dirty="0"/>
              <a:t> ב-</a:t>
            </a:r>
            <a:r>
              <a:rPr lang="en-US" dirty="0"/>
              <a:t>KNN</a:t>
            </a:r>
            <a:endParaRPr lang="he-IL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he-IL" dirty="0"/>
              <a:t>בעתיד הקרוב: סוג </a:t>
            </a:r>
            <a:r>
              <a:rPr lang="en-US" dirty="0"/>
              <a:t>kernel</a:t>
            </a:r>
            <a:r>
              <a:rPr lang="he-IL" dirty="0"/>
              <a:t> </a:t>
            </a:r>
            <a:r>
              <a:rPr lang="he-IL" dirty="0" err="1"/>
              <a:t>ורגולריזציה</a:t>
            </a:r>
            <a:r>
              <a:rPr lang="he-IL" dirty="0"/>
              <a:t> באלגוריתם </a:t>
            </a:r>
            <a:r>
              <a:rPr lang="en-US" dirty="0"/>
              <a:t>SVM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he-IL" dirty="0"/>
              <a:t>בעתיד הרחוק: מספר שכבות ברשת נוירונים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508B85-0BCE-461A-8141-D089795A26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he-IL" dirty="0"/>
              <a:t>היפר פרמטרים - </a:t>
            </a:r>
            <a:r>
              <a:rPr lang="en-US" dirty="0"/>
              <a:t>hyper parameters</a:t>
            </a:r>
            <a:r>
              <a:rPr lang="he-IL" dirty="0"/>
              <a:t> 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7490706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F286CE-1333-34EA-DC5D-CD0D3C624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5A9ED7CE-E1A1-98ED-BC11-2EED86A6AD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1693" y="1738310"/>
            <a:ext cx="11430077" cy="3783867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he-IL"/>
              <a:t>בחירת היפר-פרמטרים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he-IL"/>
              <a:t>אימון </a:t>
            </a:r>
            <a:r>
              <a:rPr lang="he-IL" dirty="0"/>
              <a:t>המסווג על </a:t>
            </a:r>
            <a:r>
              <a:rPr lang="en-US" dirty="0"/>
              <a:t>Train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he-IL" dirty="0"/>
              <a:t>בחינת ביצועים </a:t>
            </a:r>
            <a:r>
              <a:rPr lang="he-IL"/>
              <a:t>על </a:t>
            </a:r>
            <a:r>
              <a:rPr lang="en-US"/>
              <a:t>Test</a:t>
            </a: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he-IL"/>
              <a:t>בחירה סופית של היפר-פרמטרים</a:t>
            </a:r>
            <a:endParaRPr lang="he-IL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he-IL" dirty="0"/>
              <a:t>בחינת ביצועים על </a:t>
            </a:r>
            <a:r>
              <a:rPr lang="en-US" dirty="0"/>
              <a:t>Test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L" dirty="0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DF05F9D6-AE65-A678-DBBF-70D6B1C1A2B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e-IL" dirty="0"/>
              <a:t>תהליך אימון מכונה לומדת</a:t>
            </a:r>
          </a:p>
          <a:p>
            <a:r>
              <a:rPr lang="he-IL" dirty="0">
                <a:solidFill>
                  <a:srgbClr val="FF0000"/>
                </a:solidFill>
              </a:rPr>
              <a:t>מה הבעיה כאן?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1026" name="Picture 2" descr="About Train, Validation and Test Sets in Machine Learning">
            <a:extLst>
              <a:ext uri="{FF2B5EF4-FFF2-40B4-BE49-F238E27FC236}">
                <a16:creationId xmlns:a16="http://schemas.microsoft.com/office/drawing/2014/main" id="{87BE2204-28AB-AAD9-513F-411B98C00B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910" y="4530238"/>
            <a:ext cx="8232470" cy="1962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חץ: מעוקל שמאלה 4">
            <a:extLst>
              <a:ext uri="{FF2B5EF4-FFF2-40B4-BE49-F238E27FC236}">
                <a16:creationId xmlns:a16="http://schemas.microsoft.com/office/drawing/2014/main" id="{490943A4-5B02-73FA-4953-1DB45EF8EEAA}"/>
              </a:ext>
            </a:extLst>
          </p:cNvPr>
          <p:cNvSpPr/>
          <p:nvPr/>
        </p:nvSpPr>
        <p:spPr>
          <a:xfrm flipH="1" flipV="1">
            <a:off x="5873750" y="1866263"/>
            <a:ext cx="647700" cy="1376362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29165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7B7505BD-13FC-4204-9A73-64D89DEB1A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0229" y="1479924"/>
            <a:ext cx="11430077" cy="3783867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Train</a:t>
            </a:r>
            <a:r>
              <a:rPr lang="he-IL" dirty="0"/>
              <a:t> – נתונים לאימון</a:t>
            </a: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Validation</a:t>
            </a:r>
            <a:r>
              <a:rPr lang="he-IL" dirty="0"/>
              <a:t> – נתונים להערכת ביצועים בתהליך הפיתוח</a:t>
            </a: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Test</a:t>
            </a:r>
            <a:r>
              <a:rPr lang="he-IL" dirty="0"/>
              <a:t> – נתונים להערכת הביצועים הסופיים של המודל עם ההיפר פרמטרים הנבחרים</a:t>
            </a: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L" dirty="0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28239A00-01C2-44BD-A716-ECB2AF0615D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/>
          </a:bodyPr>
          <a:lstStyle/>
          <a:p>
            <a:r>
              <a:rPr lang="he-IL" dirty="0"/>
              <a:t>חלוקת מאגר הנתונים בתהליך הפיתוח</a:t>
            </a:r>
            <a:endParaRPr lang="en-US" dirty="0"/>
          </a:p>
        </p:txBody>
      </p:sp>
      <p:pic>
        <p:nvPicPr>
          <p:cNvPr id="1026" name="Picture 2" descr="About Train, Validation and Test Sets in Machine Learning">
            <a:extLst>
              <a:ext uri="{FF2B5EF4-FFF2-40B4-BE49-F238E27FC236}">
                <a16:creationId xmlns:a16="http://schemas.microsoft.com/office/drawing/2014/main" id="{0FDFB47D-93E7-4A63-98A9-AEA3A17308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704" y="4104209"/>
            <a:ext cx="8492417" cy="20246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11500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7B7505BD-13FC-4204-9A73-64D89DEB1A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1693" y="1738310"/>
            <a:ext cx="11430077" cy="3783867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he-IL"/>
              <a:t>בחירת היפר-פרמטרים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he-IL"/>
              <a:t>אימון </a:t>
            </a:r>
            <a:r>
              <a:rPr lang="he-IL" dirty="0"/>
              <a:t>המסווג על </a:t>
            </a:r>
            <a:r>
              <a:rPr lang="en-US" dirty="0"/>
              <a:t>Train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he-IL" dirty="0"/>
              <a:t>בחינת ביצועים על </a:t>
            </a:r>
            <a:r>
              <a:rPr lang="en-US" dirty="0"/>
              <a:t>Validation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he-IL"/>
              <a:t>בחירה סופית של היפר-פרמטרים</a:t>
            </a:r>
            <a:endParaRPr lang="he-IL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he-IL" dirty="0"/>
              <a:t>בחינת ביצועים על </a:t>
            </a:r>
            <a:r>
              <a:rPr lang="en-US" dirty="0"/>
              <a:t>Test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L" dirty="0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28239A00-01C2-44BD-A716-ECB2AF0615D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e-IL" dirty="0"/>
              <a:t>תהליך אימון מכונה לומדת</a:t>
            </a:r>
          </a:p>
          <a:p>
            <a:r>
              <a:rPr lang="he-IL" dirty="0">
                <a:solidFill>
                  <a:srgbClr val="FF0000"/>
                </a:solidFill>
              </a:rPr>
              <a:t>תהליך נכון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1026" name="Picture 2" descr="About Train, Validation and Test Sets in Machine Learning">
            <a:extLst>
              <a:ext uri="{FF2B5EF4-FFF2-40B4-BE49-F238E27FC236}">
                <a16:creationId xmlns:a16="http://schemas.microsoft.com/office/drawing/2014/main" id="{0FDFB47D-93E7-4A63-98A9-AEA3A17308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910" y="4530238"/>
            <a:ext cx="8232470" cy="1962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חץ: מעוקל שמאלה 4">
            <a:extLst>
              <a:ext uri="{FF2B5EF4-FFF2-40B4-BE49-F238E27FC236}">
                <a16:creationId xmlns:a16="http://schemas.microsoft.com/office/drawing/2014/main" id="{10E1D88F-0708-439C-9F9F-608F34AC796D}"/>
              </a:ext>
            </a:extLst>
          </p:cNvPr>
          <p:cNvSpPr/>
          <p:nvPr/>
        </p:nvSpPr>
        <p:spPr>
          <a:xfrm flipH="1" flipV="1">
            <a:off x="5873750" y="1866263"/>
            <a:ext cx="647700" cy="1376362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46965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886449-90B7-46FC-BD87-A2AE901CC4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/>
            <a:r>
              <a:rPr lang="en-US" dirty="0">
                <a:hlinkClick r:id="rId2"/>
              </a:rPr>
              <a:t>https://scikit-learn.org/stable/modules/generated/sklearn.model_selection.train_test_split.html</a:t>
            </a:r>
            <a:endParaRPr lang="en-IL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B14A92-368E-4632-8487-ACF43B24794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Train test split in </a:t>
            </a:r>
            <a:r>
              <a:rPr lang="en-US" dirty="0" err="1"/>
              <a:t>sklearn</a:t>
            </a:r>
            <a:endParaRPr lang="en-IL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3BD5D69-D5B3-FEF2-BE1C-7A7FB4CB843F}"/>
              </a:ext>
            </a:extLst>
          </p:cNvPr>
          <p:cNvSpPr txBox="1"/>
          <p:nvPr/>
        </p:nvSpPr>
        <p:spPr>
          <a:xfrm>
            <a:off x="4706007" y="3563669"/>
            <a:ext cx="681264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dirty="0"/>
              <a:t>שימו לב: על מנת לחלק את הנתונים </a:t>
            </a:r>
            <a:r>
              <a:rPr lang="he-IL"/>
              <a:t>ל3 חלקים יש </a:t>
            </a:r>
            <a:r>
              <a:rPr lang="he-IL" dirty="0"/>
              <a:t>להריץ את פקודת </a:t>
            </a:r>
            <a:r>
              <a:rPr lang="he-IL"/>
              <a:t>החלוקה פעמיים: </a:t>
            </a:r>
          </a:p>
          <a:p>
            <a:pPr algn="r" rtl="1"/>
            <a:r>
              <a:rPr lang="he-IL"/>
              <a:t>חלוקה </a:t>
            </a:r>
            <a:r>
              <a:rPr lang="en-US" dirty="0" err="1"/>
              <a:t>train+</a:t>
            </a:r>
            <a:r>
              <a:rPr lang="en-US" err="1"/>
              <a:t>val</a:t>
            </a:r>
            <a:r>
              <a:rPr lang="en-US"/>
              <a:t>, test</a:t>
            </a:r>
            <a:r>
              <a:rPr lang="he-IL"/>
              <a:t> </a:t>
            </a:r>
          </a:p>
          <a:p>
            <a:pPr algn="r" rtl="1"/>
            <a:r>
              <a:rPr lang="he-IL"/>
              <a:t>וחלוקה </a:t>
            </a:r>
            <a:r>
              <a:rPr lang="he-IL" dirty="0"/>
              <a:t>של </a:t>
            </a:r>
            <a:r>
              <a:rPr lang="en-US" dirty="0" err="1"/>
              <a:t>train+val</a:t>
            </a:r>
            <a:r>
              <a:rPr lang="he-IL" dirty="0"/>
              <a:t> ל</a:t>
            </a:r>
            <a:r>
              <a:rPr lang="en-US" dirty="0" err="1"/>
              <a:t>train</a:t>
            </a:r>
            <a:r>
              <a:rPr lang="en-US" err="1"/>
              <a:t>,</a:t>
            </a:r>
            <a:r>
              <a:rPr lang="en-US"/>
              <a:t>val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6998403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"/>
          <p:cNvSpPr txBox="1">
            <a:spLocks noGrp="1"/>
          </p:cNvSpPr>
          <p:nvPr>
            <p:ph type="title"/>
          </p:nvPr>
        </p:nvSpPr>
        <p:spPr>
          <a:xfrm>
            <a:off x="3194756" y="2327275"/>
            <a:ext cx="8159044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147"/>
              </a:buClr>
              <a:buSzPts val="4400"/>
              <a:buNone/>
            </a:pPr>
            <a:r>
              <a:rPr lang="he-IL" dirty="0"/>
              <a:t>שיטת </a:t>
            </a:r>
            <a:r>
              <a:rPr lang="en-US" dirty="0"/>
              <a:t>cross validation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41435039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5DD6F81-D3A5-4649-929C-B5FC6BF6E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Cross validation</a:t>
            </a:r>
            <a:endParaRPr lang="en-IL" dirty="0"/>
          </a:p>
        </p:txBody>
      </p:sp>
      <p:pic>
        <p:nvPicPr>
          <p:cNvPr id="1026" name="Picture 2" descr="Image result for machine learning cross validation">
            <a:extLst>
              <a:ext uri="{FF2B5EF4-FFF2-40B4-BE49-F238E27FC236}">
                <a16:creationId xmlns:a16="http://schemas.microsoft.com/office/drawing/2014/main" id="{EA2A9829-B69F-408F-AD8E-6742F2D356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3120" y="1690688"/>
            <a:ext cx="5124909" cy="3902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CE4FC09-2FF3-488C-891E-2F67120BE2C7}"/>
              </a:ext>
            </a:extLst>
          </p:cNvPr>
          <p:cNvSpPr/>
          <p:nvPr/>
        </p:nvSpPr>
        <p:spPr>
          <a:xfrm>
            <a:off x="6096000" y="2819400"/>
            <a:ext cx="489857" cy="4027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Val</a:t>
            </a:r>
            <a:endParaRPr lang="en-IL" dirty="0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F5C787-3ECB-4DD3-8CA7-21FCBDAFEAA6}"/>
              </a:ext>
            </a:extLst>
          </p:cNvPr>
          <p:cNvSpPr/>
          <p:nvPr/>
        </p:nvSpPr>
        <p:spPr>
          <a:xfrm>
            <a:off x="5562599" y="3392940"/>
            <a:ext cx="489857" cy="4027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Val</a:t>
            </a:r>
            <a:endParaRPr lang="en-IL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4F2B333-BBD4-489B-8B7E-078A6936F902}"/>
              </a:ext>
            </a:extLst>
          </p:cNvPr>
          <p:cNvSpPr/>
          <p:nvPr/>
        </p:nvSpPr>
        <p:spPr>
          <a:xfrm>
            <a:off x="5072738" y="3973288"/>
            <a:ext cx="489857" cy="4027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Val</a:t>
            </a:r>
            <a:endParaRPr lang="en-IL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86D0601-48CA-4F89-A669-71A659CC3660}"/>
              </a:ext>
            </a:extLst>
          </p:cNvPr>
          <p:cNvSpPr/>
          <p:nvPr/>
        </p:nvSpPr>
        <p:spPr>
          <a:xfrm>
            <a:off x="4561112" y="4539342"/>
            <a:ext cx="489857" cy="4027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Val</a:t>
            </a:r>
            <a:endParaRPr lang="en-IL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682CBF-9A25-4F9D-B44E-417092955C90}"/>
              </a:ext>
            </a:extLst>
          </p:cNvPr>
          <p:cNvSpPr/>
          <p:nvPr/>
        </p:nvSpPr>
        <p:spPr>
          <a:xfrm>
            <a:off x="4082144" y="5094518"/>
            <a:ext cx="489857" cy="4027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Val</a:t>
            </a:r>
            <a:endParaRPr lang="en-IL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87391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793932-83CF-4BBE-9079-77C4CEB7D6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/>
            <a:r>
              <a:rPr lang="en-US" dirty="0">
                <a:hlinkClick r:id="rId2"/>
              </a:rPr>
              <a:t>https://scikit-learn.org/stable/modules/cross_validation.html</a:t>
            </a:r>
            <a:endParaRPr lang="en-IL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2A5CCF-7CB9-4FDE-B75C-6EBA4C75DE7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algn="l" rtl="0"/>
            <a:r>
              <a:rPr lang="en-US" dirty="0"/>
              <a:t>Cross validation in </a:t>
            </a:r>
            <a:r>
              <a:rPr lang="en-US" dirty="0" err="1"/>
              <a:t>sklearn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3206007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"/>
          <p:cNvSpPr txBox="1">
            <a:spLocks noGrp="1"/>
          </p:cNvSpPr>
          <p:nvPr>
            <p:ph type="title"/>
          </p:nvPr>
        </p:nvSpPr>
        <p:spPr>
          <a:xfrm>
            <a:off x="3194756" y="2327275"/>
            <a:ext cx="8159044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147"/>
              </a:buClr>
              <a:buSzPts val="4400"/>
              <a:buNone/>
            </a:pPr>
            <a:r>
              <a:rPr lang="en-US"/>
              <a:t>Hyper parameter tuning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0183043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7166D427-D7EC-58FA-8F4B-4856C11BB0D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algn="l" rtl="0"/>
            <a:r>
              <a:rPr lang="en-US"/>
              <a:t>imports</a:t>
            </a:r>
            <a:endParaRPr lang="he-IL"/>
          </a:p>
        </p:txBody>
      </p:sp>
      <p:pic>
        <p:nvPicPr>
          <p:cNvPr id="9" name="תמונה 8">
            <a:extLst>
              <a:ext uri="{FF2B5EF4-FFF2-40B4-BE49-F238E27FC236}">
                <a16:creationId xmlns:a16="http://schemas.microsoft.com/office/drawing/2014/main" id="{F8149416-F220-B413-266B-836757D000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7577" y="2428875"/>
            <a:ext cx="6000750" cy="200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0241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"/>
          <p:cNvSpPr txBox="1">
            <a:spLocks noGrp="1"/>
          </p:cNvSpPr>
          <p:nvPr>
            <p:ph type="title"/>
          </p:nvPr>
        </p:nvSpPr>
        <p:spPr>
          <a:xfrm>
            <a:off x="3557363" y="1933137"/>
            <a:ext cx="8159044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147"/>
              </a:buClr>
              <a:buSzPts val="4400"/>
              <a:buNone/>
            </a:pPr>
            <a:r>
              <a:rPr lang="en-US"/>
              <a:t>Method #1</a:t>
            </a:r>
            <a:br>
              <a:rPr lang="en-US"/>
            </a:br>
            <a:r>
              <a:rPr lang="en-US"/>
              <a:t>using loops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530727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04E67418-7980-FA3B-7EA1-8E03CFA0541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/>
          </a:bodyPr>
          <a:lstStyle/>
          <a:p>
            <a:pPr algn="l" rtl="0"/>
            <a:r>
              <a:rPr lang="en-US"/>
              <a:t>Choosing best parameter K</a:t>
            </a:r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4A9863AA-7FA7-E5D4-8538-15722FDD97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107" y="1557227"/>
            <a:ext cx="6039509" cy="2565455"/>
          </a:xfrm>
          <a:prstGeom prst="rect">
            <a:avLst/>
          </a:prstGeom>
        </p:spPr>
      </p:pic>
      <p:pic>
        <p:nvPicPr>
          <p:cNvPr id="8" name="תמונה 7">
            <a:extLst>
              <a:ext uri="{FF2B5EF4-FFF2-40B4-BE49-F238E27FC236}">
                <a16:creationId xmlns:a16="http://schemas.microsoft.com/office/drawing/2014/main" id="{DB7EB4F1-13C8-2ED2-8A10-F2E7CED0F7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6177" y="1470901"/>
            <a:ext cx="3539395" cy="2123637"/>
          </a:xfrm>
          <a:prstGeom prst="rect">
            <a:avLst/>
          </a:prstGeom>
        </p:spPr>
      </p:pic>
      <p:sp>
        <p:nvSpPr>
          <p:cNvPr id="9" name="תיבת טקסט 8">
            <a:extLst>
              <a:ext uri="{FF2B5EF4-FFF2-40B4-BE49-F238E27FC236}">
                <a16:creationId xmlns:a16="http://schemas.microsoft.com/office/drawing/2014/main" id="{47B70D14-6333-9E0E-BF51-928ED4146F41}"/>
              </a:ext>
            </a:extLst>
          </p:cNvPr>
          <p:cNvSpPr txBox="1"/>
          <p:nvPr/>
        </p:nvSpPr>
        <p:spPr>
          <a:xfrm>
            <a:off x="685107" y="4272455"/>
            <a:ext cx="6258911" cy="95410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Note: this is done right after Choosing X,y and Train-test split.</a:t>
            </a:r>
          </a:p>
          <a:p>
            <a:r>
              <a:rPr lang="en-US">
                <a:solidFill>
                  <a:srgbClr val="FF0000"/>
                </a:solidFill>
              </a:rPr>
              <a:t>We normalize with classifier in pipeline, so that fit_transform is done on the train splits and transform is done on the validation splits within the cross validation process</a:t>
            </a:r>
            <a:r>
              <a:rPr lang="en-US"/>
              <a:t>.</a:t>
            </a:r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225197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04E67418-7980-FA3B-7EA1-8E03CFA0541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algn="l" rtl="0"/>
            <a:r>
              <a:rPr lang="en-US"/>
              <a:t>Choosing best parameter K</a:t>
            </a:r>
            <a:endParaRPr lang="he-IL"/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3E874EF6-82B9-2312-1BBF-CCEB8E835A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552" y="1590675"/>
            <a:ext cx="8762763" cy="2800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7535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1DEBB303-40B9-C1B6-B877-42040C2CCF8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algn="l" rtl="0"/>
            <a:r>
              <a:rPr lang="en-US"/>
              <a:t>Evaluate on test data</a:t>
            </a:r>
            <a:endParaRPr lang="he-IL"/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FEB856A0-FDD4-3EF8-5923-AE8B45E825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901" y="1938830"/>
            <a:ext cx="6413397" cy="2467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280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תוכן 1">
            <a:extLst>
              <a:ext uri="{FF2B5EF4-FFF2-40B4-BE49-F238E27FC236}">
                <a16:creationId xmlns:a16="http://schemas.microsoft.com/office/drawing/2014/main" id="{7D287202-AF75-52DA-9C4D-CCF679A92A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/>
            <a:r>
              <a:rPr lang="en-US">
                <a:hlinkClick r:id="rId2"/>
              </a:rPr>
              <a:t>Penguin classification exercise 2.5</a:t>
            </a:r>
            <a:endParaRPr lang="he-IL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36F6BD4A-C02B-E11F-3941-94DCEA15804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 lnSpcReduction="10000"/>
          </a:bodyPr>
          <a:lstStyle/>
          <a:p>
            <a:pPr algn="l" rtl="0"/>
            <a:r>
              <a:rPr lang="en-US"/>
              <a:t>Penguin Classification exercise – method #1</a:t>
            </a:r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527950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"/>
          <p:cNvSpPr txBox="1">
            <a:spLocks noGrp="1"/>
          </p:cNvSpPr>
          <p:nvPr>
            <p:ph type="title"/>
          </p:nvPr>
        </p:nvSpPr>
        <p:spPr>
          <a:xfrm>
            <a:off x="3557363" y="1933137"/>
            <a:ext cx="8159044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147"/>
              </a:buClr>
              <a:buSzPts val="4400"/>
              <a:buNone/>
            </a:pPr>
            <a:r>
              <a:rPr lang="en-US"/>
              <a:t>Method #2</a:t>
            </a:r>
            <a:br>
              <a:rPr lang="en-US"/>
            </a:br>
            <a:r>
              <a:rPr lang="en-US"/>
              <a:t>using GridSearchCV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9538349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04E67418-7980-FA3B-7EA1-8E03CFA0541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0961" y="0"/>
            <a:ext cx="11430078" cy="1376363"/>
          </a:xfrm>
        </p:spPr>
        <p:txBody>
          <a:bodyPr/>
          <a:lstStyle/>
          <a:p>
            <a:pPr algn="l" rtl="0"/>
            <a:r>
              <a:rPr lang="en-US"/>
              <a:t>Choosing best parameter K</a:t>
            </a:r>
            <a:endParaRPr lang="he-IL"/>
          </a:p>
        </p:txBody>
      </p:sp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808678BB-31E5-A620-3C6D-4BB0940756F8}"/>
              </a:ext>
            </a:extLst>
          </p:cNvPr>
          <p:cNvSpPr txBox="1"/>
          <p:nvPr/>
        </p:nvSpPr>
        <p:spPr>
          <a:xfrm>
            <a:off x="3871653" y="4743510"/>
            <a:ext cx="6258911" cy="95410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Note: this is done right after Choosing X,y and Train-test split.</a:t>
            </a:r>
          </a:p>
          <a:p>
            <a:r>
              <a:rPr lang="en-US">
                <a:solidFill>
                  <a:srgbClr val="FF0000"/>
                </a:solidFill>
              </a:rPr>
              <a:t>We normalize with classifier in pipeline, so that fit_transform is done on the train splits and transform is done on the validation splits within the cross validation process</a:t>
            </a:r>
            <a:r>
              <a:rPr lang="en-US"/>
              <a:t>.</a:t>
            </a:r>
            <a:endParaRPr lang="he-IL"/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EDDE6248-C97F-5469-4E4A-7751841968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258" y="1127181"/>
            <a:ext cx="5319681" cy="2879662"/>
          </a:xfrm>
          <a:prstGeom prst="rect">
            <a:avLst/>
          </a:prstGeom>
        </p:spPr>
      </p:pic>
      <p:pic>
        <p:nvPicPr>
          <p:cNvPr id="8" name="תמונה 7">
            <a:extLst>
              <a:ext uri="{FF2B5EF4-FFF2-40B4-BE49-F238E27FC236}">
                <a16:creationId xmlns:a16="http://schemas.microsoft.com/office/drawing/2014/main" id="{2F2768FF-7141-24EC-1301-B879A3965F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0642" y="1160383"/>
            <a:ext cx="6091762" cy="2623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1860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04E67418-7980-FA3B-7EA1-8E03CFA0541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0961" y="0"/>
            <a:ext cx="11430078" cy="1376363"/>
          </a:xfrm>
        </p:spPr>
        <p:txBody>
          <a:bodyPr/>
          <a:lstStyle/>
          <a:p>
            <a:pPr algn="l" rtl="0"/>
            <a:r>
              <a:rPr lang="en-US"/>
              <a:t>Choosing best parameter K</a:t>
            </a:r>
            <a:endParaRPr lang="he-IL"/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9C8BD11D-CB6A-920B-3D24-B9A6EC6FAA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77" y="1094333"/>
            <a:ext cx="7212272" cy="4410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0443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1DEBB303-40B9-C1B6-B877-42040C2CCF8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algn="l" rtl="0"/>
            <a:r>
              <a:rPr lang="en-US"/>
              <a:t>Evaluate on test data</a:t>
            </a:r>
            <a:endParaRPr lang="he-IL"/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49AB369C-DBC0-F62F-4121-E2F161C60B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386" y="1860331"/>
            <a:ext cx="4130033" cy="2325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9308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תוכן 1">
            <a:extLst>
              <a:ext uri="{FF2B5EF4-FFF2-40B4-BE49-F238E27FC236}">
                <a16:creationId xmlns:a16="http://schemas.microsoft.com/office/drawing/2014/main" id="{7D287202-AF75-52DA-9C4D-CCF679A92A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/>
            <a:r>
              <a:rPr lang="en-US">
                <a:hlinkClick r:id="rId2"/>
              </a:rPr>
              <a:t>Penguin classification exercise 3.0</a:t>
            </a:r>
            <a:endParaRPr lang="he-IL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36F6BD4A-C02B-E11F-3941-94DCEA15804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 lnSpcReduction="10000"/>
          </a:bodyPr>
          <a:lstStyle/>
          <a:p>
            <a:pPr algn="l" rtl="0"/>
            <a:r>
              <a:rPr lang="en-US"/>
              <a:t>Penguin Classification exercise – method #2</a:t>
            </a:r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918817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1"/>
          <p:cNvSpPr txBox="1">
            <a:spLocks noGrp="1"/>
          </p:cNvSpPr>
          <p:nvPr>
            <p:ph type="title"/>
          </p:nvPr>
        </p:nvSpPr>
        <p:spPr>
          <a:xfrm>
            <a:off x="3736622" y="2766218"/>
            <a:ext cx="780062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147"/>
              </a:buClr>
              <a:buSzPts val="4400"/>
              <a:buNone/>
            </a:pPr>
            <a:r>
              <a:rPr lang="iw-IL"/>
              <a:t>תודה על ההשתתפות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CHNION_Op3_General_Heb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ערכת נושא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1108</TotalTime>
  <Words>559</Words>
  <Application>Microsoft Office PowerPoint</Application>
  <PresentationFormat>מסך רחב</PresentationFormat>
  <Paragraphs>103</Paragraphs>
  <Slides>31</Slides>
  <Notes>11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31</vt:i4>
      </vt:variant>
    </vt:vector>
  </HeadingPairs>
  <TitlesOfParts>
    <vt:vector size="35" baseType="lpstr">
      <vt:lpstr>Arial</vt:lpstr>
      <vt:lpstr>Calibri</vt:lpstr>
      <vt:lpstr>Tahoma</vt:lpstr>
      <vt:lpstr>TECHNION_Op3_General_Heb</vt:lpstr>
      <vt:lpstr>Overfit and  Underfit</vt:lpstr>
      <vt:lpstr>Model Complexity vs Generalization</vt:lpstr>
      <vt:lpstr>Regression overfitting and underfitting</vt:lpstr>
      <vt:lpstr>Classification overfitting and underfitting</vt:lpstr>
      <vt:lpstr>מצגת של PowerPoint‏</vt:lpstr>
      <vt:lpstr>Overfit and underfit - KNN</vt:lpstr>
      <vt:lpstr>סיכום בטבלה</vt:lpstr>
      <vt:lpstr>כיצד נמנעים מ overfitting</vt:lpstr>
      <vt:lpstr>שלבי אימון, ולידציה ומבחן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שיטת cross validation</vt:lpstr>
      <vt:lpstr>Cross validation</vt:lpstr>
      <vt:lpstr>מצגת של PowerPoint‏</vt:lpstr>
      <vt:lpstr>Hyper parameter tuning</vt:lpstr>
      <vt:lpstr>מצגת של PowerPoint‏</vt:lpstr>
      <vt:lpstr>Method #1 using loops</vt:lpstr>
      <vt:lpstr>מצגת של PowerPoint‏</vt:lpstr>
      <vt:lpstr>מצגת של PowerPoint‏</vt:lpstr>
      <vt:lpstr>מצגת של PowerPoint‏</vt:lpstr>
      <vt:lpstr>מצגת של PowerPoint‏</vt:lpstr>
      <vt:lpstr>Method #2 using GridSearchCV</vt:lpstr>
      <vt:lpstr>מצגת של PowerPoint‏</vt:lpstr>
      <vt:lpstr>מצגת של PowerPoint‏</vt:lpstr>
      <vt:lpstr>מצגת של PowerPoint‏</vt:lpstr>
      <vt:lpstr>מצגת של PowerPoint‏</vt:lpstr>
      <vt:lpstr>תודה על ההשתתפות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השתלמות ניתוח נתונים ולמידת מכונה</dc:title>
  <dc:creator>Jacob Mike</dc:creator>
  <cp:lastModifiedBy>אריאל דוד בר יצחק</cp:lastModifiedBy>
  <cp:revision>53</cp:revision>
  <dcterms:created xsi:type="dcterms:W3CDTF">2019-03-02T07:56:19Z</dcterms:created>
  <dcterms:modified xsi:type="dcterms:W3CDTF">2026-04-26T15:20:47Z</dcterms:modified>
</cp:coreProperties>
</file>