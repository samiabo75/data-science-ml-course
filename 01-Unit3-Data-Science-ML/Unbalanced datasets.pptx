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597" r:id="rId2"/>
    <p:sldId id="617" r:id="rId3"/>
    <p:sldId id="619" r:id="rId4"/>
    <p:sldId id="628" r:id="rId5"/>
    <p:sldId id="629" r:id="rId6"/>
    <p:sldId id="620" r:id="rId7"/>
    <p:sldId id="622" r:id="rId8"/>
    <p:sldId id="626" r:id="rId9"/>
    <p:sldId id="639" r:id="rId10"/>
    <p:sldId id="612" r:id="rId11"/>
    <p:sldId id="624" r:id="rId12"/>
    <p:sldId id="627" r:id="rId13"/>
    <p:sldId id="640" r:id="rId14"/>
    <p:sldId id="635" r:id="rId15"/>
    <p:sldId id="637" r:id="rId16"/>
    <p:sldId id="641" r:id="rId17"/>
    <p:sldId id="636" r:id="rId18"/>
    <p:sldId id="638" r:id="rId19"/>
    <p:sldId id="574" r:id="rId20"/>
    <p:sldId id="28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hiaHRW9scVpVHOt7LlZiKDVEm5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78E25D-6658-4D9B-876C-8C97E927BF0F}">
  <a:tblStyle styleId="{1778E25D-6658-4D9B-876C-8C97E927BF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77881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3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>
  <p:cSld name="1_כותרת ותוכן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4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7"/>
          <p:cNvSpPr txBox="1">
            <a:spLocks noGrp="1"/>
          </p:cNvSpPr>
          <p:nvPr>
            <p:ph type="body" idx="1"/>
          </p:nvPr>
        </p:nvSpPr>
        <p:spPr>
          <a:xfrm>
            <a:off x="6209302" y="1772261"/>
            <a:ext cx="5418667" cy="321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/>
            </a:lvl1pPr>
            <a:lvl2pPr marL="914400" marR="0" lvl="1" indent="-495300" algn="r" rt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4200"/>
              <a:buFont typeface="Arial"/>
              <a:buChar char="•"/>
              <a:defRPr sz="2800" b="0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7"/>
          <p:cNvSpPr>
            <a:spLocks noGrp="1"/>
          </p:cNvSpPr>
          <p:nvPr>
            <p:ph type="pic" idx="2"/>
          </p:nvPr>
        </p:nvSpPr>
        <p:spPr>
          <a:xfrm>
            <a:off x="246185" y="211014"/>
            <a:ext cx="5399088" cy="5451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body" idx="3"/>
          </p:nvPr>
        </p:nvSpPr>
        <p:spPr>
          <a:xfrm>
            <a:off x="6209302" y="525463"/>
            <a:ext cx="5419136" cy="1134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>
  <p:cSld name="שני תכנים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8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5668107" cy="382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609570" cy="383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body" idx="3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8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8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השוואה">
  <p:cSld name="השוואה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9"/>
          <p:cNvSpPr txBox="1">
            <a:spLocks noGrp="1"/>
          </p:cNvSpPr>
          <p:nvPr>
            <p:ph type="body" idx="1"/>
          </p:nvPr>
        </p:nvSpPr>
        <p:spPr>
          <a:xfrm>
            <a:off x="369278" y="1681163"/>
            <a:ext cx="562829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2"/>
          </p:nvPr>
        </p:nvSpPr>
        <p:spPr>
          <a:xfrm>
            <a:off x="369278" y="2505075"/>
            <a:ext cx="5628298" cy="31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60957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3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609570" cy="3156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body" idx="5"/>
          </p:nvPr>
        </p:nvSpPr>
        <p:spPr>
          <a:xfrm>
            <a:off x="369277" y="365124"/>
            <a:ext cx="11412493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9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בלבד">
  <p:cSld name="כותרת בלבד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0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ריק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1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1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1YKoWHjtkmNXhGxo4vnToguVCq1zyHid?usp=sharing" TargetMode="External"/><Relationship Id="rId2" Type="http://schemas.openxmlformats.org/officeDocument/2006/relationships/hyperlink" Target="https://colab.research.google.com/drive/1FbLYlWVM-WIajU3Rdf2d2sR78aJ-MorN?usp=shar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drive/1jpZl1IhoO7PohoAVIrDV904Rwf9x8Jv6?usp=sharing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816325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en-US"/>
              <a:t>Balancing tags using sampling methods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8094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9C284-2E6D-3481-8293-48C35E69F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E4123A2-97A4-282E-2113-003295E88AF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51693" y="365124"/>
            <a:ext cx="11430078" cy="1018403"/>
          </a:xfrm>
        </p:spPr>
        <p:txBody>
          <a:bodyPr>
            <a:normAutofit/>
          </a:bodyPr>
          <a:lstStyle/>
          <a:p>
            <a:pPr algn="l" rtl="0"/>
            <a:r>
              <a:rPr lang="en-US"/>
              <a:t>Stroke Prediction dataset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D2455E4C-67E1-CB74-6C93-64064D46E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63" y="1716448"/>
            <a:ext cx="10337681" cy="233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904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9970EBD3-01EC-1F43-5FA8-2FA73DEA1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005" y="3136392"/>
            <a:ext cx="11430077" cy="2610260"/>
          </a:xfrm>
        </p:spPr>
        <p:txBody>
          <a:bodyPr/>
          <a:lstStyle/>
          <a:p>
            <a:r>
              <a:rPr lang="he-IL"/>
              <a:t>מומלץ לשנות </a:t>
            </a:r>
            <a:r>
              <a:rPr lang="en-US">
                <a:solidFill>
                  <a:srgbClr val="FF0000"/>
                </a:solidFill>
              </a:rPr>
              <a:t>stratify = y</a:t>
            </a:r>
            <a:endParaRPr lang="he-IL">
              <a:solidFill>
                <a:srgbClr val="FF0000"/>
              </a:solidFill>
            </a:endParaRP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A2750FC-574A-2AD7-CF73-482A8B96851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/>
            <a:r>
              <a:rPr lang="en-US"/>
              <a:t>Unbalanced dataset</a:t>
            </a:r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3D7B6869-9A9B-87C0-34CC-B4313F4F6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7" y="1447609"/>
            <a:ext cx="3666008" cy="2164622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66789B1E-2776-A2B3-A578-70AEB5CDC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3" y="3763552"/>
            <a:ext cx="11430077" cy="176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36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91D44-104F-A5C0-A3FD-333AEF859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7DAF971-AB1C-649D-DB2E-78F2FFB8C2C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/>
              <a:t>Using standard Pipeline and GridsearchCV scoring=‘accuracy’</a:t>
            </a:r>
            <a:endParaRPr lang="he-IL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DF70261E-986A-93CE-F54B-4D12F448280F}"/>
              </a:ext>
            </a:extLst>
          </p:cNvPr>
          <p:cNvSpPr txBox="1"/>
          <p:nvPr/>
        </p:nvSpPr>
        <p:spPr>
          <a:xfrm>
            <a:off x="966952" y="1914160"/>
            <a:ext cx="6096000" cy="227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sklearn.pipeline </a:t>
            </a: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Pipeline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pipeline = Pipeline([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'scaler'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MinMaxScaler()),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'knn'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KNeighborsClassifier()),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187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param_grid = {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'knn__n_neighbors'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[x </a:t>
            </a: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 </a:t>
            </a:r>
            <a:r>
              <a:rPr lang="en-US" b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51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)],</a:t>
            </a:r>
          </a:p>
          <a:p>
            <a:pPr>
              <a:lnSpc>
                <a:spcPts val="1875"/>
              </a:lnSpc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9041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D0151-0C09-0A5E-84AD-7BDEBF8FC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52AEC77-D323-DB19-31C5-E15FCE904B6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/>
              <a:t>Using standard Pipeline and GridsearchCV scoring=‘accuracy’</a:t>
            </a:r>
            <a:endParaRPr lang="he-IL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1C78115D-3817-A2C1-E98C-F4FD48CB1739}"/>
              </a:ext>
            </a:extLst>
          </p:cNvPr>
          <p:cNvSpPr txBox="1"/>
          <p:nvPr/>
        </p:nvSpPr>
        <p:spPr>
          <a:xfrm>
            <a:off x="861848" y="1899355"/>
            <a:ext cx="9207061" cy="179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GridSearchCV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7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GridSearchCV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with F1 score (good for imbalanced data)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GridSearchCV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(pipeline,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param_grid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scoring=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'accuracy'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cv=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n_jobs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7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Fit grid search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75"/>
              </a:lnSpc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grid.fit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D7D7436C-2A99-C50D-4C70-F80D18712390}"/>
              </a:ext>
            </a:extLst>
          </p:cNvPr>
          <p:cNvSpPr txBox="1"/>
          <p:nvPr/>
        </p:nvSpPr>
        <p:spPr>
          <a:xfrm>
            <a:off x="777766" y="4137600"/>
            <a:ext cx="6096000" cy="81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Best parameters and best CV score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"Best parameters:"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grid.best_params_)</a:t>
            </a:r>
          </a:p>
          <a:p>
            <a:pPr>
              <a:lnSpc>
                <a:spcPts val="1875"/>
              </a:lnSpc>
            </a:pPr>
            <a:r>
              <a:rPr lang="en-US" b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"Best CV F1 score:"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grid.best_score_)</a:t>
            </a:r>
          </a:p>
        </p:txBody>
      </p:sp>
    </p:spTree>
    <p:extLst>
      <p:ext uri="{BB962C8B-B14F-4D97-AF65-F5344CB8AC3E}">
        <p14:creationId xmlns:p14="http://schemas.microsoft.com/office/powerpoint/2010/main" val="1950481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2068985-5B41-75A3-841E-F32DFE60677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/>
              <a:t>Using standard Pipeline and GridsearchCV scoring=‘accuracy’</a:t>
            </a:r>
            <a:endParaRPr lang="he-IL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8DDEF069-6BB9-E6E8-0A73-15EEA190E727}"/>
              </a:ext>
            </a:extLst>
          </p:cNvPr>
          <p:cNvSpPr txBox="1"/>
          <p:nvPr/>
        </p:nvSpPr>
        <p:spPr>
          <a:xfrm>
            <a:off x="1090422" y="1741487"/>
            <a:ext cx="8657082" cy="328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 = GridSearchCV(pipeline, param_grid, scoring=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'accuracy'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cv=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5)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E13331FA-7A7A-3CAD-F927-1E9B0C7F6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49" y="2106363"/>
            <a:ext cx="4323779" cy="3660312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9D6604EC-2579-9EE1-2FAE-621803717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771" y="2179446"/>
            <a:ext cx="6326619" cy="245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360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86D8C-B9B2-AED1-8048-1398E930C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56AE0F3-F451-C224-2145-D96C0760BE0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/>
              <a:t>Using standard Pipeline and GridsearchCV scoring=‘f1’</a:t>
            </a:r>
            <a:endParaRPr lang="he-IL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D924A6C9-A0C2-B7E5-C45E-A293537EC7A9}"/>
              </a:ext>
            </a:extLst>
          </p:cNvPr>
          <p:cNvSpPr txBox="1"/>
          <p:nvPr/>
        </p:nvSpPr>
        <p:spPr>
          <a:xfrm>
            <a:off x="1090422" y="1741487"/>
            <a:ext cx="8657082" cy="328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 = GridSearchCV(pipeline, param_grid, scoring=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‘f1'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cv=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5)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1B4AB2E7-833E-2A58-2B12-6E79587E8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03" y="2177987"/>
            <a:ext cx="3878009" cy="3305744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F3016CC0-F0FB-565C-5AF2-8EADD4315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209" y="2274570"/>
            <a:ext cx="6729424" cy="242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2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21B85472-5D21-43E8-94D8-79A304F36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 algn="l" rtl="0"/>
            <a:r>
              <a:rPr lang="en-US" b="1"/>
              <a:t>Undersampling</a:t>
            </a:r>
            <a:r>
              <a:rPr lang="en-US"/>
              <a:t> - reduces the number of majority class samples to balance the dataset, often at the cost of losing information.</a:t>
            </a:r>
          </a:p>
          <a:p>
            <a:pPr marL="228600" indent="0" algn="l" rtl="0"/>
            <a:r>
              <a:rPr lang="en-US" b="1"/>
              <a:t>Oversampling </a:t>
            </a:r>
            <a:r>
              <a:rPr lang="en-US"/>
              <a:t>- duplicates existing minority class samples to balance the dataset, which can lead to overfitting.</a:t>
            </a:r>
          </a:p>
          <a:p>
            <a:pPr marL="228600" indent="0" algn="l" rtl="0"/>
            <a:r>
              <a:rPr lang="en-US" b="1"/>
              <a:t>SMOTE </a:t>
            </a:r>
            <a:r>
              <a:rPr lang="en-US"/>
              <a:t>- (Synthetic Minority Over-sampling Technique) generates new, synthetic minority class samples by interpolating between existing ones, improving balance without exact duplication.</a:t>
            </a:r>
            <a:endParaRPr lang="en-US" b="1"/>
          </a:p>
          <a:p>
            <a:pPr marL="228600" indent="0" algn="l" rtl="0"/>
            <a:endParaRPr lang="he-IL" b="1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AC0E395-EE01-6963-247E-60F35822D85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/>
            <a:r>
              <a:rPr lang="en-US"/>
              <a:t>Sampling methods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58581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434B4-558D-A2A0-842B-E4C75FCE9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F85FD5FD-0E76-D271-1C9E-0D32073B3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005" y="3136392"/>
            <a:ext cx="11430077" cy="2610260"/>
          </a:xfrm>
        </p:spPr>
        <p:txBody>
          <a:bodyPr/>
          <a:lstStyle/>
          <a:p>
            <a:r>
              <a:rPr lang="he-IL"/>
              <a:t>מומלץ לשנות </a:t>
            </a:r>
            <a:r>
              <a:rPr lang="en-US">
                <a:solidFill>
                  <a:srgbClr val="FF0000"/>
                </a:solidFill>
              </a:rPr>
              <a:t>stratify = y</a:t>
            </a:r>
            <a:endParaRPr lang="he-IL">
              <a:solidFill>
                <a:srgbClr val="FF0000"/>
              </a:solidFill>
            </a:endParaRP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1C79D7C-A4B1-A49B-2F00-602FD6F6201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/>
            <a:r>
              <a:rPr lang="en-US" dirty="0"/>
              <a:t>Balancing tags using SMOTE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A655F11-6A96-51FC-2C00-6B76CDCD0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7" y="1447609"/>
            <a:ext cx="3666008" cy="2164622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730F4DB8-B326-7DB4-D10F-17F42DE00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3" y="3763552"/>
            <a:ext cx="11430077" cy="176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746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BB87E-B997-3D73-159C-626733310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2DB80FB-9AAE-2BEA-62B5-7B7370733C6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/>
              <a:t>Balancing tags using SMOTE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E3B522CA-6FAF-6E38-E604-25C0196EF70B}"/>
              </a:ext>
            </a:extLst>
          </p:cNvPr>
          <p:cNvSpPr txBox="1"/>
          <p:nvPr/>
        </p:nvSpPr>
        <p:spPr>
          <a:xfrm>
            <a:off x="953262" y="1529614"/>
            <a:ext cx="6425946" cy="276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imblearn.pipeline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Pipeline</a:t>
            </a: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imblearn.over_sampling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SMOTE</a:t>
            </a: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pipeline = Pipeline([</a:t>
            </a: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‘SMOTE'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SMOTE(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)),</a:t>
            </a:r>
          </a:p>
          <a:p>
            <a:pPr>
              <a:lnSpc>
                <a:spcPts val="1875"/>
              </a:lnSpc>
            </a:pPr>
            <a:r>
              <a:rPr lang="en-US" dirty="0">
                <a:latin typeface="Courier New" panose="02070309020205020404" pitchFamily="49" charset="0"/>
              </a:rPr>
              <a:t>    (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'scaler'</a:t>
            </a:r>
            <a:r>
              <a:rPr lang="en-US" dirty="0">
                <a:latin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</a:rPr>
              <a:t>MinMaxScaler</a:t>
            </a:r>
            <a:r>
              <a:rPr lang="en-US" dirty="0">
                <a:latin typeface="Courier New" panose="02070309020205020404" pitchFamily="49" charset="0"/>
              </a:rPr>
              <a:t>()),</a:t>
            </a: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knn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KNeighborsClassifier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()),</a:t>
            </a: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187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param_grid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</a:t>
            </a:r>
          </a:p>
          <a:p>
            <a:pPr>
              <a:lnSpc>
                <a:spcPts val="187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knn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n_neighbors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[x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)],</a:t>
            </a:r>
          </a:p>
          <a:p>
            <a:pPr>
              <a:lnSpc>
                <a:spcPts val="187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CD60ED17-A121-F2EE-6DC6-BB45ECA24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438" y="1529614"/>
            <a:ext cx="35433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93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842CC-3CCD-35A4-7CA1-2578EC37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E8D4117-A58F-6959-C07D-487843DB62D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/>
              <a:t>Balancing tags using SMOTE</a:t>
            </a: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6C905A3E-21B5-21C1-3A9A-66E2740467ED}"/>
              </a:ext>
            </a:extLst>
          </p:cNvPr>
          <p:cNvSpPr txBox="1"/>
          <p:nvPr/>
        </p:nvSpPr>
        <p:spPr>
          <a:xfrm>
            <a:off x="953262" y="1741487"/>
            <a:ext cx="8748522" cy="179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sklearn.model_selection </a:t>
            </a: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GridSearchCV</a:t>
            </a:r>
          </a:p>
          <a:p>
            <a:pPr>
              <a:lnSpc>
                <a:spcPts val="187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GridSearchCV with F1 score (good for imbalanced data)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 = GridSearchCV(pipeline, param_grid, scoring=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'f1'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cv=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n_jobs=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-1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7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Fit grid search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75"/>
              </a:lnSpc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grid.fit(X_train, y_train)</a:t>
            </a: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645A47D6-5394-68F4-BC6B-411F3BEB3FEA}"/>
              </a:ext>
            </a:extLst>
          </p:cNvPr>
          <p:cNvSpPr txBox="1"/>
          <p:nvPr/>
        </p:nvSpPr>
        <p:spPr>
          <a:xfrm>
            <a:off x="953262" y="3979945"/>
            <a:ext cx="6096000" cy="81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Best parameters and best CV score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"Best parameters:"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grid.best_params_)</a:t>
            </a:r>
          </a:p>
          <a:p>
            <a:pPr>
              <a:lnSpc>
                <a:spcPts val="1875"/>
              </a:lnSpc>
            </a:pPr>
            <a:r>
              <a:rPr lang="en-US" b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"Best CV F1 score:"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grid.best_score_)</a:t>
            </a:r>
          </a:p>
        </p:txBody>
      </p:sp>
    </p:spTree>
    <p:extLst>
      <p:ext uri="{BB962C8B-B14F-4D97-AF65-F5344CB8AC3E}">
        <p14:creationId xmlns:p14="http://schemas.microsoft.com/office/powerpoint/2010/main" val="4073489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BCFAF-00E5-B4E0-1A4E-488A7EC27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48BCBC4-D8EE-524F-204B-8E23F0BF8DB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/>
              <a:t>Balancing tags using SMOTE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DFCC03F2-7F76-6CA6-4DAD-09CF47C04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2" y="1634490"/>
            <a:ext cx="4945380" cy="4121150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0AEE7826-7CBC-508E-E6A5-268FCAA42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711" y="1741487"/>
            <a:ext cx="5993722" cy="219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65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37043-EEC5-3114-0DA0-A8C049E04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AD95D981-B260-427C-DD02-82BB2B1AB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005" y="3136392"/>
            <a:ext cx="11430077" cy="2610260"/>
          </a:xfrm>
        </p:spPr>
        <p:txBody>
          <a:bodyPr/>
          <a:lstStyle/>
          <a:p>
            <a:r>
              <a:rPr lang="he-IL"/>
              <a:t>מומלץ לשנות </a:t>
            </a:r>
            <a:r>
              <a:rPr lang="en-US">
                <a:solidFill>
                  <a:srgbClr val="FF0000"/>
                </a:solidFill>
              </a:rPr>
              <a:t>stratify = y</a:t>
            </a:r>
            <a:endParaRPr lang="he-IL">
              <a:solidFill>
                <a:srgbClr val="FF0000"/>
              </a:solidFill>
            </a:endParaRP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D26C232-D71D-3AE2-5037-A4802D05214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/>
            <a:r>
              <a:rPr lang="en-US" dirty="0"/>
              <a:t>Balancing tags using Under Sampling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09593A14-528D-CA72-9132-215284DB2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7" y="1447609"/>
            <a:ext cx="3666008" cy="2164622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83E52CD-8D64-DB9A-6DFC-0543A0172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3" y="3763552"/>
            <a:ext cx="11430077" cy="176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577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B8453-AF03-1E5D-7096-421AA10C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320C2C3-5CEB-232E-03A0-8F2E542D4D8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/>
              <a:t>Balancing tags using Under Sampling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E5C070CB-E8BE-08B1-A81F-A2BEE3BEE92B}"/>
              </a:ext>
            </a:extLst>
          </p:cNvPr>
          <p:cNvSpPr txBox="1"/>
          <p:nvPr/>
        </p:nvSpPr>
        <p:spPr>
          <a:xfrm>
            <a:off x="953262" y="1529614"/>
            <a:ext cx="6425946" cy="300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imblearn.pipeline </a:t>
            </a: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Pipeline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imblearn.under_sampling </a:t>
            </a: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RandomUnderSampler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pipeline = Pipeline([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'under'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RandomUnderSampler(random_state=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)),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'scaler'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MinMaxScaler()),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'knn'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KNeighborsClassifier())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187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param_grid = {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'knn__n_neighbors'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[x </a:t>
            </a: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 </a:t>
            </a:r>
            <a:r>
              <a:rPr lang="en-US" b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51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)],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CCCF4A22-219C-F810-45FE-99CD8A2F7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3666" y="1920759"/>
            <a:ext cx="3296110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948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06526-991C-ECC2-CE34-96DBD255E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BEDD428-3754-65F9-2077-C227DADE5ED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/>
              <a:t>Balancing </a:t>
            </a:r>
            <a:r>
              <a:rPr lang="en-US"/>
              <a:t>tags using Under Sampling</a:t>
            </a:r>
            <a:endParaRPr lang="en-US" dirty="0"/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039AE218-733B-8F68-42D9-4B05BEB433BF}"/>
              </a:ext>
            </a:extLst>
          </p:cNvPr>
          <p:cNvSpPr txBox="1"/>
          <p:nvPr/>
        </p:nvSpPr>
        <p:spPr>
          <a:xfrm>
            <a:off x="953262" y="1741487"/>
            <a:ext cx="8748522" cy="179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sklearn.model_selection </a:t>
            </a: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GridSearchCV</a:t>
            </a:r>
          </a:p>
          <a:p>
            <a:pPr>
              <a:lnSpc>
                <a:spcPts val="187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GridSearchCV with F1 score (good for imbalanced data)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 = GridSearchCV(pipeline, param_grid, scoring=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'f1'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cv=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n_jobs=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-1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7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Fit grid search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75"/>
              </a:lnSpc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grid.fit(X_train, y_train)</a:t>
            </a: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DB030E46-510B-3C98-67BF-BB4D1CEDFE6B}"/>
              </a:ext>
            </a:extLst>
          </p:cNvPr>
          <p:cNvSpPr txBox="1"/>
          <p:nvPr/>
        </p:nvSpPr>
        <p:spPr>
          <a:xfrm>
            <a:off x="953262" y="3979945"/>
            <a:ext cx="6096000" cy="81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Best parameters and best CV score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"Best parameters:"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grid.best_params_)</a:t>
            </a:r>
          </a:p>
          <a:p>
            <a:pPr>
              <a:lnSpc>
                <a:spcPts val="1875"/>
              </a:lnSpc>
            </a:pPr>
            <a:r>
              <a:rPr lang="en-US" b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"Best CV F1 score:"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grid.best_score_)</a:t>
            </a:r>
          </a:p>
        </p:txBody>
      </p:sp>
    </p:spTree>
    <p:extLst>
      <p:ext uri="{BB962C8B-B14F-4D97-AF65-F5344CB8AC3E}">
        <p14:creationId xmlns:p14="http://schemas.microsoft.com/office/powerpoint/2010/main" val="2313249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F088A-D5ED-23A8-E3D7-6AE84E41F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3D8D0B0A-F9D2-D10D-DEAB-2C660E0E6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005" y="3136392"/>
            <a:ext cx="11430077" cy="2610260"/>
          </a:xfrm>
        </p:spPr>
        <p:txBody>
          <a:bodyPr/>
          <a:lstStyle/>
          <a:p>
            <a:r>
              <a:rPr lang="he-IL"/>
              <a:t>מומלץ לשנות </a:t>
            </a:r>
            <a:r>
              <a:rPr lang="en-US">
                <a:solidFill>
                  <a:srgbClr val="FF0000"/>
                </a:solidFill>
              </a:rPr>
              <a:t>stratify = y</a:t>
            </a:r>
            <a:endParaRPr lang="he-IL">
              <a:solidFill>
                <a:srgbClr val="FF0000"/>
              </a:solidFill>
            </a:endParaRP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24B24AE-808E-0D26-3D45-F15D6F65F85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/>
            <a:r>
              <a:rPr lang="en-US" dirty="0"/>
              <a:t>Balancing tags </a:t>
            </a:r>
            <a:r>
              <a:rPr lang="en-US"/>
              <a:t>using Over </a:t>
            </a:r>
            <a:r>
              <a:rPr lang="en-US" dirty="0"/>
              <a:t>Sampling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AF1024A1-A53F-EA15-7E42-C71CE9D1F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7" y="1447609"/>
            <a:ext cx="3666008" cy="2164622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31E156F4-2015-FF24-9703-01B11E33E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3" y="3763552"/>
            <a:ext cx="11430077" cy="176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86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F4710-E885-9F74-F05D-ED078BD59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F0E986B-5A29-DF97-FE19-A748C56CB0C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/>
              <a:t>Balancing tags using Over Sampling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833041D0-EF18-F03F-D843-806821A479D9}"/>
              </a:ext>
            </a:extLst>
          </p:cNvPr>
          <p:cNvSpPr txBox="1"/>
          <p:nvPr/>
        </p:nvSpPr>
        <p:spPr>
          <a:xfrm>
            <a:off x="953262" y="1529614"/>
            <a:ext cx="6425946" cy="300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imblearn.pipeline </a:t>
            </a: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Pipeline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imblearn.over_sampling </a:t>
            </a: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RandomOverSampler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pipeline = Pipeline([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'over'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RandomOverSampler(random_state=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)),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'scaler'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MinMaxScaler()),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(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'knn'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KNeighborsClassifier())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ts val="187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param_grid = {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'knn__n_neighbors'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[x </a:t>
            </a: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 </a:t>
            </a:r>
            <a:r>
              <a:rPr lang="en-US" b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51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)],</a:t>
            </a: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9F235721-4C59-7AF3-5B9A-8F5007F22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821" y="1741487"/>
            <a:ext cx="3258005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961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57BF0-08E9-6CA1-16EB-51B3E002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07A7B93-1162-214B-E228-8C1ECBF926A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/>
              <a:t>Balancing tags using Over Sampling</a:t>
            </a: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D4F2986D-7725-1605-8CFB-3E457298F1BD}"/>
              </a:ext>
            </a:extLst>
          </p:cNvPr>
          <p:cNvSpPr txBox="1"/>
          <p:nvPr/>
        </p:nvSpPr>
        <p:spPr>
          <a:xfrm>
            <a:off x="953262" y="1741487"/>
            <a:ext cx="8748522" cy="179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sklearn.model_selection </a:t>
            </a:r>
            <a:r>
              <a:rPr lang="en-US" b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GridSearchCV</a:t>
            </a:r>
          </a:p>
          <a:p>
            <a:pPr>
              <a:lnSpc>
                <a:spcPts val="187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GridSearchCV with F1 score (good for imbalanced data)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 = GridSearchCV(pipeline, param_grid, scoring=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'f1'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cv=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n_jobs=</a:t>
            </a:r>
            <a:r>
              <a:rPr lang="en-US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-1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875"/>
              </a:lnSpc>
              <a:buNone/>
            </a:pPr>
            <a:b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Fit grid search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75"/>
              </a:lnSpc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grid.fit(X_train, y_train)</a:t>
            </a: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FFE202BC-77A2-A4B7-7021-4C3397888631}"/>
              </a:ext>
            </a:extLst>
          </p:cNvPr>
          <p:cNvSpPr txBox="1"/>
          <p:nvPr/>
        </p:nvSpPr>
        <p:spPr>
          <a:xfrm>
            <a:off x="953262" y="3979945"/>
            <a:ext cx="6096000" cy="81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Best parameters and best CV score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875"/>
              </a:lnSpc>
              <a:buNone/>
            </a:pPr>
            <a:r>
              <a:rPr lang="en-US" b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"Best parameters:"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grid.best_params_)</a:t>
            </a:r>
          </a:p>
          <a:p>
            <a:pPr>
              <a:lnSpc>
                <a:spcPts val="1875"/>
              </a:lnSpc>
            </a:pPr>
            <a:r>
              <a:rPr lang="en-US" b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"Best CV F1 score:"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grid.best_score_)</a:t>
            </a:r>
          </a:p>
        </p:txBody>
      </p:sp>
    </p:spTree>
    <p:extLst>
      <p:ext uri="{BB962C8B-B14F-4D97-AF65-F5344CB8AC3E}">
        <p14:creationId xmlns:p14="http://schemas.microsoft.com/office/powerpoint/2010/main" val="1771669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14B3BE-7A50-4134-A4C3-79B8B0946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SMOTE notebook </a:t>
            </a:r>
            <a:r>
              <a:rPr lang="en-US">
                <a:hlinkClick r:id="rId2"/>
              </a:rPr>
              <a:t>here</a:t>
            </a:r>
            <a:endParaRPr lang="en-US"/>
          </a:p>
          <a:p>
            <a:pPr algn="l" rtl="0"/>
            <a:r>
              <a:rPr lang="en-US"/>
              <a:t>UnderSampling notebook </a:t>
            </a:r>
            <a:r>
              <a:rPr lang="en-US">
                <a:hlinkClick r:id="rId3"/>
              </a:rPr>
              <a:t>here</a:t>
            </a:r>
            <a:endParaRPr lang="en-US"/>
          </a:p>
          <a:p>
            <a:pPr algn="l" rtl="0"/>
            <a:r>
              <a:rPr lang="en-US"/>
              <a:t>OverSampling notebook </a:t>
            </a:r>
            <a:r>
              <a:rPr lang="en-US">
                <a:hlinkClick r:id="rId4"/>
              </a:rPr>
              <a:t>here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B4A4D-46B4-4DFD-A0FD-ABF37ACDA4B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הדגמות </a:t>
            </a:r>
            <a:r>
              <a:rPr lang="en-US"/>
              <a:t>Balancing tags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6049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/>
              <a:t>תודה על ההשתתפות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844</Words>
  <Application>Microsoft Office PowerPoint</Application>
  <PresentationFormat>מסך רחב</PresentationFormat>
  <Paragraphs>104</Paragraphs>
  <Slides>20</Slides>
  <Notes>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Tahoma</vt:lpstr>
      <vt:lpstr>TECHNION_Op3_General_Heb</vt:lpstr>
      <vt:lpstr>Balancing tags using sampling methods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תודה על ההשתתפות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השתלמות ניתוח נתונים ולמידת מכונה</dc:title>
  <dc:creator>Jacob Mike</dc:creator>
  <cp:lastModifiedBy>אריאל דוד בר יצחק</cp:lastModifiedBy>
  <cp:revision>72</cp:revision>
  <dcterms:created xsi:type="dcterms:W3CDTF">2019-03-02T07:56:19Z</dcterms:created>
  <dcterms:modified xsi:type="dcterms:W3CDTF">2026-05-03T10:09:21Z</dcterms:modified>
</cp:coreProperties>
</file>