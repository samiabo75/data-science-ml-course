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9" r:id="rId3"/>
    <p:sldId id="260" r:id="rId4"/>
    <p:sldId id="334" r:id="rId5"/>
    <p:sldId id="335" r:id="rId6"/>
    <p:sldId id="33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39" r:id="rId18"/>
    <p:sldId id="272" r:id="rId19"/>
    <p:sldId id="273" r:id="rId20"/>
    <p:sldId id="275" r:id="rId21"/>
    <p:sldId id="276" r:id="rId22"/>
    <p:sldId id="277" r:id="rId23"/>
    <p:sldId id="287" r:id="rId24"/>
    <p:sldId id="279" r:id="rId25"/>
    <p:sldId id="336" r:id="rId26"/>
    <p:sldId id="281" r:id="rId27"/>
    <p:sldId id="280" r:id="rId28"/>
    <p:sldId id="337" r:id="rId29"/>
    <p:sldId id="282" r:id="rId30"/>
    <p:sldId id="288" r:id="rId31"/>
    <p:sldId id="286" r:id="rId32"/>
  </p:sldIdLst>
  <p:sldSz cx="12192000" cy="6858000"/>
  <p:notesSz cx="6858000" cy="9144000"/>
  <p:embeddedFontLst>
    <p:embeddedFont>
      <p:font typeface="Roboto" panose="02000000000000000000" pitchFamily="2" charset="0"/>
      <p:regular r:id="rId34"/>
      <p:bold r:id="rId35"/>
    </p:embeddedFont>
    <p:embeddedFont>
      <p:font typeface="Tahoma" panose="020B0604030504040204" pitchFamily="3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p15="http://schemas.microsoft.com/office/powerpoint/2012/main" xmlns:go="http://customooxmlschemas.google.com/" roundtripDataSignature="AMtx7mhO2DHCg4HxrwJwgYUZqvKRj9xbFA==" r:id="rId41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אריאל בר-יצחק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526" autoAdjust="0"/>
  </p:normalViewPr>
  <p:slideViewPr>
    <p:cSldViewPr snapToGrid="0">
      <p:cViewPr varScale="1">
        <p:scale>
          <a:sx n="111" d="100"/>
          <a:sy n="111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46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7-08T07:19:20.750" idx="1">
    <p:pos x="7670" y="10"/>
    <p:text/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p15="http://schemas.microsoft.com/office/powerpoint/2012/main" xmlns:go="http://customooxmlschemas.google.com/" commentPostId="AAAANbHlPAU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e4ee06d2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e4ee06d2f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ge4ee06d2f7_0_0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w-IL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e4ee06d2f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e4ee06d2f7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ge4ee06d2f7_0_8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w-IL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747B1092-06C2-B580-F004-2E8671F4E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>
            <a:extLst>
              <a:ext uri="{FF2B5EF4-FFF2-40B4-BE49-F238E27FC236}">
                <a16:creationId xmlns:a16="http://schemas.microsoft.com/office/drawing/2014/main" id="{4A33236A-88B9-53B5-92CD-AA2ADDE30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14:notes">
            <a:extLst>
              <a:ext uri="{FF2B5EF4-FFF2-40B4-BE49-F238E27FC236}">
                <a16:creationId xmlns:a16="http://schemas.microsoft.com/office/drawing/2014/main" id="{A7741DCB-7987-B860-12C2-90146C6509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1003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00587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e40c617db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e40c617dbe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ge40c617dbe_0_5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w-IL"/>
              <a:t>26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e40c617db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e40c617dbe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ge40c617dbe_0_5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w-IL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49951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e40c617db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e40c617d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50" name="Google Shape;25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0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2_כותרת ותוכן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1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כותרת ותוכן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2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ותוכן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1258614" y="3552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1258614" y="184289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>
  <p:cSld name="שני תכנים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4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5668107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609570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e.wikipedia.org/wiki/%D7%A1%D7%95%D7%9C%D7%9D_%D7%9E%D7%93%D7%99%D7%93%D7%9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atplotlib.org/" TargetMode="Externa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eaborn.pydata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understanding-boxplots-5e2df7bcbd5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tutorial/color_palettes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atplotlib.org/stable/users/explain/colors/colormaps.html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-ZAZ8mEUBGyWfcwUA629MTPqwFTq9lY?usp=drive_link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tjp0OCl5dcnVz-ZGvALslJZBkD9xKgQW?usp=sharing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born.pydata.org/api.html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IudLrV5T1rxEBkAkml66BbMyGKilVOEd?usp=drive_link" TargetMode="Externa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en-US"/>
              <a:t>Visualization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e4ee06d2f7_0_0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00" cy="3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iw-IL"/>
              <a:t>משתנה בדיד: יכול לקבל ערכים בודדים בתוך טווח.</a:t>
            </a:r>
            <a:endParaRPr/>
          </a:p>
          <a:p>
            <a:pPr marL="914400" lvl="1" indent="-3810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-IL"/>
              <a:t>יום בשבוע</a:t>
            </a:r>
            <a:endParaRPr/>
          </a:p>
          <a:p>
            <a:pPr marL="914400" lvl="1" indent="-3810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-IL"/>
              <a:t>מס</a:t>
            </a:r>
            <a:r>
              <a:rPr lang="he-IL"/>
              <a:t>פר</a:t>
            </a:r>
            <a:r>
              <a:rPr lang="iw-IL"/>
              <a:t> ילדים במשפחה</a:t>
            </a:r>
            <a:endParaRPr/>
          </a:p>
          <a:p>
            <a:pPr marL="457200" lvl="0" indent="-4064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w-IL"/>
              <a:t>משתנה רציף: יכול לקבל כל ערך בין שני ערכים נתונים.</a:t>
            </a:r>
            <a:endParaRPr/>
          </a:p>
          <a:p>
            <a:pPr marL="914400" lvl="1" indent="-3810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-IL"/>
              <a:t>משקל</a:t>
            </a:r>
            <a:endParaRPr/>
          </a:p>
          <a:p>
            <a:pPr marL="914400" lvl="1" indent="-3810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-IL"/>
              <a:t>כמות משקעים </a:t>
            </a:r>
            <a:endParaRPr/>
          </a:p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71" name="Google Shape;71;ge4ee06d2f7_0_0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00" cy="1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iw-IL"/>
              <a:t>סוגי משתנים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e4ee06d2f7_0_8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00" cy="3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iw-IL" dirty="0"/>
              <a:t>שמי - הערכים הם שמות של קטגוריות</a:t>
            </a:r>
            <a:endParaRPr dirty="0"/>
          </a:p>
          <a:p>
            <a:pPr marL="914400" lvl="1" indent="-3810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-IL" dirty="0"/>
              <a:t>דוגמה: מגדר, עיר</a:t>
            </a:r>
            <a:endParaRPr dirty="0"/>
          </a:p>
          <a:p>
            <a:pPr marL="457200" lvl="0" indent="-4064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w-IL" dirty="0"/>
              <a:t>סדר - יש משמעות לסדר </a:t>
            </a:r>
            <a:r>
              <a:rPr lang="he-IL" dirty="0"/>
              <a:t>השמות</a:t>
            </a:r>
            <a:r>
              <a:rPr lang="iw-IL" dirty="0"/>
              <a:t>, אך אין משמעות למרווחים</a:t>
            </a:r>
            <a:endParaRPr dirty="0"/>
          </a:p>
          <a:p>
            <a:pPr marL="914400" lvl="1" indent="-3810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-IL" dirty="0"/>
              <a:t>דוגמה: דרגות בצבא, השכלה</a:t>
            </a:r>
            <a:endParaRPr dirty="0"/>
          </a:p>
          <a:p>
            <a:pPr marL="457200" lvl="0" indent="-4064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w-IL" dirty="0"/>
              <a:t>רווח - יש משמעות למרווחים, אך אין משמעות ליחסים</a:t>
            </a:r>
            <a:endParaRPr dirty="0"/>
          </a:p>
          <a:p>
            <a:pPr marL="914400" lvl="1" indent="-3810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-IL" dirty="0"/>
              <a:t>דוגמה: טמפרטורה במעלות Celsius</a:t>
            </a:r>
            <a:endParaRPr dirty="0"/>
          </a:p>
          <a:p>
            <a:pPr marL="457200" lvl="0" indent="-4064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w-IL" dirty="0"/>
              <a:t>מנה - יש משמעות ליחסים</a:t>
            </a:r>
            <a:endParaRPr dirty="0"/>
          </a:p>
          <a:p>
            <a:pPr marL="914400" lvl="1" indent="-3810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iw-IL" dirty="0"/>
              <a:t>דוגמה: משקל, טמפרטורה במעלות Kelvin</a:t>
            </a:r>
            <a:endParaRPr dirty="0"/>
          </a:p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 dirty="0"/>
              <a:t>פירוט ודוגמאות נוספות </a:t>
            </a:r>
            <a:r>
              <a:rPr lang="iw-IL" u="sng" dirty="0">
                <a:solidFill>
                  <a:schemeClr val="hlink"/>
                </a:solidFill>
                <a:hlinkClick r:id="rId3"/>
              </a:rPr>
              <a:t>כאן</a:t>
            </a:r>
            <a:r>
              <a:rPr lang="iw-IL" dirty="0"/>
              <a:t> </a:t>
            </a:r>
            <a:endParaRPr dirty="0"/>
          </a:p>
        </p:txBody>
      </p:sp>
      <p:sp>
        <p:nvSpPr>
          <p:cNvPr id="78" name="Google Shape;78;ge4ee06d2f7_0_8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00" cy="1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iw-IL"/>
              <a:t>סולמות מדידה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805D7B-1425-72E6-B019-DB13B1F88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ממוצע (</a:t>
            </a:r>
            <a:r>
              <a:rPr lang="en-US" dirty="0"/>
              <a:t>mean</a:t>
            </a:r>
            <a:r>
              <a:rPr lang="he-IL" dirty="0"/>
              <a:t>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חציון (</a:t>
            </a:r>
            <a:r>
              <a:rPr lang="en-US" dirty="0"/>
              <a:t>median</a:t>
            </a:r>
            <a:r>
              <a:rPr lang="he-IL" dirty="0"/>
              <a:t>)</a:t>
            </a:r>
            <a:endParaRPr lang="en-US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שכיח (</a:t>
            </a:r>
            <a:r>
              <a:rPr lang="en-US" dirty="0"/>
              <a:t>mode</a:t>
            </a:r>
            <a:r>
              <a:rPr lang="he-IL" dirty="0"/>
              <a:t>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9E9D9-2863-0B08-44C8-25E3F6BF42C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 dirty="0"/>
              <a:t>מדדי מרכוז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E946E-E016-68A1-A573-1B74E7333949}"/>
              </a:ext>
            </a:extLst>
          </p:cNvPr>
          <p:cNvSpPr txBox="1"/>
          <p:nvPr/>
        </p:nvSpPr>
        <p:spPr>
          <a:xfrm>
            <a:off x="6229350" y="6096036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https://ledidi.com/academy/measures-of-central-tendency-mean-median-and-mode</a:t>
            </a:r>
            <a:endParaRPr lang="en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1C0C6D8-12E6-4F63-87FE-10A206D02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228031"/>
            <a:ext cx="71628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0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0A8D4-8A2D-397D-77BD-1C973DEED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שונות </a:t>
            </a:r>
            <a:r>
              <a:rPr lang="he-IL" dirty="0"/>
              <a:t>(</a:t>
            </a:r>
            <a:r>
              <a:rPr lang="en-US" dirty="0"/>
              <a:t>variance</a:t>
            </a:r>
            <a:r>
              <a:rPr lang="he-IL" dirty="0"/>
              <a:t>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סטיית תקן (</a:t>
            </a:r>
            <a:r>
              <a:rPr lang="en-US" dirty="0"/>
              <a:t>standard deviation</a:t>
            </a:r>
            <a:r>
              <a:rPr lang="he-IL"/>
              <a:t>)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93A76-CEA0-B3D9-13DB-D1B32613E4A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/>
              <a:t>התפלגות נורמלית</a:t>
            </a:r>
          </a:p>
          <a:p>
            <a:r>
              <a:rPr lang="he-IL"/>
              <a:t>ומדדי </a:t>
            </a:r>
            <a:r>
              <a:rPr lang="he-IL" dirty="0"/>
              <a:t>פיזור</a:t>
            </a:r>
            <a:endParaRPr lang="en-IL" dirty="0"/>
          </a:p>
        </p:txBody>
      </p:sp>
      <p:pic>
        <p:nvPicPr>
          <p:cNvPr id="4098" name="Picture 2" descr="Standard deviation - Wikipedia">
            <a:extLst>
              <a:ext uri="{FF2B5EF4-FFF2-40B4-BE49-F238E27FC236}">
                <a16:creationId xmlns:a16="http://schemas.microsoft.com/office/drawing/2014/main" id="{E84508CA-D98E-C9C3-EEB2-FEC6748F9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3429000"/>
            <a:ext cx="4687824" cy="234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0CC45D-4950-21D0-FB50-386F6905CB08}"/>
              </a:ext>
            </a:extLst>
          </p:cNvPr>
          <p:cNvSpPr txBox="1"/>
          <p:nvPr/>
        </p:nvSpPr>
        <p:spPr>
          <a:xfrm>
            <a:off x="6096000" y="6059460"/>
            <a:ext cx="5058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https://www.strictlybythenumbers.com/bias-vs-variance </a:t>
            </a:r>
            <a:r>
              <a:rPr lang="en-IL" dirty="0"/>
              <a:t>https://en.wikipedia.org/wiki/Standard_deviation</a:t>
            </a:r>
          </a:p>
        </p:txBody>
      </p:sp>
      <p:pic>
        <p:nvPicPr>
          <p:cNvPr id="4100" name="Picture 4" descr="Bias-Variance Tradeoff">
            <a:extLst>
              <a:ext uri="{FF2B5EF4-FFF2-40B4-BE49-F238E27FC236}">
                <a16:creationId xmlns:a16="http://schemas.microsoft.com/office/drawing/2014/main" id="{90D1D123-DEB0-51C8-51D7-74205B2A0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122" y="354873"/>
            <a:ext cx="3546061" cy="277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71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186C00D-A938-4FCB-B1F3-E7753725314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נוסחאות ממוצע (</a:t>
            </a:r>
            <a:r>
              <a:rPr lang="en-US" dirty="0"/>
              <a:t>Mean</a:t>
            </a:r>
            <a:r>
              <a:rPr lang="he-IL" dirty="0"/>
              <a:t>), שונות (</a:t>
            </a:r>
            <a:r>
              <a:rPr lang="en-US" dirty="0"/>
              <a:t>Var</a:t>
            </a:r>
            <a:r>
              <a:rPr lang="he-IL" dirty="0"/>
              <a:t>) וסטיית תקן (</a:t>
            </a:r>
            <a:r>
              <a:rPr lang="en-US" dirty="0"/>
              <a:t>Std</a:t>
            </a:r>
            <a:r>
              <a:rPr lang="he-IL" dirty="0"/>
              <a:t>).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9E7C4D3B-FE39-4876-AF69-F94B66224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2262187"/>
            <a:ext cx="9124950" cy="3133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4D2FD1-6089-4DE2-84BD-035EC036D055}"/>
              </a:ext>
            </a:extLst>
          </p:cNvPr>
          <p:cNvSpPr txBox="1"/>
          <p:nvPr/>
        </p:nvSpPr>
        <p:spPr>
          <a:xfrm>
            <a:off x="6096000" y="6059460"/>
            <a:ext cx="5058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https://www.geeksforgeeks.org/maths/mathematics-mean-variance-and-standard-deviation/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717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ויזואליזציה עם ספריות </a:t>
            </a:r>
            <a:br>
              <a:rPr lang="iw-IL"/>
            </a:br>
            <a:r>
              <a:rPr lang="iw-IL"/>
              <a:t>Seaborn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כיצד להמחיש נתונים על ידי גרפים</a:t>
            </a:r>
            <a:endParaRPr/>
          </a:p>
          <a:p>
            <a:pPr marL="4572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כיצד להציג גרפים באמצעות הספרייה seaborn</a:t>
            </a:r>
            <a:endParaRPr/>
          </a:p>
          <a:p>
            <a:pPr marL="4572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iw-IL"/>
              <a:t>כיצד לנתח גרפים ולהסיק מהם מסקנות</a:t>
            </a:r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בשיעור זה נלמד: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>
            <a:off x="0" y="1170499"/>
            <a:ext cx="2776970" cy="5536619"/>
            <a:chOff x="11386" y="1219198"/>
            <a:chExt cx="2776970" cy="5536619"/>
          </a:xfrm>
        </p:grpSpPr>
        <p:pic>
          <p:nvPicPr>
            <p:cNvPr id="101" name="Google Shape;101;p7" descr="Image result for data science workflow"/>
            <p:cNvPicPr preferRelativeResize="0"/>
            <p:nvPr/>
          </p:nvPicPr>
          <p:blipFill rotWithShape="1">
            <a:blip r:embed="rId3">
              <a:alphaModFix/>
            </a:blip>
            <a:srcRect l="13009" r="46557" b="7070"/>
            <a:stretch/>
          </p:blipFill>
          <p:spPr>
            <a:xfrm>
              <a:off x="101697" y="1219198"/>
              <a:ext cx="2551192" cy="5536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7"/>
            <p:cNvSpPr/>
            <p:nvPr/>
          </p:nvSpPr>
          <p:spPr>
            <a:xfrm>
              <a:off x="2223911" y="2262294"/>
              <a:ext cx="564445" cy="328055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>
              <a:off x="11386" y="2262293"/>
              <a:ext cx="564445" cy="337650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11386" y="1605351"/>
              <a:ext cx="398843" cy="445678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17422" y="2522185"/>
              <a:ext cx="135467" cy="328055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7"/>
          <p:cNvSpPr txBox="1">
            <a:spLocks noGrp="1"/>
          </p:cNvSpPr>
          <p:nvPr>
            <p:ph type="title"/>
          </p:nvPr>
        </p:nvSpPr>
        <p:spPr>
          <a:xfrm>
            <a:off x="90311" y="355224"/>
            <a:ext cx="1168390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תזכורת – תהליך העבודה במדעי הנתונים</a:t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2855726" y="3616951"/>
            <a:ext cx="2133600" cy="6762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ספריית Seaborn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ויזואליזציה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778668" y="3515732"/>
            <a:ext cx="1278389" cy="878715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768534" y="5477870"/>
            <a:ext cx="1278389" cy="878715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ספרייה גרפית לשפת Python</a:t>
            </a:r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ספריית matplotlib</a:t>
            </a:r>
            <a:endParaRPr/>
          </a:p>
        </p:txBody>
      </p:sp>
      <p:pic>
        <p:nvPicPr>
          <p:cNvPr id="116" name="Google Shape;11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461" y="2171525"/>
            <a:ext cx="5220429" cy="12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5512" y="3513138"/>
            <a:ext cx="9760976" cy="191040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6392594" y="6015333"/>
            <a:ext cx="2341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w-IL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ספרייה גרפית ממוקדת בסטטיסטיקה</a:t>
            </a:r>
            <a:endParaRPr/>
          </a:p>
          <a:p>
            <a:pPr marL="4572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מבוססת על matplotlib</a:t>
            </a:r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ספריית seaborn</a:t>
            </a:r>
            <a:endParaRPr/>
          </a:p>
        </p:txBody>
      </p:sp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141939"/>
            <a:ext cx="12192000" cy="217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9"/>
          <p:cNvSpPr/>
          <p:nvPr/>
        </p:nvSpPr>
        <p:spPr>
          <a:xfrm>
            <a:off x="6931013" y="6043979"/>
            <a:ext cx="28229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w-IL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https://seaborn.pydata.org/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>
            <a:spLocks noGrp="1"/>
          </p:cNvSpPr>
          <p:nvPr>
            <p:ph type="body" idx="2"/>
          </p:nvPr>
        </p:nvSpPr>
        <p:spPr>
          <a:xfrm>
            <a:off x="351693" y="319969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ייבוא הספריות</a:t>
            </a:r>
            <a:endParaRPr/>
          </a:p>
        </p:txBody>
      </p:sp>
      <p:pic>
        <p:nvPicPr>
          <p:cNvPr id="132" name="Google Shape;13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4825" y="2833687"/>
            <a:ext cx="356235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>
            <a:spLocks noGrp="1"/>
          </p:cNvSpPr>
          <p:nvPr>
            <p:ph type="body" idx="1"/>
          </p:nvPr>
        </p:nvSpPr>
        <p:spPr>
          <a:xfrm>
            <a:off x="5036695" y="1825625"/>
            <a:ext cx="3261610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w-IL"/>
              <a:t>זוג משתנים</a:t>
            </a:r>
            <a:endParaRPr/>
          </a:p>
          <a:p>
            <a:pPr marL="4572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רציף ובדיד</a:t>
            </a:r>
            <a:endParaRPr/>
          </a:p>
          <a:p>
            <a:pPr marL="914400" lvl="1" indent="-4572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iw-IL"/>
              <a:t>Bar plot</a:t>
            </a:r>
            <a:endParaRPr lang="he-IL"/>
          </a:p>
          <a:p>
            <a:pPr marL="914400" lvl="1" indent="-4572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Hist plot</a:t>
            </a:r>
            <a:endParaRPr lang="he-IL"/>
          </a:p>
          <a:p>
            <a:pPr marL="914400" lvl="1" indent="-4572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iw-IL"/>
              <a:t>KDE plot</a:t>
            </a:r>
            <a:endParaRPr/>
          </a:p>
          <a:p>
            <a:pPr marL="914400" lvl="1" indent="-4572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iw-IL"/>
              <a:t>Box plot</a:t>
            </a:r>
            <a:endParaRPr/>
          </a:p>
          <a:p>
            <a:pPr marL="914400" lvl="1" indent="-4572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iw-IL"/>
              <a:t>Violin plot</a:t>
            </a:r>
            <a:endParaRPr lang="he-IL"/>
          </a:p>
          <a:p>
            <a:pPr marL="4572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שני רציפים</a:t>
            </a:r>
            <a:endParaRPr/>
          </a:p>
          <a:p>
            <a:pPr marL="914400" lvl="1" indent="-4572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iw-IL"/>
              <a:t>Scatter plot</a:t>
            </a:r>
            <a:endParaRPr/>
          </a:p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609570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w-IL"/>
              <a:t>משתנה יחיד </a:t>
            </a:r>
            <a:endParaRPr/>
          </a:p>
          <a:p>
            <a:pPr lvl="0" indent="-457200">
              <a:buFont typeface="Arial"/>
              <a:buChar char="•"/>
            </a:pPr>
            <a:r>
              <a:rPr lang="iw-IL"/>
              <a:t>רציף </a:t>
            </a:r>
          </a:p>
          <a:p>
            <a:pPr lvl="1" indent="-457200">
              <a:buFont typeface="Arial"/>
              <a:buChar char="•"/>
            </a:pPr>
            <a:r>
              <a:rPr lang="en-US"/>
              <a:t>Bar plot</a:t>
            </a:r>
          </a:p>
          <a:p>
            <a:pPr lvl="1" indent="-457200">
              <a:buFont typeface="Arial"/>
              <a:buChar char="•"/>
            </a:pPr>
            <a:r>
              <a:rPr lang="en-US"/>
              <a:t>Hist plot</a:t>
            </a:r>
          </a:p>
          <a:p>
            <a:pPr lvl="1" indent="-457200">
              <a:buFont typeface="Arial"/>
              <a:buChar char="•"/>
            </a:pPr>
            <a:r>
              <a:rPr lang="en-US"/>
              <a:t>KDE plot</a:t>
            </a:r>
          </a:p>
          <a:p>
            <a:pPr lvl="1" indent="-457200">
              <a:buFont typeface="Arial"/>
              <a:buChar char="•"/>
            </a:pPr>
            <a:r>
              <a:rPr lang="en-US"/>
              <a:t>Box plot</a:t>
            </a:r>
          </a:p>
          <a:p>
            <a:pPr lvl="1" indent="-457200">
              <a:buFont typeface="Arial"/>
              <a:buChar char="•"/>
            </a:pPr>
            <a:r>
              <a:rPr lang="en-US"/>
              <a:t>Violin plot</a:t>
            </a:r>
          </a:p>
          <a:p>
            <a:pPr marL="4572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בדיד</a:t>
            </a:r>
            <a:endParaRPr/>
          </a:p>
          <a:p>
            <a:pPr marL="914400" lvl="1" indent="-4572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iw-IL"/>
              <a:t>Count plot</a:t>
            </a:r>
            <a:endParaRPr lang="he-IL"/>
          </a:p>
          <a:p>
            <a:pPr lvl="1" indent="-457200">
              <a:buFont typeface="Arial"/>
              <a:buChar char="•"/>
            </a:pPr>
            <a:r>
              <a:rPr lang="en-US"/>
              <a:t>Pie plot</a:t>
            </a:r>
          </a:p>
          <a:p>
            <a:pPr marL="457200" lvl="1" indent="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</a:pPr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סוגי הגרפים שנלמד</a:t>
            </a:r>
            <a:endParaRPr/>
          </a:p>
        </p:txBody>
      </p:sp>
      <p:sp>
        <p:nvSpPr>
          <p:cNvPr id="140" name="Google Shape;140;p11"/>
          <p:cNvSpPr txBox="1"/>
          <p:nvPr/>
        </p:nvSpPr>
        <p:spPr>
          <a:xfrm>
            <a:off x="1336623" y="1840153"/>
            <a:ext cx="3261610" cy="1588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</a:pPr>
            <a:r>
              <a:rPr lang="iw-IL"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rPr>
              <a:t> משתנים רציפים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Char char="•"/>
            </a:pPr>
            <a:r>
              <a:rPr lang="iw-IL"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rPr>
              <a:t>Pairplot</a:t>
            </a:r>
            <a:endParaRPr sz="2800" b="0" i="0" u="none" strike="noStrike" cap="none">
              <a:solidFill>
                <a:srgbClr val="002147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1" indent="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214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E91A00A0-F227-3790-CEE6-1FEC4810972B}"/>
              </a:ext>
            </a:extLst>
          </p:cNvPr>
          <p:cNvSpPr txBox="1"/>
          <p:nvPr/>
        </p:nvSpPr>
        <p:spPr>
          <a:xfrm>
            <a:off x="909698" y="3527667"/>
            <a:ext cx="390776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b="1">
                <a:solidFill>
                  <a:srgbClr val="FF0000"/>
                </a:solidFill>
              </a:rPr>
              <a:t>הערה: ניתן להוסיף לגרפים משתנים בדידים נוספים. למעט </a:t>
            </a:r>
            <a:r>
              <a:rPr lang="en-US" b="1">
                <a:solidFill>
                  <a:srgbClr val="FF0000"/>
                </a:solidFill>
              </a:rPr>
              <a:t>Pie plot</a:t>
            </a:r>
            <a:r>
              <a:rPr lang="he-IL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body" idx="2"/>
          </p:nvPr>
        </p:nvSpPr>
        <p:spPr>
          <a:xfrm>
            <a:off x="351693" y="365125"/>
            <a:ext cx="11430078" cy="117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משתנה יחיד:בדיד</a:t>
            </a:r>
            <a:r>
              <a:rPr lang="he-IL" dirty="0"/>
              <a:t> - </a:t>
            </a:r>
            <a:r>
              <a:rPr lang="iw-IL" dirty="0"/>
              <a:t>Count plot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102C60E0-AA52-F09C-59AD-880F6347C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87" y="1470383"/>
            <a:ext cx="6583749" cy="51467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שני משתנים</a:t>
            </a:r>
            <a:r>
              <a:rPr lang="en-US" dirty="0"/>
              <a:t>:</a:t>
            </a:r>
            <a:r>
              <a:rPr lang="he-IL" dirty="0"/>
              <a:t>רציף + בדיד - </a:t>
            </a:r>
            <a:r>
              <a:rPr lang="en-US" dirty="0" err="1"/>
              <a:t>Barplot</a:t>
            </a:r>
            <a:endParaRPr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B242AE0E-3AEF-4B1F-00B9-E232F399D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25213"/>
            <a:ext cx="6477000" cy="42696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משתנה יחי</a:t>
            </a:r>
            <a:r>
              <a:rPr lang="he-IL" dirty="0"/>
              <a:t>ד: רציף - </a:t>
            </a:r>
            <a:r>
              <a:rPr lang="en-US" dirty="0"/>
              <a:t> </a:t>
            </a:r>
            <a:r>
              <a:rPr lang="en-US" dirty="0" err="1"/>
              <a:t>Histplot</a:t>
            </a:r>
            <a:endParaRPr dirty="0"/>
          </a:p>
        </p:txBody>
      </p:sp>
      <p:sp>
        <p:nvSpPr>
          <p:cNvPr id="158" name="Google Shape;158;p14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5668107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129" y="1410127"/>
            <a:ext cx="6040071" cy="4037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1B3E5010-A9EC-A605-F00E-CBB865E6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>
            <a:extLst>
              <a:ext uri="{FF2B5EF4-FFF2-40B4-BE49-F238E27FC236}">
                <a16:creationId xmlns:a16="http://schemas.microsoft.com/office/drawing/2014/main" id="{6230EF58-61C3-D0F8-DB41-7B266A65169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he-IL" dirty="0"/>
              <a:t>שני משתנים: </a:t>
            </a:r>
            <a:r>
              <a:rPr lang="he-IL" dirty="0" err="1"/>
              <a:t>רציף+בדיד</a:t>
            </a:r>
            <a:r>
              <a:rPr lang="he-IL" dirty="0"/>
              <a:t> - </a:t>
            </a:r>
            <a:r>
              <a:rPr lang="en-US" dirty="0"/>
              <a:t> </a:t>
            </a:r>
            <a:r>
              <a:rPr lang="en-US" dirty="0" err="1"/>
              <a:t>Histplot</a:t>
            </a:r>
            <a:endParaRPr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9E8D37AF-B2B0-852F-70F5-BCF407A4D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22" y="1531904"/>
            <a:ext cx="6602676" cy="436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5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שני משתני</a:t>
            </a:r>
            <a:r>
              <a:rPr lang="he-IL" dirty="0"/>
              <a:t>ם: רציף + בדיד - </a:t>
            </a:r>
            <a:r>
              <a:rPr lang="en-US" dirty="0" err="1"/>
              <a:t>KDEplot</a:t>
            </a:r>
            <a:endParaRPr dirty="0"/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871" y="1991691"/>
            <a:ext cx="6011914" cy="4232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Understanding Box plot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6096000" y="6046787"/>
            <a:ext cx="5054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w-IL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https://towardsdatascience.com/understanding-boxplots-5e2df7bcbd51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29" y="1564908"/>
            <a:ext cx="861060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שני משתנים</a:t>
            </a:r>
            <a:r>
              <a:rPr lang="he-IL" dirty="0"/>
              <a:t>: רציף + בדיד - </a:t>
            </a:r>
            <a:r>
              <a:rPr lang="en-US" dirty="0"/>
              <a:t>Boxplot</a:t>
            </a:r>
            <a:endParaRPr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9CDC45B-AFB1-35C5-8895-1BE76E27C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65" y="1447933"/>
            <a:ext cx="6470548" cy="43163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שני משתנים</a:t>
            </a:r>
            <a:r>
              <a:rPr lang="en-US" dirty="0"/>
              <a:t>:</a:t>
            </a:r>
            <a:r>
              <a:rPr lang="he-IL" dirty="0"/>
              <a:t> רציף + בדיד - </a:t>
            </a:r>
            <a:r>
              <a:rPr lang="en-US" dirty="0" err="1"/>
              <a:t>Violinplot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8118941" y="2226876"/>
            <a:ext cx="3903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w-I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Violinplot = boxplot + kdeplot</a:t>
            </a: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56DC74FB-4098-2CEE-EE5E-362354EE6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1478313"/>
            <a:ext cx="5919970" cy="41850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>
            <a:spLocks noGrp="1"/>
          </p:cNvSpPr>
          <p:nvPr>
            <p:ph type="body" idx="2"/>
          </p:nvPr>
        </p:nvSpPr>
        <p:spPr>
          <a:xfrm>
            <a:off x="351693" y="365125"/>
            <a:ext cx="11430078" cy="86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שני משתנים רציפים</a:t>
            </a:r>
            <a:r>
              <a:rPr lang="he-IL" dirty="0"/>
              <a:t> - </a:t>
            </a:r>
            <a:r>
              <a:rPr lang="iw-IL" dirty="0"/>
              <a:t>Scatter plot</a:t>
            </a:r>
            <a:endParaRPr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5939AC1-BB4F-7339-4B8C-45C299D47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441" y="1230595"/>
            <a:ext cx="6833254" cy="50979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שני משתנים רציפים</a:t>
            </a:r>
            <a:r>
              <a:rPr lang="he-IL" dirty="0"/>
              <a:t> ושני משתנים בדידים - </a:t>
            </a:r>
            <a:r>
              <a:rPr lang="iw-IL" dirty="0"/>
              <a:t>Scatter plot</a:t>
            </a:r>
            <a:endParaRPr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1606488-C95A-DB01-4E1B-40AEA0801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8010"/>
            <a:ext cx="8834215" cy="51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22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Scatter </a:t>
            </a:r>
            <a:r>
              <a:rPr lang="he-IL" dirty="0"/>
              <a:t> </a:t>
            </a:r>
            <a:r>
              <a:rPr lang="iw-IL" dirty="0"/>
              <a:t>של זוגות משתנים</a:t>
            </a:r>
            <a:r>
              <a:rPr lang="he-IL" dirty="0"/>
              <a:t> - </a:t>
            </a:r>
            <a:r>
              <a:rPr lang="iw-IL" dirty="0"/>
              <a:t> </a:t>
            </a:r>
            <a:r>
              <a:rPr lang="en-US" dirty="0" err="1"/>
              <a:t>Pairplot</a:t>
            </a:r>
            <a:endParaRPr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E3662A48-B23E-67AD-B9A5-494FD2DC9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625" y="1490854"/>
            <a:ext cx="5856214" cy="500202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C830579-0D83-BF98-D9BC-5199D027BE4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משתנה בדיד – </a:t>
            </a:r>
            <a:r>
              <a:rPr lang="en-US"/>
              <a:t>Pie plot</a:t>
            </a:r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C4EDBEC-51FF-E479-3A57-DC56F5F0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9" y="512967"/>
            <a:ext cx="4772744" cy="522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216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40c617dbe_0_5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00" cy="3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2800" lvl="0" indent="-45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he-IL">
                <a:solidFill>
                  <a:schemeClr val="tx1"/>
                </a:solidFill>
              </a:rPr>
              <a:t>קישור </a:t>
            </a:r>
            <a:r>
              <a:rPr lang="en-US">
                <a:solidFill>
                  <a:schemeClr val="tx1"/>
                </a:solidFill>
              </a:rPr>
              <a:t>Seaborn palletes</a:t>
            </a:r>
            <a:r>
              <a:rPr lang="he-IL">
                <a:solidFill>
                  <a:schemeClr val="tx1"/>
                </a:solidFill>
              </a:rPr>
              <a:t> </a:t>
            </a:r>
            <a:r>
              <a:rPr lang="he-IL">
                <a:solidFill>
                  <a:schemeClr val="tx1"/>
                </a:solidFill>
                <a:hlinkClick r:id="rId3"/>
              </a:rPr>
              <a:t>כאן</a:t>
            </a:r>
            <a:endParaRPr lang="he-IL">
              <a:solidFill>
                <a:schemeClr val="tx1"/>
              </a:solidFill>
            </a:endParaRPr>
          </a:p>
          <a:p>
            <a:pPr marL="532800" lvl="0" indent="-45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he-IL">
                <a:solidFill>
                  <a:schemeClr val="tx1"/>
                </a:solidFill>
              </a:rPr>
              <a:t>קישור </a:t>
            </a:r>
            <a:r>
              <a:rPr lang="en-US">
                <a:solidFill>
                  <a:schemeClr val="tx1"/>
                </a:solidFill>
              </a:rPr>
              <a:t>Matplotlib palletes</a:t>
            </a:r>
            <a:r>
              <a:rPr lang="he-IL">
                <a:solidFill>
                  <a:schemeClr val="tx1"/>
                </a:solidFill>
              </a:rPr>
              <a:t> </a:t>
            </a:r>
            <a:r>
              <a:rPr lang="he-IL">
                <a:solidFill>
                  <a:schemeClr val="tx1"/>
                </a:solidFill>
                <a:hlinkClick r:id="rId4"/>
              </a:rPr>
              <a:t>כאן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lang="he-IL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lang="he-IL" dirty="0"/>
          </a:p>
        </p:txBody>
      </p:sp>
      <p:sp>
        <p:nvSpPr>
          <p:cNvPr id="222" name="Google Shape;222;ge40c617dbe_0_5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00" cy="1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he-IL"/>
              <a:t>בחירת </a:t>
            </a:r>
            <a:r>
              <a:rPr lang="en-US"/>
              <a:t>Palletes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 dirty="0"/>
              <a:t>טענו </a:t>
            </a:r>
            <a:r>
              <a:rPr lang="iw-IL"/>
              <a:t>מחברת </a:t>
            </a:r>
            <a:r>
              <a:rPr lang="he-IL">
                <a:hlinkClick r:id="rId3"/>
              </a:rPr>
              <a:t>טיטאניק</a:t>
            </a:r>
            <a:endParaRPr lang="he-IL"/>
          </a:p>
          <a:p>
            <a:pPr marL="457200" lvl="0" indent="-4572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הוסיפו </a:t>
            </a:r>
            <a:r>
              <a:rPr lang="he-IL"/>
              <a:t>5</a:t>
            </a:r>
            <a:r>
              <a:rPr lang="iw-IL"/>
              <a:t> </a:t>
            </a:r>
            <a:r>
              <a:rPr lang="he-IL"/>
              <a:t> </a:t>
            </a:r>
            <a:r>
              <a:rPr lang="iw-IL" dirty="0"/>
              <a:t>גרפים למחברת</a:t>
            </a:r>
            <a:endParaRPr dirty="0"/>
          </a:p>
          <a:p>
            <a:pPr marL="457200" lvl="0" indent="-4572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iw-IL" dirty="0"/>
              <a:t>שנו מידות </a:t>
            </a:r>
            <a:r>
              <a:rPr lang="iw-IL"/>
              <a:t>של </a:t>
            </a:r>
            <a:r>
              <a:rPr lang="he-IL"/>
              <a:t>שני </a:t>
            </a:r>
            <a:r>
              <a:rPr lang="iw-IL"/>
              <a:t>גרפים</a:t>
            </a:r>
            <a:endParaRPr dirty="0"/>
          </a:p>
          <a:p>
            <a:pPr marL="457200" lvl="0" indent="-4572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iw-IL" dirty="0"/>
              <a:t>שנו את </a:t>
            </a:r>
            <a:r>
              <a:rPr lang="iw-IL"/>
              <a:t>שמות הצירים</a:t>
            </a:r>
            <a:r>
              <a:rPr lang="he-IL"/>
              <a:t> והכותרת</a:t>
            </a:r>
            <a:r>
              <a:rPr lang="iw-IL"/>
              <a:t> של </a:t>
            </a:r>
            <a:r>
              <a:rPr lang="he-IL"/>
              <a:t>שני</a:t>
            </a:r>
            <a:r>
              <a:rPr lang="iw-IL"/>
              <a:t> </a:t>
            </a:r>
            <a:r>
              <a:rPr lang="iw-IL" dirty="0"/>
              <a:t>הגרפים</a:t>
            </a:r>
            <a:endParaRPr dirty="0"/>
          </a:p>
          <a:p>
            <a:pPr indent="-457200">
              <a:lnSpc>
                <a:spcPct val="100000"/>
              </a:lnSpc>
              <a:buFont typeface="Arial"/>
              <a:buChar char="•"/>
            </a:pPr>
            <a:r>
              <a:rPr lang="he-IL" b="0" i="0">
                <a:effectLst/>
                <a:highlight>
                  <a:srgbClr val="F8F9FA"/>
                </a:highlight>
                <a:latin typeface="Roboto" panose="02000000000000000000" pitchFamily="2" charset="0"/>
              </a:rPr>
              <a:t>שנו את סוג ה </a:t>
            </a:r>
            <a:r>
              <a:rPr lang="en-US" b="0" i="0">
                <a:effectLst/>
                <a:highlight>
                  <a:srgbClr val="F8F9FA"/>
                </a:highlight>
                <a:latin typeface="Roboto" panose="02000000000000000000" pitchFamily="2" charset="0"/>
              </a:rPr>
              <a:t>Pallete</a:t>
            </a:r>
            <a:r>
              <a:rPr lang="he-IL" b="0" i="0">
                <a:effectLst/>
                <a:highlight>
                  <a:srgbClr val="F8F9FA"/>
                </a:highlight>
                <a:latin typeface="Roboto" panose="02000000000000000000" pitchFamily="2" charset="0"/>
              </a:rPr>
              <a:t> של שני גרפים</a:t>
            </a:r>
          </a:p>
          <a:p>
            <a:pPr marL="457200" lvl="0" indent="-4572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endParaRPr dirty="0"/>
          </a:p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215" name="Google Shape;215;p2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תרגיל </a:t>
            </a:r>
            <a:r>
              <a:rPr lang="he-IL"/>
              <a:t>3.1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40c617dbe_0_5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00" cy="3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2800" lvl="0" indent="-45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iw-IL" dirty="0"/>
              <a:t>קישור למחברתDiamonds Visualization </a:t>
            </a:r>
            <a:r>
              <a:rPr lang="he-IL" dirty="0"/>
              <a:t> </a:t>
            </a:r>
            <a:r>
              <a:rPr lang="iw-IL" u="sng" dirty="0">
                <a:solidFill>
                  <a:schemeClr val="hlink"/>
                </a:solidFill>
                <a:hlinkClick r:id="rId3"/>
              </a:rPr>
              <a:t>כאן</a:t>
            </a:r>
            <a:r>
              <a:rPr lang="he-IL" u="sng" dirty="0">
                <a:solidFill>
                  <a:schemeClr val="hlink"/>
                </a:solidFill>
              </a:rPr>
              <a:t> </a:t>
            </a:r>
            <a:endParaRPr dirty="0"/>
          </a:p>
          <a:p>
            <a:pPr marL="532800" lvl="0" indent="-45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iw-IL" dirty="0"/>
              <a:t>קישורSeaborn API </a:t>
            </a:r>
            <a:r>
              <a:rPr lang="iw-IL"/>
              <a:t>reference </a:t>
            </a:r>
            <a:r>
              <a:rPr lang="he-IL"/>
              <a:t> </a:t>
            </a:r>
            <a:r>
              <a:rPr lang="iw-IL" u="sng">
                <a:solidFill>
                  <a:schemeClr val="hlink"/>
                </a:solidFill>
                <a:hlinkClick r:id="rId4"/>
              </a:rPr>
              <a:t>כאן</a:t>
            </a:r>
            <a:endParaRPr lang="he-IL" u="sng">
              <a:solidFill>
                <a:schemeClr val="hlink"/>
              </a:solidFill>
            </a:endParaRPr>
          </a:p>
        </p:txBody>
      </p:sp>
      <p:sp>
        <p:nvSpPr>
          <p:cNvPr id="222" name="Google Shape;222;ge40c617dbe_0_5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00" cy="1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iw-IL"/>
              <a:t>הדגמות והעמקות על מחברת Colab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458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40c617dbe_0_0"/>
          <p:cNvSpPr txBox="1">
            <a:spLocks noGrp="1"/>
          </p:cNvSpPr>
          <p:nvPr>
            <p:ph type="body" idx="1"/>
          </p:nvPr>
        </p:nvSpPr>
        <p:spPr>
          <a:xfrm>
            <a:off x="351693" y="1333144"/>
            <a:ext cx="11430000" cy="427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9599" lvl="0" indent="-219599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he-IL" dirty="0"/>
              <a:t>נמשיך את המחברת של </a:t>
            </a:r>
            <a:r>
              <a:rPr lang="he-IL"/>
              <a:t>תרגיל 3.1</a:t>
            </a:r>
          </a:p>
          <a:p>
            <a:pPr marL="0" indent="0"/>
            <a:r>
              <a:rPr lang="he-IL" b="1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את ההערות והמסקנות יש לכתוב בתא טקסט. </a:t>
            </a:r>
            <a:br>
              <a:rPr lang="he-IL"/>
            </a:br>
            <a:r>
              <a:rPr lang="he-IL" b="1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כדי לרשום בתא טקסט בעברית מומלץ להוסיף בתוך תא הטקסט: </a:t>
            </a:r>
            <a:r>
              <a:rPr lang="en-US" b="1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&lt;div dir = rtl&gt;</a:t>
            </a:r>
            <a:br>
              <a:rPr lang="en-US" b="1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</a:br>
            <a:r>
              <a:rPr lang="he-IL" b="1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כדי ליישר את הכיתוב לימין.</a:t>
            </a:r>
          </a:p>
          <a:p>
            <a:pPr marL="219599" lvl="0" indent="-219599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endParaRPr lang="he-IL"/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8F9FA"/>
                </a:highlight>
                <a:latin typeface="Roboto" panose="02000000000000000000" pitchFamily="2" charset="0"/>
              </a:rPr>
              <a:t>רשמו לכל גרף את סוגי המשתנים שמופיעים בו (בדיד, רציף)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8F9FA"/>
                </a:highlight>
                <a:latin typeface="Roboto" panose="02000000000000000000" pitchFamily="2" charset="0"/>
              </a:rPr>
              <a:t>רשמו מסקנה אחת לכל גרף</a:t>
            </a:r>
          </a:p>
          <a:p>
            <a:pPr marL="219599" lvl="0" indent="-219599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endParaRPr lang="he-IL"/>
          </a:p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0" lvl="0" indent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228" name="Google Shape;228;ge40c617dbe_0_0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00" cy="9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תרגיל </a:t>
            </a:r>
            <a:r>
              <a:rPr lang="en-US"/>
              <a:t>3.2</a:t>
            </a:r>
            <a:r>
              <a:rPr lang="he-IL"/>
              <a:t> בקבוצות 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53A3D6F9-D847-3DD4-1921-C6D0F9573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e-IL"/>
              <a:t>טענו את </a:t>
            </a:r>
            <a:r>
              <a:rPr lang="en-US">
                <a:hlinkClick r:id="rId2"/>
              </a:rPr>
              <a:t>Penguin Dataset</a:t>
            </a:r>
            <a:endParaRPr lang="he-IL"/>
          </a:p>
          <a:p>
            <a:pPr marL="228600" indent="0"/>
            <a:r>
              <a:rPr lang="he-IL" b="1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את ההערות והמסקנות יש לכתוב בתא טקסט. </a:t>
            </a:r>
            <a:br>
              <a:rPr lang="he-IL"/>
            </a:br>
            <a:r>
              <a:rPr lang="he-IL" b="1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כדי לרשום בתא טקסט בעברית מומלץ להוסיף בתוך תא הטקסט: </a:t>
            </a:r>
            <a:r>
              <a:rPr lang="en-US" b="1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&lt;div dir = rtl&gt;</a:t>
            </a:r>
            <a:br>
              <a:rPr lang="en-US" b="1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</a:br>
            <a:r>
              <a:rPr lang="he-IL" b="1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כדי ליישר את הכיתוב לימין.</a:t>
            </a:r>
            <a:endParaRPr lang="he-IL" b="0" i="0">
              <a:effectLst/>
              <a:highlight>
                <a:srgbClr val="F1F3F4"/>
              </a:highlight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הוסיפו פקודת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Pandas Info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ורשמו מסקנה מהפקודה.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אופציונלי: מחקו רשומות חסרות עם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df.dropna(inplace=True)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לאחר טעינת הנתונים. זה יכול לפתור בעיות מסוימות עם גרפים.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הוסיפו פקודת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Pandas Describe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ורשמו מסקנה מהפקודה.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הוסיפו 3 פקודות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Pandas Groupby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שונות ורשמו מסקנה אחת מכל פקודה.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הוסיפו 5 גרפים שונים למחברת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רשמו לכל גרף את שמות וסוגי המשתנים שמופיעים בו (בדיד, רציף)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רשמו מסקנה אחת לכל גרף</a:t>
            </a:r>
          </a:p>
          <a:p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88A12E0-4845-CDC4-2F7E-932BE510A64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3.3 תרגיל ויזואליזציה כולל ניתוח מקיף</a:t>
            </a:r>
          </a:p>
        </p:txBody>
      </p:sp>
    </p:spTree>
    <p:extLst>
      <p:ext uri="{BB962C8B-B14F-4D97-AF65-F5344CB8AC3E}">
        <p14:creationId xmlns:p14="http://schemas.microsoft.com/office/powerpoint/2010/main" val="3995959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תודה על ההשתתפות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641</Words>
  <Application>Microsoft Office PowerPoint</Application>
  <PresentationFormat>מסך רחב</PresentationFormat>
  <Paragraphs>118</Paragraphs>
  <Slides>31</Slides>
  <Notes>26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31</vt:i4>
      </vt:variant>
    </vt:vector>
  </HeadingPairs>
  <TitlesOfParts>
    <vt:vector size="36" baseType="lpstr">
      <vt:lpstr>Roboto</vt:lpstr>
      <vt:lpstr>Arial</vt:lpstr>
      <vt:lpstr>Tahoma</vt:lpstr>
      <vt:lpstr>Calibri</vt:lpstr>
      <vt:lpstr>TECHNION_Op3_General_Heb</vt:lpstr>
      <vt:lpstr>Visualization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ויזואליזציה עם ספריות  Seaborn</vt:lpstr>
      <vt:lpstr>מצגת של PowerPoint‏</vt:lpstr>
      <vt:lpstr>תזכורת – תהליך העבודה במדעי הנתונים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תודה על ההשתתפות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דוד בר יצחק</cp:lastModifiedBy>
  <cp:revision>47</cp:revision>
  <dcterms:created xsi:type="dcterms:W3CDTF">2019-03-02T07:56:19Z</dcterms:created>
  <dcterms:modified xsi:type="dcterms:W3CDTF">2026-03-09T17:00:26Z</dcterms:modified>
</cp:coreProperties>
</file>