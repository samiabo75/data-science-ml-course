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5"/>
  </p:notesMasterIdLst>
  <p:sldIdLst>
    <p:sldId id="494" r:id="rId2"/>
    <p:sldId id="344" r:id="rId3"/>
    <p:sldId id="345" r:id="rId4"/>
    <p:sldId id="477" r:id="rId5"/>
    <p:sldId id="501" r:id="rId6"/>
    <p:sldId id="440" r:id="rId7"/>
    <p:sldId id="496" r:id="rId8"/>
    <p:sldId id="497" r:id="rId9"/>
    <p:sldId id="498" r:id="rId10"/>
    <p:sldId id="499" r:id="rId11"/>
    <p:sldId id="500" r:id="rId12"/>
    <p:sldId id="502" r:id="rId13"/>
    <p:sldId id="44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7F3F4BA6-0FB4-404A-97CE-3280853A6031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B586F2C3-1532-4552-BDB5-D692430AA2D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107"/>
            <a:ext cx="12177238" cy="6855785"/>
          </a:xfrm>
          <a:prstGeom prst="rect">
            <a:avLst/>
          </a:prstGeom>
        </p:spPr>
      </p:pic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</p:spPr>
        <p:txBody>
          <a:bodyPr>
            <a:normAutofit/>
          </a:bodyPr>
          <a:lstStyle>
            <a:lvl1pPr algn="r" rtl="1">
              <a:defRPr sz="44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</p:spPr>
        <p:txBody>
          <a:bodyPr>
            <a:normAutofit/>
          </a:bodyPr>
          <a:lstStyle>
            <a:lvl1pPr marL="0" indent="0" algn="r" rtl="1">
              <a:buNone/>
              <a:defRPr sz="3600">
                <a:solidFill>
                  <a:srgbClr val="D79E0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98876" y="6043367"/>
            <a:ext cx="7894974" cy="365123"/>
          </a:xfrm>
        </p:spPr>
        <p:txBody>
          <a:bodyPr/>
          <a:lstStyle>
            <a:lvl1pPr algn="r" rtl="1">
              <a:defRPr sz="3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78392" y="6043367"/>
            <a:ext cx="1885950" cy="365125"/>
          </a:xfrm>
        </p:spPr>
        <p:txBody>
          <a:bodyPr/>
          <a:lstStyle>
            <a:lvl1pPr algn="r" rtl="1">
              <a:defRPr sz="2400" b="0">
                <a:solidFill>
                  <a:srgbClr val="D79E0F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17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6602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4447" y="365124"/>
            <a:ext cx="11377324" cy="1376363"/>
          </a:xfrm>
          <a:noFill/>
        </p:spPr>
        <p:txBody>
          <a:bodyPr anchor="ctr">
            <a:normAutofit/>
          </a:bodyPr>
          <a:lstStyle>
            <a:lvl1pPr algn="r" rtl="1">
              <a:defRPr sz="4400" b="1"/>
            </a:lvl1pPr>
            <a:lvl2pPr marL="457200" indent="0" algn="r" rtl="1">
              <a:buNone/>
              <a:defRPr sz="4400" b="1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07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EA62BEB-6A5C-4FC5-82F8-803F5A423B8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795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2" r:id="rId2"/>
    <p:sldLayoutId id="2147483685" r:id="rId3"/>
  </p:sldLayoutIdLst>
  <p:txStyles>
    <p:titleStyle>
      <a:lvl1pPr marL="0" indent="0" algn="r" defTabSz="914400" rtl="1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4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Clr>
          <a:srgbClr val="D59F0E"/>
        </a:buClr>
        <a:buFont typeface="Arial" panose="020B0604020202020204" pitchFamily="34" charset="0"/>
        <a:buNone/>
        <a:defRPr sz="2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9144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0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3716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8288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5E3SnRxg6wscqAT2MaQ9qKuWQ7zE9yA/view?usp=shar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2327275"/>
            <a:ext cx="6172200" cy="1325563"/>
          </a:xfrm>
        </p:spPr>
        <p:txBody>
          <a:bodyPr/>
          <a:lstStyle/>
          <a:p>
            <a:pPr algn="ctr"/>
            <a:r>
              <a:rPr lang="he-IL" dirty="0"/>
              <a:t>יישום </a:t>
            </a:r>
            <a:r>
              <a:rPr lang="en-US" dirty="0"/>
              <a:t>KNN</a:t>
            </a:r>
            <a:r>
              <a:rPr lang="he-IL" dirty="0"/>
              <a:t> באמצעות ספריית </a:t>
            </a:r>
            <a:r>
              <a:rPr lang="en-US" dirty="0" err="1"/>
              <a:t>SKLearn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6037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t-text">
            <a:extLst>
              <a:ext uri="{FF2B5EF4-FFF2-40B4-BE49-F238E27FC236}">
                <a16:creationId xmlns:a16="http://schemas.microsoft.com/office/drawing/2014/main" id="{48E8FB6F-3E88-4E97-8A0C-C324E4236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16"/>
          <a:stretch/>
        </p:blipFill>
        <p:spPr bwMode="auto">
          <a:xfrm>
            <a:off x="975023" y="2253131"/>
            <a:ext cx="3060681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lt-text">
            <a:extLst>
              <a:ext uri="{FF2B5EF4-FFF2-40B4-BE49-F238E27FC236}">
                <a16:creationId xmlns:a16="http://schemas.microsoft.com/office/drawing/2014/main" id="{CD7C093E-8C3B-4BA7-90D7-A277534FA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2" r="36457"/>
          <a:stretch/>
        </p:blipFill>
        <p:spPr bwMode="auto">
          <a:xfrm>
            <a:off x="4251768" y="2253131"/>
            <a:ext cx="3294927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lt-text">
            <a:extLst>
              <a:ext uri="{FF2B5EF4-FFF2-40B4-BE49-F238E27FC236}">
                <a16:creationId xmlns:a16="http://schemas.microsoft.com/office/drawing/2014/main" id="{D408BFD2-3BE8-40BA-B34F-933DE7A47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31"/>
          <a:stretch/>
        </p:blipFill>
        <p:spPr bwMode="auto">
          <a:xfrm>
            <a:off x="7762759" y="2253131"/>
            <a:ext cx="3581544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ציין מיקום טקסט 6">
            <a:extLst>
              <a:ext uri="{FF2B5EF4-FFF2-40B4-BE49-F238E27FC236}">
                <a16:creationId xmlns:a16="http://schemas.microsoft.com/office/drawing/2014/main" id="{F1027A0B-F6B2-46AC-925A-B3D6245C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דוגמא: סיווג אירוסים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964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http://sebastianraschka.com/Images_old/2014_python_lda/iris_petal_sepal.png">
            <a:extLst>
              <a:ext uri="{FF2B5EF4-FFF2-40B4-BE49-F238E27FC236}">
                <a16:creationId xmlns:a16="http://schemas.microsoft.com/office/drawing/2014/main" id="{EE10FCFE-4D60-486C-A021-F80A72D4F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76" y="876369"/>
            <a:ext cx="4435073" cy="424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3FDA59-4DEB-4833-8054-1214B61AC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מאפיינים של פרח</a:t>
            </a:r>
            <a:endParaRPr lang="en-IL" dirty="0"/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4F998CFD-F94C-4146-931F-0ACD474A5F6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970940" y="1509536"/>
          <a:ext cx="5633484" cy="406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742">
                  <a:extLst>
                    <a:ext uri="{9D8B030D-6E8A-4147-A177-3AD203B41FA5}">
                      <a16:colId xmlns:a16="http://schemas.microsoft.com/office/drawing/2014/main" val="2958855768"/>
                    </a:ext>
                  </a:extLst>
                </a:gridCol>
                <a:gridCol w="2816742">
                  <a:extLst>
                    <a:ext uri="{9D8B030D-6E8A-4147-A177-3AD203B41FA5}">
                      <a16:colId xmlns:a16="http://schemas.microsoft.com/office/drawing/2014/main" val="1931826670"/>
                    </a:ext>
                  </a:extLst>
                </a:gridCol>
              </a:tblGrid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משמעות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מאפיין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90541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עלי 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9307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520718"/>
                  </a:ext>
                </a:extLst>
              </a:tr>
              <a:tr h="838108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כלי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length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6610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00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37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9FBED9E-B704-46C4-B50F-F34E91E199A2}"/>
              </a:ext>
            </a:extLst>
          </p:cNvPr>
          <p:cNvSpPr/>
          <p:nvPr/>
        </p:nvSpPr>
        <p:spPr>
          <a:xfrm>
            <a:off x="-2891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C7363043-EA9E-4330-92EA-8290A85C2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פיזור המאפיינים</a:t>
            </a:r>
            <a:endParaRPr lang="en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766E00D-242E-A999-809A-8001C4F2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6" y="481204"/>
            <a:ext cx="6733761" cy="58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A60D916B-543C-1EE0-CF0E-108581651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0619" y="2071925"/>
            <a:ext cx="5972175" cy="1514475"/>
          </a:xfrm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B710C69-B50E-3C16-68A4-12CA97C719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ייבוא ספריות</a:t>
            </a:r>
          </a:p>
        </p:txBody>
      </p:sp>
    </p:spTree>
    <p:extLst>
      <p:ext uri="{BB962C8B-B14F-4D97-AF65-F5344CB8AC3E}">
        <p14:creationId xmlns:p14="http://schemas.microsoft.com/office/powerpoint/2010/main" val="64400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70E9BBD-9BB2-4895-8F79-5327AAA67B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65124"/>
            <a:ext cx="11781771" cy="1376363"/>
          </a:xfrm>
        </p:spPr>
        <p:txBody>
          <a:bodyPr/>
          <a:lstStyle/>
          <a:p>
            <a:r>
              <a:rPr lang="he-IL" dirty="0"/>
              <a:t>קריאת נתונים עם ספריית </a:t>
            </a:r>
            <a:r>
              <a:rPr lang="en-US" dirty="0"/>
              <a:t>pandas</a:t>
            </a:r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211E157-8C0E-5028-608A-A4C62F97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39" y="1574168"/>
            <a:ext cx="7016676" cy="370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9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70E9BBD-9BB2-4895-8F79-5327AAA67B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65124"/>
            <a:ext cx="11781771" cy="1376363"/>
          </a:xfrm>
        </p:spPr>
        <p:txBody>
          <a:bodyPr/>
          <a:lstStyle/>
          <a:p>
            <a:r>
              <a:rPr lang="he-IL" dirty="0"/>
              <a:t>קריאת נתונים עם ספריית </a:t>
            </a:r>
            <a:r>
              <a:rPr lang="en-US" dirty="0"/>
              <a:t>pandas</a:t>
            </a:r>
            <a:endParaRPr lang="en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91273FD-1146-AF4F-E1D1-F0EB8F7E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59" y="1391407"/>
            <a:ext cx="4056760" cy="425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2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FB9C657-8D40-6A83-05AE-46A949188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r"/>
            <a:r>
              <a:rPr lang="he-IL"/>
              <a:t>בחירת מאפיינים (</a:t>
            </a:r>
            <a:r>
              <a:rPr lang="en-US"/>
              <a:t>X</a:t>
            </a:r>
            <a:r>
              <a:rPr lang="he-IL"/>
              <a:t>) ומטרה (</a:t>
            </a:r>
            <a:r>
              <a:rPr lang="en-US"/>
              <a:t>y</a:t>
            </a:r>
            <a:r>
              <a:rPr lang="he-IL"/>
              <a:t>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D1CBBAC-5D65-398D-B599-730C1A6E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559" y="1825625"/>
            <a:ext cx="5139449" cy="36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FB9C657-8D40-6A83-05AE-46A949188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he-IL"/>
              <a:t>יצירת אובייקט </a:t>
            </a:r>
            <a:r>
              <a:rPr lang="en-US"/>
              <a:t> KNN</a:t>
            </a:r>
          </a:p>
          <a:p>
            <a:pPr algn="r"/>
            <a:r>
              <a:rPr lang="he-IL"/>
              <a:t>טעינת הנתונים לאובייקט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FDC2D53-BC35-2042-5A64-2F774C7B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89" y="2262781"/>
            <a:ext cx="5353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7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FF16ECC-FF0E-2202-172B-6F4226A46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פרדיקציות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FFDD48A-284F-CC10-A410-6F349A312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334" y="1741487"/>
            <a:ext cx="5987219" cy="3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58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FF16ECC-FF0E-2202-172B-6F4226A46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מדד </a:t>
            </a:r>
            <a:r>
              <a:rPr lang="en-US"/>
              <a:t>accuracy</a:t>
            </a:r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74E39D7-5EDE-E761-2EFD-577CA937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2257425"/>
            <a:ext cx="4876800" cy="2343150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163E47B-ED60-D60E-BC7A-48B29B76C84F}"/>
              </a:ext>
            </a:extLst>
          </p:cNvPr>
          <p:cNvSpPr txBox="1"/>
          <p:nvPr/>
        </p:nvSpPr>
        <p:spPr>
          <a:xfrm>
            <a:off x="7841381" y="1445458"/>
            <a:ext cx="36856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/>
              <a:t>יחס הדוגמאות שסווגו נכון לסך הדגימות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40E718D-1C30-8B34-E4EF-B187016B8E57}"/>
              </a:ext>
            </a:extLst>
          </p:cNvPr>
          <p:cNvSpPr txBox="1"/>
          <p:nvPr/>
        </p:nvSpPr>
        <p:spPr>
          <a:xfrm>
            <a:off x="6842670" y="2525792"/>
            <a:ext cx="375936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/>
              <a:t>מבצע פרדיקציה ולאחר מחשב את המדד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568969E-B947-592D-456F-2FB0C2C6E648}"/>
              </a:ext>
            </a:extLst>
          </p:cNvPr>
          <p:cNvSpPr txBox="1"/>
          <p:nvPr/>
        </p:nvSpPr>
        <p:spPr>
          <a:xfrm>
            <a:off x="6954858" y="3778211"/>
            <a:ext cx="320472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/>
              <a:t>מקבל פרדיקציה ומחשב את המדד</a:t>
            </a:r>
          </a:p>
        </p:txBody>
      </p:sp>
    </p:spTree>
    <p:extLst>
      <p:ext uri="{BB962C8B-B14F-4D97-AF65-F5344CB8AC3E}">
        <p14:creationId xmlns:p14="http://schemas.microsoft.com/office/powerpoint/2010/main" val="177598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95DD3C20-0740-29FD-416C-71E22583F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KNN iris exercise 1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A0B4DA0-F9EC-C169-AFF1-0CD278BA3F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KNN exercise 1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7185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</p:spPr>
        <p:txBody>
          <a:bodyPr/>
          <a:lstStyle/>
          <a:p>
            <a:r>
              <a:rPr lang="he-IL" dirty="0"/>
              <a:t>תודה על ההשתתפות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381220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TECHNION_Op3_General_Heb</Template>
  <TotalTime>5791</TotalTime>
  <Words>93</Words>
  <Application>Microsoft Office PowerPoint</Application>
  <PresentationFormat>מסך רחב</PresentationFormat>
  <Paragraphs>28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7" baseType="lpstr">
      <vt:lpstr>Arial</vt:lpstr>
      <vt:lpstr>Calibri</vt:lpstr>
      <vt:lpstr>Tahoma</vt:lpstr>
      <vt:lpstr>TECHNION_Op3_General_Heb</vt:lpstr>
      <vt:lpstr>יישום KNN באמצעות ספריית SKLearn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</dc:title>
  <dc:creator>Jacob Mike</dc:creator>
  <cp:lastModifiedBy>אריאל בר-יצחק</cp:lastModifiedBy>
  <cp:revision>201</cp:revision>
  <dcterms:created xsi:type="dcterms:W3CDTF">2019-03-02T07:56:19Z</dcterms:created>
  <dcterms:modified xsi:type="dcterms:W3CDTF">2024-06-29T14:17:21Z</dcterms:modified>
</cp:coreProperties>
</file>