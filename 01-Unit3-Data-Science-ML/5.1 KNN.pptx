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27"/>
  </p:notesMasterIdLst>
  <p:sldIdLst>
    <p:sldId id="457" r:id="rId2"/>
    <p:sldId id="344" r:id="rId3"/>
    <p:sldId id="345" r:id="rId4"/>
    <p:sldId id="477" r:id="rId5"/>
    <p:sldId id="478" r:id="rId6"/>
    <p:sldId id="354" r:id="rId7"/>
    <p:sldId id="353" r:id="rId8"/>
    <p:sldId id="355" r:id="rId9"/>
    <p:sldId id="356" r:id="rId10"/>
    <p:sldId id="488" r:id="rId11"/>
    <p:sldId id="487" r:id="rId12"/>
    <p:sldId id="519" r:id="rId13"/>
    <p:sldId id="486" r:id="rId14"/>
    <p:sldId id="258" r:id="rId15"/>
    <p:sldId id="259" r:id="rId16"/>
    <p:sldId id="260" r:id="rId17"/>
    <p:sldId id="263" r:id="rId18"/>
    <p:sldId id="522" r:id="rId19"/>
    <p:sldId id="521" r:id="rId20"/>
    <p:sldId id="484" r:id="rId21"/>
    <p:sldId id="288" r:id="rId22"/>
    <p:sldId id="349" r:id="rId23"/>
    <p:sldId id="396" r:id="rId24"/>
    <p:sldId id="350" r:id="rId25"/>
    <p:sldId id="44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7F3F4BA6-0FB4-404A-97CE-3280853A6031}" type="datetimeFigureOut">
              <a:rPr lang="en-IL" smtClean="0"/>
              <a:t>07/01/2025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B586F2C3-1532-4552-BDB5-D692430AA2D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3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d37c7a0db9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d37c7a0db9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d37c7a0db9_1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d37c7a0db9_1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37c7a0db9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37c7a0db9_1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d37c7a0db9_1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d37c7a0db9_1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62" name="Google Shape;26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107"/>
            <a:ext cx="12177238" cy="6855785"/>
          </a:xfrm>
          <a:prstGeom prst="rect">
            <a:avLst/>
          </a:prstGeom>
        </p:spPr>
      </p:pic>
      <p:sp>
        <p:nvSpPr>
          <p:cNvPr id="8" name="Title 16"/>
          <p:cNvSpPr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</p:spPr>
        <p:txBody>
          <a:bodyPr>
            <a:normAutofit/>
          </a:bodyPr>
          <a:lstStyle>
            <a:lvl1pPr algn="r" rtl="1">
              <a:defRPr sz="44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</p:spPr>
        <p:txBody>
          <a:bodyPr>
            <a:normAutofit/>
          </a:bodyPr>
          <a:lstStyle>
            <a:lvl1pPr marL="0" indent="0" algn="r" rtl="1">
              <a:buNone/>
              <a:defRPr sz="3600">
                <a:solidFill>
                  <a:srgbClr val="D79E0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98876" y="6043367"/>
            <a:ext cx="7894974" cy="365123"/>
          </a:xfrm>
        </p:spPr>
        <p:txBody>
          <a:bodyPr/>
          <a:lstStyle>
            <a:lvl1pPr algn="r" rtl="1">
              <a:defRPr sz="3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78392" y="6043367"/>
            <a:ext cx="1885950" cy="365125"/>
          </a:xfrm>
        </p:spPr>
        <p:txBody>
          <a:bodyPr/>
          <a:lstStyle>
            <a:lvl1pPr algn="r" rtl="1">
              <a:defRPr sz="2400" b="0">
                <a:solidFill>
                  <a:srgbClr val="D79E0F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07/01/2025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0176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3" y="1825625"/>
            <a:ext cx="11430077" cy="3783867"/>
          </a:xfrm>
        </p:spPr>
        <p:txBody>
          <a:bodyPr/>
          <a:lstStyle>
            <a:lvl1pPr marL="0" indent="0" algn="r" rtl="1">
              <a:buNone/>
              <a:defRPr/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07/01/2025</a:t>
            </a:fld>
            <a:endParaRPr lang="en-IL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351693" y="365124"/>
            <a:ext cx="11430078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166029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04447" y="365124"/>
            <a:ext cx="11377324" cy="1376363"/>
          </a:xfrm>
          <a:noFill/>
        </p:spPr>
        <p:txBody>
          <a:bodyPr anchor="ctr">
            <a:normAutofit/>
          </a:bodyPr>
          <a:lstStyle>
            <a:lvl1pPr algn="r" rtl="1">
              <a:defRPr sz="4400" b="1"/>
            </a:lvl1pPr>
            <a:lvl2pPr marL="457200" indent="0" algn="r" rtl="1">
              <a:buNone/>
              <a:defRPr sz="4400" b="1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07/01/2025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07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>
  <p:cSld name="1_כותרת ותוכן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1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1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1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1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185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296611" y="6489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rtl="0"/>
            <a:fld id="{00000000-1234-1234-1234-123412341234}" type="slidenum">
              <a:rPr lang="he" smtClean="0"/>
              <a:pPr algn="r" rtl="0"/>
              <a:t>‹#›</a:t>
            </a:fld>
            <a:endParaRPr lang="he"/>
          </a:p>
        </p:txBody>
      </p:sp>
      <p:sp>
        <p:nvSpPr>
          <p:cNvPr id="24" name="Google Shape;24;p4"/>
          <p:cNvSpPr/>
          <p:nvPr/>
        </p:nvSpPr>
        <p:spPr>
          <a:xfrm>
            <a:off x="-42400" y="6672067"/>
            <a:ext cx="12276800" cy="2116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4"/>
          <p:cNvSpPr txBox="1"/>
          <p:nvPr/>
        </p:nvSpPr>
        <p:spPr>
          <a:xfrm>
            <a:off x="18967" y="6504834"/>
            <a:ext cx="12192000" cy="943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iw" sz="1333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iw" sz="1067">
                <a:solidFill>
                  <a:srgbClr val="434343"/>
                </a:solidFill>
              </a:rPr>
              <a:t>מגמת מדעי המחשב והנדסת תוכנה</a:t>
            </a:r>
            <a:r>
              <a:rPr lang="iw" sz="1600">
                <a:solidFill>
                  <a:srgbClr val="434343"/>
                </a:solidFill>
              </a:rPr>
              <a:t>														</a:t>
            </a:r>
            <a:r>
              <a:rPr lang="iw" sz="1067">
                <a:solidFill>
                  <a:srgbClr val="434343"/>
                </a:solidFill>
              </a:rPr>
              <a:t>ביה"ס תיכון ליאו באק חיפה © </a:t>
            </a:r>
            <a:endParaRPr sz="1600">
              <a:solidFill>
                <a:srgbClr val="434343"/>
              </a:solidFill>
            </a:endParaRPr>
          </a:p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sz="1333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  <p:extLst>
      <p:ext uri="{BB962C8B-B14F-4D97-AF65-F5344CB8AC3E}">
        <p14:creationId xmlns:p14="http://schemas.microsoft.com/office/powerpoint/2010/main" val="1603506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A2153F9-CD1E-4915-8F64-241C69FF8ED7}" type="datetimeFigureOut">
              <a:rPr lang="en-IL" smtClean="0"/>
              <a:t>07/01/2025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EA62BEB-6A5C-4FC5-82F8-803F5A423B8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795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2" r:id="rId2"/>
    <p:sldLayoutId id="2147483685" r:id="rId3"/>
    <p:sldLayoutId id="2147483686" r:id="rId4"/>
    <p:sldLayoutId id="2147483687" r:id="rId5"/>
  </p:sldLayoutIdLst>
  <p:txStyles>
    <p:titleStyle>
      <a:lvl1pPr marL="0" indent="0" algn="r" defTabSz="914400" rtl="1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sz="44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r" defTabSz="914400" rtl="1" eaLnBrk="1" latinLnBrk="0" hangingPunct="1">
        <a:lnSpc>
          <a:spcPct val="90000"/>
        </a:lnSpc>
        <a:spcBef>
          <a:spcPts val="1000"/>
        </a:spcBef>
        <a:buClr>
          <a:srgbClr val="D59F0E"/>
        </a:buClr>
        <a:buFont typeface="Arial" panose="020B0604020202020204" pitchFamily="34" charset="0"/>
        <a:buNone/>
        <a:defRPr sz="2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572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24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9144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20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3716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1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8288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1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rive.google.com/file/d/1O6IBM9TNp4jdKaAyQ2-tZ_bKWgVH3TuP/view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rive.google.com/file/d/1O6IBM9TNp4jdKaAyQ2-tZ_bKWgVH3TuP/view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rive.google.com/file/d/1O6IBM9TNp4jdKaAyQ2-tZ_bKWgVH3TuP/view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drive.google.com/file/d/1O6IBM9TNp4jdKaAyQ2-tZ_bKWgVH3TuP/view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forms/d/e/1FAIpQLSeFSOGK_v63osmYXeu8qllCYV3fq8nvZmf7ggIHEw4tXJeoHw/viewfor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vision.stanford.edu/teaching/cs231n-demos/knn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641D00-1EC0-45D9-9376-6E21A964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K-Nearest Neighbors (KNN)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63929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t-text">
            <a:extLst>
              <a:ext uri="{FF2B5EF4-FFF2-40B4-BE49-F238E27FC236}">
                <a16:creationId xmlns:a16="http://schemas.microsoft.com/office/drawing/2014/main" id="{48E8FB6F-3E88-4E97-8A0C-C324E4236A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16"/>
          <a:stretch/>
        </p:blipFill>
        <p:spPr bwMode="auto">
          <a:xfrm>
            <a:off x="975023" y="2253131"/>
            <a:ext cx="3060681" cy="308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lt-text">
            <a:extLst>
              <a:ext uri="{FF2B5EF4-FFF2-40B4-BE49-F238E27FC236}">
                <a16:creationId xmlns:a16="http://schemas.microsoft.com/office/drawing/2014/main" id="{CD7C093E-8C3B-4BA7-90D7-A277534FA2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72" r="36457"/>
          <a:stretch/>
        </p:blipFill>
        <p:spPr bwMode="auto">
          <a:xfrm>
            <a:off x="4251768" y="2253131"/>
            <a:ext cx="3294927" cy="308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lt-text">
            <a:extLst>
              <a:ext uri="{FF2B5EF4-FFF2-40B4-BE49-F238E27FC236}">
                <a16:creationId xmlns:a16="http://schemas.microsoft.com/office/drawing/2014/main" id="{D408BFD2-3BE8-40BA-B34F-933DE7A47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31"/>
          <a:stretch/>
        </p:blipFill>
        <p:spPr bwMode="auto">
          <a:xfrm>
            <a:off x="7762759" y="2253131"/>
            <a:ext cx="3581544" cy="308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מציין מיקום טקסט 6">
            <a:extLst>
              <a:ext uri="{FF2B5EF4-FFF2-40B4-BE49-F238E27FC236}">
                <a16:creationId xmlns:a16="http://schemas.microsoft.com/office/drawing/2014/main" id="{F1027A0B-F6B2-46AC-925A-B3D6245C7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דוגמא: סיווג אירוסים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8964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http://sebastianraschka.com/Images_old/2014_python_lda/iris_petal_sepal.png">
            <a:extLst>
              <a:ext uri="{FF2B5EF4-FFF2-40B4-BE49-F238E27FC236}">
                <a16:creationId xmlns:a16="http://schemas.microsoft.com/office/drawing/2014/main" id="{EE10FCFE-4D60-486C-A021-F80A72D4F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76" y="876369"/>
            <a:ext cx="4435073" cy="424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3FDA59-4DEB-4833-8054-1214B61AC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מאפיינים של פרח</a:t>
            </a:r>
            <a:endParaRPr lang="en-IL" dirty="0"/>
          </a:p>
        </p:txBody>
      </p:sp>
      <p:graphicFrame>
        <p:nvGraphicFramePr>
          <p:cNvPr id="7" name="מציין מיקום תוכן 6">
            <a:extLst>
              <a:ext uri="{FF2B5EF4-FFF2-40B4-BE49-F238E27FC236}">
                <a16:creationId xmlns:a16="http://schemas.microsoft.com/office/drawing/2014/main" id="{4F998CFD-F94C-4146-931F-0ACD474A5F6F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5970940" y="1509536"/>
          <a:ext cx="5633484" cy="4062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742">
                  <a:extLst>
                    <a:ext uri="{9D8B030D-6E8A-4147-A177-3AD203B41FA5}">
                      <a16:colId xmlns:a16="http://schemas.microsoft.com/office/drawing/2014/main" val="2958855768"/>
                    </a:ext>
                  </a:extLst>
                </a:gridCol>
                <a:gridCol w="2816742">
                  <a:extLst>
                    <a:ext uri="{9D8B030D-6E8A-4147-A177-3AD203B41FA5}">
                      <a16:colId xmlns:a16="http://schemas.microsoft.com/office/drawing/2014/main" val="1931826670"/>
                    </a:ext>
                  </a:extLst>
                </a:gridCol>
              </a:tblGrid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משמעות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מאפיין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90541"/>
                  </a:ext>
                </a:extLst>
              </a:tr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אורך עלי גביע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Sepal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093076"/>
                  </a:ext>
                </a:extLst>
              </a:tr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רוחב עלי הגביע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Sepal width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520718"/>
                  </a:ext>
                </a:extLst>
              </a:tr>
              <a:tr h="838108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אורך כלי הכותרת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Petal length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66106"/>
                  </a:ext>
                </a:extLst>
              </a:tr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רוחב עלי הכותרת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Petal width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700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37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09FBED9E-B704-46C4-B50F-F34E91E199A2}"/>
              </a:ext>
            </a:extLst>
          </p:cNvPr>
          <p:cNvSpPr/>
          <p:nvPr/>
        </p:nvSpPr>
        <p:spPr>
          <a:xfrm>
            <a:off x="-2891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C7363043-EA9E-4330-92EA-8290A85C24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פיזור המאפיינים</a:t>
            </a:r>
            <a:endParaRPr lang="en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683484A0-9E9D-D001-287F-B263149CC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71" y="215751"/>
            <a:ext cx="6435486" cy="5835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8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9E603D7-D2A8-46FC-BDE9-153FF6E6C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1825625"/>
            <a:ext cx="4923770" cy="3783867"/>
          </a:xfrm>
        </p:spPr>
        <p:txBody>
          <a:bodyPr/>
          <a:lstStyle/>
          <a:p>
            <a:r>
              <a:rPr lang="he-IL" dirty="0"/>
              <a:t>הציעו גישות לסיווג פרח על פי מאפייניו.</a:t>
            </a:r>
            <a:endParaRPr lang="en-IL" dirty="0"/>
          </a:p>
        </p:txBody>
      </p:sp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8A16BAA5-EB6C-4F8F-8B0E-C31B9FA04D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תרגיל</a:t>
            </a:r>
            <a:endParaRPr lang="en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0CB09F7-B495-F2C0-FC3D-03CC5C51C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49" y="241629"/>
            <a:ext cx="6323342" cy="573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52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C9FE478-8830-419B-8AA8-24461FC46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סיווג הדגימה על פי סיווג השכנים שלה</a:t>
            </a:r>
          </a:p>
        </p:txBody>
      </p:sp>
      <p:sp>
        <p:nvSpPr>
          <p:cNvPr id="18" name="מציין מיקום טקסט 17">
            <a:extLst>
              <a:ext uri="{FF2B5EF4-FFF2-40B4-BE49-F238E27FC236}">
                <a16:creationId xmlns:a16="http://schemas.microsoft.com/office/drawing/2014/main" id="{A4D43D80-EF5B-4D4F-BB44-020E6FF7D1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KNN</a:t>
            </a:r>
            <a:endParaRPr lang="en-IL" dirty="0"/>
          </a:p>
        </p:txBody>
      </p:sp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684433EC-0D96-4DB6-9619-E1EB4DAF58E6}"/>
              </a:ext>
            </a:extLst>
          </p:cNvPr>
          <p:cNvGrpSpPr/>
          <p:nvPr/>
        </p:nvGrpSpPr>
        <p:grpSpPr>
          <a:xfrm>
            <a:off x="330299" y="1915145"/>
            <a:ext cx="3561907" cy="2636875"/>
            <a:chOff x="1573619" y="2860158"/>
            <a:chExt cx="3561907" cy="2636875"/>
          </a:xfrm>
        </p:grpSpPr>
        <p:sp>
          <p:nvSpPr>
            <p:cNvPr id="30" name="אליפסה 29">
              <a:extLst>
                <a:ext uri="{FF2B5EF4-FFF2-40B4-BE49-F238E27FC236}">
                  <a16:creationId xmlns:a16="http://schemas.microsoft.com/office/drawing/2014/main" id="{0ADF7D4C-BECA-4177-A0F8-309E939A6D8B}"/>
                </a:ext>
              </a:extLst>
            </p:cNvPr>
            <p:cNvSpPr/>
            <p:nvPr/>
          </p:nvSpPr>
          <p:spPr>
            <a:xfrm>
              <a:off x="1998922" y="4189228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1" name="אליפסה 30">
              <a:extLst>
                <a:ext uri="{FF2B5EF4-FFF2-40B4-BE49-F238E27FC236}">
                  <a16:creationId xmlns:a16="http://schemas.microsoft.com/office/drawing/2014/main" id="{FD9C91A1-9ED4-45D5-86BA-168AD5CF793C}"/>
                </a:ext>
              </a:extLst>
            </p:cNvPr>
            <p:cNvSpPr/>
            <p:nvPr/>
          </p:nvSpPr>
          <p:spPr>
            <a:xfrm>
              <a:off x="2480932" y="4947683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2" name="אליפסה 31">
              <a:extLst>
                <a:ext uri="{FF2B5EF4-FFF2-40B4-BE49-F238E27FC236}">
                  <a16:creationId xmlns:a16="http://schemas.microsoft.com/office/drawing/2014/main" id="{D7B519E8-C90D-423E-83FE-E712F818697E}"/>
                </a:ext>
              </a:extLst>
            </p:cNvPr>
            <p:cNvSpPr/>
            <p:nvPr/>
          </p:nvSpPr>
          <p:spPr>
            <a:xfrm>
              <a:off x="2831806" y="3785191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33" name="אליפסה 32">
              <a:extLst>
                <a:ext uri="{FF2B5EF4-FFF2-40B4-BE49-F238E27FC236}">
                  <a16:creationId xmlns:a16="http://schemas.microsoft.com/office/drawing/2014/main" id="{FAB5E9BC-1B06-4C3A-89F9-0289EED01AB3}"/>
                </a:ext>
              </a:extLst>
            </p:cNvPr>
            <p:cNvSpPr/>
            <p:nvPr/>
          </p:nvSpPr>
          <p:spPr>
            <a:xfrm>
              <a:off x="4054549" y="3131288"/>
              <a:ext cx="350874" cy="34024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34" name="אליפסה 33">
              <a:extLst>
                <a:ext uri="{FF2B5EF4-FFF2-40B4-BE49-F238E27FC236}">
                  <a16:creationId xmlns:a16="http://schemas.microsoft.com/office/drawing/2014/main" id="{66B461B4-DEFF-4A1C-BC34-8690E465DDB3}"/>
                </a:ext>
              </a:extLst>
            </p:cNvPr>
            <p:cNvSpPr/>
            <p:nvPr/>
          </p:nvSpPr>
          <p:spPr>
            <a:xfrm>
              <a:off x="4366437" y="4166216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5" name="אליפסה 34">
              <a:extLst>
                <a:ext uri="{FF2B5EF4-FFF2-40B4-BE49-F238E27FC236}">
                  <a16:creationId xmlns:a16="http://schemas.microsoft.com/office/drawing/2014/main" id="{E0F66CD4-D2B4-4EAB-BE6D-FE4FE061678E}"/>
                </a:ext>
              </a:extLst>
            </p:cNvPr>
            <p:cNvSpPr/>
            <p:nvPr/>
          </p:nvSpPr>
          <p:spPr>
            <a:xfrm>
              <a:off x="3703675" y="3671685"/>
              <a:ext cx="350874" cy="34024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/>
                <a:t>?</a:t>
              </a:r>
              <a:endParaRPr lang="en-IL" dirty="0"/>
            </a:p>
          </p:txBody>
        </p:sp>
        <p:sp>
          <p:nvSpPr>
            <p:cNvPr id="36" name="מלבן 35">
              <a:extLst>
                <a:ext uri="{FF2B5EF4-FFF2-40B4-BE49-F238E27FC236}">
                  <a16:creationId xmlns:a16="http://schemas.microsoft.com/office/drawing/2014/main" id="{88F25FAE-FA95-4544-9426-CDCCFE3CBA6B}"/>
                </a:ext>
              </a:extLst>
            </p:cNvPr>
            <p:cNvSpPr/>
            <p:nvPr/>
          </p:nvSpPr>
          <p:spPr>
            <a:xfrm>
              <a:off x="1573619" y="2860158"/>
              <a:ext cx="3561907" cy="26368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265004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C9FE478-8830-419B-8AA8-24461FC46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222" y="1825625"/>
            <a:ext cx="5911548" cy="3783867"/>
          </a:xfrm>
        </p:spPr>
        <p:txBody>
          <a:bodyPr/>
          <a:lstStyle/>
          <a:p>
            <a:r>
              <a:rPr lang="he-IL" dirty="0"/>
              <a:t>נבחר </a:t>
            </a:r>
            <a:r>
              <a:rPr lang="he-IL"/>
              <a:t>את ה-</a:t>
            </a:r>
            <a:r>
              <a:rPr lang="en-US"/>
              <a:t>label</a:t>
            </a:r>
            <a:r>
              <a:rPr lang="he-IL" dirty="0"/>
              <a:t> של רוב הדוגמאות מתוך </a:t>
            </a:r>
            <a:r>
              <a:rPr lang="en-US" dirty="0"/>
              <a:t>K</a:t>
            </a:r>
            <a:r>
              <a:rPr lang="he-IL" dirty="0"/>
              <a:t> השכנים הקרובים</a:t>
            </a:r>
          </a:p>
        </p:txBody>
      </p:sp>
      <p:sp>
        <p:nvSpPr>
          <p:cNvPr id="18" name="מציין מיקום טקסט 17">
            <a:extLst>
              <a:ext uri="{FF2B5EF4-FFF2-40B4-BE49-F238E27FC236}">
                <a16:creationId xmlns:a16="http://schemas.microsoft.com/office/drawing/2014/main" id="{A4D43D80-EF5B-4D4F-BB44-020E6FF7D1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חוק הסיווג</a:t>
            </a:r>
            <a:endParaRPr lang="en-IL" dirty="0"/>
          </a:p>
        </p:txBody>
      </p:sp>
      <p:sp>
        <p:nvSpPr>
          <p:cNvPr id="17" name="מציין מיקום תוכן 2">
            <a:extLst>
              <a:ext uri="{FF2B5EF4-FFF2-40B4-BE49-F238E27FC236}">
                <a16:creationId xmlns:a16="http://schemas.microsoft.com/office/drawing/2014/main" id="{53CD1779-5F5C-4DAE-BFDC-DFE5D430FB42}"/>
              </a:ext>
            </a:extLst>
          </p:cNvPr>
          <p:cNvSpPr txBox="1">
            <a:spLocks/>
          </p:cNvSpPr>
          <p:nvPr/>
        </p:nvSpPr>
        <p:spPr>
          <a:xfrm>
            <a:off x="1233211" y="4552020"/>
            <a:ext cx="10515600" cy="145375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L" dirty="0"/>
          </a:p>
        </p:txBody>
      </p:sp>
      <p:grpSp>
        <p:nvGrpSpPr>
          <p:cNvPr id="30" name="קבוצה 29">
            <a:extLst>
              <a:ext uri="{FF2B5EF4-FFF2-40B4-BE49-F238E27FC236}">
                <a16:creationId xmlns:a16="http://schemas.microsoft.com/office/drawing/2014/main" id="{1A4B2721-6739-4AAC-BC4C-AAB1361F044A}"/>
              </a:ext>
            </a:extLst>
          </p:cNvPr>
          <p:cNvGrpSpPr/>
          <p:nvPr/>
        </p:nvGrpSpPr>
        <p:grpSpPr>
          <a:xfrm>
            <a:off x="330299" y="1915145"/>
            <a:ext cx="3561907" cy="2636875"/>
            <a:chOff x="1573619" y="2860158"/>
            <a:chExt cx="3561907" cy="2636875"/>
          </a:xfrm>
        </p:grpSpPr>
        <p:sp>
          <p:nvSpPr>
            <p:cNvPr id="31" name="אליפסה 30">
              <a:extLst>
                <a:ext uri="{FF2B5EF4-FFF2-40B4-BE49-F238E27FC236}">
                  <a16:creationId xmlns:a16="http://schemas.microsoft.com/office/drawing/2014/main" id="{E1A640BD-7916-4C22-9BAE-90B34C21DD5E}"/>
                </a:ext>
              </a:extLst>
            </p:cNvPr>
            <p:cNvSpPr/>
            <p:nvPr/>
          </p:nvSpPr>
          <p:spPr>
            <a:xfrm>
              <a:off x="1998922" y="4189228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2" name="אליפסה 31">
              <a:extLst>
                <a:ext uri="{FF2B5EF4-FFF2-40B4-BE49-F238E27FC236}">
                  <a16:creationId xmlns:a16="http://schemas.microsoft.com/office/drawing/2014/main" id="{134D604C-2CF2-4269-993C-97C8F2931A55}"/>
                </a:ext>
              </a:extLst>
            </p:cNvPr>
            <p:cNvSpPr/>
            <p:nvPr/>
          </p:nvSpPr>
          <p:spPr>
            <a:xfrm>
              <a:off x="2480932" y="4947683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3" name="אליפסה 32">
              <a:extLst>
                <a:ext uri="{FF2B5EF4-FFF2-40B4-BE49-F238E27FC236}">
                  <a16:creationId xmlns:a16="http://schemas.microsoft.com/office/drawing/2014/main" id="{9E5962F7-3B58-49E7-84EA-05A827AB8EE7}"/>
                </a:ext>
              </a:extLst>
            </p:cNvPr>
            <p:cNvSpPr/>
            <p:nvPr/>
          </p:nvSpPr>
          <p:spPr>
            <a:xfrm>
              <a:off x="2831806" y="3785191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4" name="אליפסה 33">
              <a:extLst>
                <a:ext uri="{FF2B5EF4-FFF2-40B4-BE49-F238E27FC236}">
                  <a16:creationId xmlns:a16="http://schemas.microsoft.com/office/drawing/2014/main" id="{23EFB586-A349-44BF-A010-9AB6D7721391}"/>
                </a:ext>
              </a:extLst>
            </p:cNvPr>
            <p:cNvSpPr/>
            <p:nvPr/>
          </p:nvSpPr>
          <p:spPr>
            <a:xfrm>
              <a:off x="4054549" y="3131288"/>
              <a:ext cx="350874" cy="34024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35" name="אליפסה 34">
              <a:extLst>
                <a:ext uri="{FF2B5EF4-FFF2-40B4-BE49-F238E27FC236}">
                  <a16:creationId xmlns:a16="http://schemas.microsoft.com/office/drawing/2014/main" id="{CF3E6C66-049E-4005-BBE1-F6A2E355A9F1}"/>
                </a:ext>
              </a:extLst>
            </p:cNvPr>
            <p:cNvSpPr/>
            <p:nvPr/>
          </p:nvSpPr>
          <p:spPr>
            <a:xfrm>
              <a:off x="4366437" y="4166216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6" name="אליפסה 35">
              <a:extLst>
                <a:ext uri="{FF2B5EF4-FFF2-40B4-BE49-F238E27FC236}">
                  <a16:creationId xmlns:a16="http://schemas.microsoft.com/office/drawing/2014/main" id="{41DB2FBE-BC8F-45F5-A66D-6805716D9858}"/>
                </a:ext>
              </a:extLst>
            </p:cNvPr>
            <p:cNvSpPr/>
            <p:nvPr/>
          </p:nvSpPr>
          <p:spPr>
            <a:xfrm>
              <a:off x="3703675" y="3671685"/>
              <a:ext cx="350874" cy="34024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/>
                <a:t>?</a:t>
              </a:r>
              <a:endParaRPr lang="en-IL" dirty="0"/>
            </a:p>
          </p:txBody>
        </p:sp>
        <p:sp>
          <p:nvSpPr>
            <p:cNvPr id="37" name="מלבן 36">
              <a:extLst>
                <a:ext uri="{FF2B5EF4-FFF2-40B4-BE49-F238E27FC236}">
                  <a16:creationId xmlns:a16="http://schemas.microsoft.com/office/drawing/2014/main" id="{0CB1B480-2881-44BE-8904-CFCD845CB04A}"/>
                </a:ext>
              </a:extLst>
            </p:cNvPr>
            <p:cNvSpPr/>
            <p:nvPr/>
          </p:nvSpPr>
          <p:spPr>
            <a:xfrm>
              <a:off x="1573619" y="2860158"/>
              <a:ext cx="3561907" cy="26368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2289650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ציין מיקום טקסט 12">
            <a:extLst>
              <a:ext uri="{FF2B5EF4-FFF2-40B4-BE49-F238E27FC236}">
                <a16:creationId xmlns:a16="http://schemas.microsoft.com/office/drawing/2014/main" id="{900F8BE1-1EAC-4BB4-B171-9F0E65DCF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דוגמא – </a:t>
            </a:r>
            <a:r>
              <a:rPr lang="en-US" dirty="0"/>
              <a:t>K=1</a:t>
            </a:r>
            <a:endParaRPr lang="en-IL" dirty="0"/>
          </a:p>
        </p:txBody>
      </p:sp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A9270398-F54C-41A4-9777-839AB4C88D8A}"/>
              </a:ext>
            </a:extLst>
          </p:cNvPr>
          <p:cNvGrpSpPr/>
          <p:nvPr/>
        </p:nvGrpSpPr>
        <p:grpSpPr>
          <a:xfrm>
            <a:off x="4288466" y="1936598"/>
            <a:ext cx="3561907" cy="2636875"/>
            <a:chOff x="1573619" y="2860158"/>
            <a:chExt cx="3561907" cy="2636875"/>
          </a:xfrm>
        </p:grpSpPr>
        <p:sp>
          <p:nvSpPr>
            <p:cNvPr id="22" name="אליפסה 21">
              <a:extLst>
                <a:ext uri="{FF2B5EF4-FFF2-40B4-BE49-F238E27FC236}">
                  <a16:creationId xmlns:a16="http://schemas.microsoft.com/office/drawing/2014/main" id="{6ECE99E2-A401-4DE3-95DD-F4E9C4A7141B}"/>
                </a:ext>
              </a:extLst>
            </p:cNvPr>
            <p:cNvSpPr/>
            <p:nvPr/>
          </p:nvSpPr>
          <p:spPr>
            <a:xfrm>
              <a:off x="1998922" y="4189228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3" name="אליפסה 22">
              <a:extLst>
                <a:ext uri="{FF2B5EF4-FFF2-40B4-BE49-F238E27FC236}">
                  <a16:creationId xmlns:a16="http://schemas.microsoft.com/office/drawing/2014/main" id="{AC8EB388-C307-4E29-B607-DB48CB19C1E4}"/>
                </a:ext>
              </a:extLst>
            </p:cNvPr>
            <p:cNvSpPr/>
            <p:nvPr/>
          </p:nvSpPr>
          <p:spPr>
            <a:xfrm>
              <a:off x="2480932" y="4947683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4" name="אליפסה 23">
              <a:extLst>
                <a:ext uri="{FF2B5EF4-FFF2-40B4-BE49-F238E27FC236}">
                  <a16:creationId xmlns:a16="http://schemas.microsoft.com/office/drawing/2014/main" id="{577A8C9D-D3E3-48F9-8803-7780214D238A}"/>
                </a:ext>
              </a:extLst>
            </p:cNvPr>
            <p:cNvSpPr/>
            <p:nvPr/>
          </p:nvSpPr>
          <p:spPr>
            <a:xfrm>
              <a:off x="2831806" y="3785191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5" name="אליפסה 24">
              <a:extLst>
                <a:ext uri="{FF2B5EF4-FFF2-40B4-BE49-F238E27FC236}">
                  <a16:creationId xmlns:a16="http://schemas.microsoft.com/office/drawing/2014/main" id="{762E8B87-3F6D-49EA-B56B-3363392291D4}"/>
                </a:ext>
              </a:extLst>
            </p:cNvPr>
            <p:cNvSpPr/>
            <p:nvPr/>
          </p:nvSpPr>
          <p:spPr>
            <a:xfrm>
              <a:off x="4054549" y="3131288"/>
              <a:ext cx="350874" cy="34024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6" name="אליפסה 25">
              <a:extLst>
                <a:ext uri="{FF2B5EF4-FFF2-40B4-BE49-F238E27FC236}">
                  <a16:creationId xmlns:a16="http://schemas.microsoft.com/office/drawing/2014/main" id="{89F7E98C-4596-4089-A641-F9E58812F2C1}"/>
                </a:ext>
              </a:extLst>
            </p:cNvPr>
            <p:cNvSpPr/>
            <p:nvPr/>
          </p:nvSpPr>
          <p:spPr>
            <a:xfrm>
              <a:off x="4366437" y="4166216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7" name="אליפסה 26">
              <a:extLst>
                <a:ext uri="{FF2B5EF4-FFF2-40B4-BE49-F238E27FC236}">
                  <a16:creationId xmlns:a16="http://schemas.microsoft.com/office/drawing/2014/main" id="{8B414FCB-BDB7-4814-A7DC-A2E781EF0506}"/>
                </a:ext>
              </a:extLst>
            </p:cNvPr>
            <p:cNvSpPr/>
            <p:nvPr/>
          </p:nvSpPr>
          <p:spPr>
            <a:xfrm>
              <a:off x="3703675" y="3671685"/>
              <a:ext cx="350874" cy="34024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/>
                <a:t>?</a:t>
              </a:r>
              <a:endParaRPr lang="en-IL" dirty="0"/>
            </a:p>
          </p:txBody>
        </p:sp>
        <p:cxnSp>
          <p:nvCxnSpPr>
            <p:cNvPr id="28" name="מחבר חץ ישר 27">
              <a:extLst>
                <a:ext uri="{FF2B5EF4-FFF2-40B4-BE49-F238E27FC236}">
                  <a16:creationId xmlns:a16="http://schemas.microsoft.com/office/drawing/2014/main" id="{5196BBC5-B427-45B4-991D-0AFB9F9C085C}"/>
                </a:ext>
              </a:extLst>
            </p:cNvPr>
            <p:cNvCxnSpPr>
              <a:cxnSpLocks/>
              <a:stCxn id="27" idx="7"/>
              <a:endCxn id="25" idx="3"/>
            </p:cNvCxnSpPr>
            <p:nvPr/>
          </p:nvCxnSpPr>
          <p:spPr>
            <a:xfrm flipV="1">
              <a:off x="4003165" y="3421703"/>
              <a:ext cx="102768" cy="299809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1" name="מלבן 30">
              <a:extLst>
                <a:ext uri="{FF2B5EF4-FFF2-40B4-BE49-F238E27FC236}">
                  <a16:creationId xmlns:a16="http://schemas.microsoft.com/office/drawing/2014/main" id="{9907FD18-5019-4C7F-BB46-F563CE9EA0FD}"/>
                </a:ext>
              </a:extLst>
            </p:cNvPr>
            <p:cNvSpPr/>
            <p:nvPr/>
          </p:nvSpPr>
          <p:spPr>
            <a:xfrm>
              <a:off x="1573619" y="2860158"/>
              <a:ext cx="3561907" cy="26368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grpSp>
        <p:nvGrpSpPr>
          <p:cNvPr id="32" name="קבוצה 31">
            <a:extLst>
              <a:ext uri="{FF2B5EF4-FFF2-40B4-BE49-F238E27FC236}">
                <a16:creationId xmlns:a16="http://schemas.microsoft.com/office/drawing/2014/main" id="{B78611C1-3A13-4358-8136-29B7CE321F15}"/>
              </a:ext>
            </a:extLst>
          </p:cNvPr>
          <p:cNvGrpSpPr/>
          <p:nvPr/>
        </p:nvGrpSpPr>
        <p:grpSpPr>
          <a:xfrm>
            <a:off x="8309803" y="1936598"/>
            <a:ext cx="3561907" cy="2636875"/>
            <a:chOff x="1573619" y="2860158"/>
            <a:chExt cx="3561907" cy="2636875"/>
          </a:xfrm>
        </p:grpSpPr>
        <p:sp>
          <p:nvSpPr>
            <p:cNvPr id="33" name="אליפסה 32">
              <a:extLst>
                <a:ext uri="{FF2B5EF4-FFF2-40B4-BE49-F238E27FC236}">
                  <a16:creationId xmlns:a16="http://schemas.microsoft.com/office/drawing/2014/main" id="{8362E45F-EF16-46E3-9DA5-4ACF9112BAA6}"/>
                </a:ext>
              </a:extLst>
            </p:cNvPr>
            <p:cNvSpPr/>
            <p:nvPr/>
          </p:nvSpPr>
          <p:spPr>
            <a:xfrm>
              <a:off x="1998922" y="4189228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4" name="אליפסה 33">
              <a:extLst>
                <a:ext uri="{FF2B5EF4-FFF2-40B4-BE49-F238E27FC236}">
                  <a16:creationId xmlns:a16="http://schemas.microsoft.com/office/drawing/2014/main" id="{7BA6368F-7CD0-4B22-8F52-61B9628AC647}"/>
                </a:ext>
              </a:extLst>
            </p:cNvPr>
            <p:cNvSpPr/>
            <p:nvPr/>
          </p:nvSpPr>
          <p:spPr>
            <a:xfrm>
              <a:off x="2480932" y="4947683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5" name="אליפסה 34">
              <a:extLst>
                <a:ext uri="{FF2B5EF4-FFF2-40B4-BE49-F238E27FC236}">
                  <a16:creationId xmlns:a16="http://schemas.microsoft.com/office/drawing/2014/main" id="{83E54831-E7B0-4C7A-A627-EBBCD244E649}"/>
                </a:ext>
              </a:extLst>
            </p:cNvPr>
            <p:cNvSpPr/>
            <p:nvPr/>
          </p:nvSpPr>
          <p:spPr>
            <a:xfrm>
              <a:off x="2831806" y="3785191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6" name="אליפסה 35">
              <a:extLst>
                <a:ext uri="{FF2B5EF4-FFF2-40B4-BE49-F238E27FC236}">
                  <a16:creationId xmlns:a16="http://schemas.microsoft.com/office/drawing/2014/main" id="{D7034956-5018-47BF-AA93-7E5C8EB3CFD4}"/>
                </a:ext>
              </a:extLst>
            </p:cNvPr>
            <p:cNvSpPr/>
            <p:nvPr/>
          </p:nvSpPr>
          <p:spPr>
            <a:xfrm>
              <a:off x="4054549" y="3131288"/>
              <a:ext cx="350874" cy="34024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37" name="אליפסה 36">
              <a:extLst>
                <a:ext uri="{FF2B5EF4-FFF2-40B4-BE49-F238E27FC236}">
                  <a16:creationId xmlns:a16="http://schemas.microsoft.com/office/drawing/2014/main" id="{B1265584-027D-485E-AAE0-7F852DDAFF39}"/>
                </a:ext>
              </a:extLst>
            </p:cNvPr>
            <p:cNvSpPr/>
            <p:nvPr/>
          </p:nvSpPr>
          <p:spPr>
            <a:xfrm>
              <a:off x="4366437" y="4166216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8" name="אליפסה 37">
              <a:extLst>
                <a:ext uri="{FF2B5EF4-FFF2-40B4-BE49-F238E27FC236}">
                  <a16:creationId xmlns:a16="http://schemas.microsoft.com/office/drawing/2014/main" id="{DABB3EF0-92E4-45E6-9BCE-3EA08FDE13ED}"/>
                </a:ext>
              </a:extLst>
            </p:cNvPr>
            <p:cNvSpPr/>
            <p:nvPr/>
          </p:nvSpPr>
          <p:spPr>
            <a:xfrm>
              <a:off x="3703675" y="3671685"/>
              <a:ext cx="350874" cy="34024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/>
                <a:t>?</a:t>
              </a:r>
              <a:endParaRPr lang="en-IL" dirty="0"/>
            </a:p>
          </p:txBody>
        </p:sp>
        <p:cxnSp>
          <p:nvCxnSpPr>
            <p:cNvPr id="39" name="מחבר חץ ישר 38">
              <a:extLst>
                <a:ext uri="{FF2B5EF4-FFF2-40B4-BE49-F238E27FC236}">
                  <a16:creationId xmlns:a16="http://schemas.microsoft.com/office/drawing/2014/main" id="{A9993274-D712-462A-B772-CE5907356550}"/>
                </a:ext>
              </a:extLst>
            </p:cNvPr>
            <p:cNvCxnSpPr>
              <a:cxnSpLocks/>
              <a:stCxn id="38" idx="7"/>
              <a:endCxn id="36" idx="3"/>
            </p:cNvCxnSpPr>
            <p:nvPr/>
          </p:nvCxnSpPr>
          <p:spPr>
            <a:xfrm flipV="1">
              <a:off x="4003165" y="3421703"/>
              <a:ext cx="102768" cy="299809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2" name="מלבן 41">
              <a:extLst>
                <a:ext uri="{FF2B5EF4-FFF2-40B4-BE49-F238E27FC236}">
                  <a16:creationId xmlns:a16="http://schemas.microsoft.com/office/drawing/2014/main" id="{4434A61E-F75F-4858-9906-D4A4A77387ED}"/>
                </a:ext>
              </a:extLst>
            </p:cNvPr>
            <p:cNvSpPr/>
            <p:nvPr/>
          </p:nvSpPr>
          <p:spPr>
            <a:xfrm>
              <a:off x="1573619" y="2860158"/>
              <a:ext cx="3561907" cy="26368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sp>
        <p:nvSpPr>
          <p:cNvPr id="43" name="חץ: ימינה 42">
            <a:extLst>
              <a:ext uri="{FF2B5EF4-FFF2-40B4-BE49-F238E27FC236}">
                <a16:creationId xmlns:a16="http://schemas.microsoft.com/office/drawing/2014/main" id="{85130DF1-B0D0-48B7-8A06-D333DB20EE5B}"/>
              </a:ext>
            </a:extLst>
          </p:cNvPr>
          <p:cNvSpPr/>
          <p:nvPr/>
        </p:nvSpPr>
        <p:spPr>
          <a:xfrm>
            <a:off x="3895299" y="2832435"/>
            <a:ext cx="489097" cy="738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4" name="חץ: ימינה 43">
            <a:extLst>
              <a:ext uri="{FF2B5EF4-FFF2-40B4-BE49-F238E27FC236}">
                <a16:creationId xmlns:a16="http://schemas.microsoft.com/office/drawing/2014/main" id="{412D363C-7EA2-4006-BF1D-7C6F8453DB29}"/>
              </a:ext>
            </a:extLst>
          </p:cNvPr>
          <p:cNvSpPr/>
          <p:nvPr/>
        </p:nvSpPr>
        <p:spPr>
          <a:xfrm>
            <a:off x="7860125" y="2856220"/>
            <a:ext cx="479344" cy="738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45" name="קבוצה 44">
            <a:extLst>
              <a:ext uri="{FF2B5EF4-FFF2-40B4-BE49-F238E27FC236}">
                <a16:creationId xmlns:a16="http://schemas.microsoft.com/office/drawing/2014/main" id="{C2BE8D59-E3F1-496A-A2C3-85792E33210D}"/>
              </a:ext>
            </a:extLst>
          </p:cNvPr>
          <p:cNvGrpSpPr/>
          <p:nvPr/>
        </p:nvGrpSpPr>
        <p:grpSpPr>
          <a:xfrm>
            <a:off x="330299" y="1915145"/>
            <a:ext cx="3561907" cy="2636875"/>
            <a:chOff x="1573619" y="2860158"/>
            <a:chExt cx="3561907" cy="2636875"/>
          </a:xfrm>
        </p:grpSpPr>
        <p:sp>
          <p:nvSpPr>
            <p:cNvPr id="46" name="אליפסה 45">
              <a:extLst>
                <a:ext uri="{FF2B5EF4-FFF2-40B4-BE49-F238E27FC236}">
                  <a16:creationId xmlns:a16="http://schemas.microsoft.com/office/drawing/2014/main" id="{F4212F9B-9641-4AC2-8909-86AED7AE8FDD}"/>
                </a:ext>
              </a:extLst>
            </p:cNvPr>
            <p:cNvSpPr/>
            <p:nvPr/>
          </p:nvSpPr>
          <p:spPr>
            <a:xfrm>
              <a:off x="1998922" y="4189228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7" name="אליפסה 46">
              <a:extLst>
                <a:ext uri="{FF2B5EF4-FFF2-40B4-BE49-F238E27FC236}">
                  <a16:creationId xmlns:a16="http://schemas.microsoft.com/office/drawing/2014/main" id="{83CA9CCC-26A2-4A65-9842-D9629EB1058F}"/>
                </a:ext>
              </a:extLst>
            </p:cNvPr>
            <p:cNvSpPr/>
            <p:nvPr/>
          </p:nvSpPr>
          <p:spPr>
            <a:xfrm>
              <a:off x="2480932" y="4947683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8" name="אליפסה 47">
              <a:extLst>
                <a:ext uri="{FF2B5EF4-FFF2-40B4-BE49-F238E27FC236}">
                  <a16:creationId xmlns:a16="http://schemas.microsoft.com/office/drawing/2014/main" id="{14CBAA8D-BBBF-4DEE-B3BA-A58CEB9420DA}"/>
                </a:ext>
              </a:extLst>
            </p:cNvPr>
            <p:cNvSpPr/>
            <p:nvPr/>
          </p:nvSpPr>
          <p:spPr>
            <a:xfrm>
              <a:off x="2831806" y="3785191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9" name="אליפסה 48">
              <a:extLst>
                <a:ext uri="{FF2B5EF4-FFF2-40B4-BE49-F238E27FC236}">
                  <a16:creationId xmlns:a16="http://schemas.microsoft.com/office/drawing/2014/main" id="{C14867DB-8689-472A-B57C-07989FAA197F}"/>
                </a:ext>
              </a:extLst>
            </p:cNvPr>
            <p:cNvSpPr/>
            <p:nvPr/>
          </p:nvSpPr>
          <p:spPr>
            <a:xfrm>
              <a:off x="4054549" y="3131288"/>
              <a:ext cx="350874" cy="34024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50" name="אליפסה 49">
              <a:extLst>
                <a:ext uri="{FF2B5EF4-FFF2-40B4-BE49-F238E27FC236}">
                  <a16:creationId xmlns:a16="http://schemas.microsoft.com/office/drawing/2014/main" id="{FF774539-BE33-46C2-90AB-0B6007E29E21}"/>
                </a:ext>
              </a:extLst>
            </p:cNvPr>
            <p:cNvSpPr/>
            <p:nvPr/>
          </p:nvSpPr>
          <p:spPr>
            <a:xfrm>
              <a:off x="4366437" y="4166216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1" name="אליפסה 50">
              <a:extLst>
                <a:ext uri="{FF2B5EF4-FFF2-40B4-BE49-F238E27FC236}">
                  <a16:creationId xmlns:a16="http://schemas.microsoft.com/office/drawing/2014/main" id="{F39AC16F-D60A-4049-B571-A3DC0A538003}"/>
                </a:ext>
              </a:extLst>
            </p:cNvPr>
            <p:cNvSpPr/>
            <p:nvPr/>
          </p:nvSpPr>
          <p:spPr>
            <a:xfrm>
              <a:off x="3703675" y="3671685"/>
              <a:ext cx="350874" cy="34024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/>
                <a:t>?</a:t>
              </a:r>
              <a:endParaRPr lang="en-IL" dirty="0"/>
            </a:p>
          </p:txBody>
        </p:sp>
        <p:sp>
          <p:nvSpPr>
            <p:cNvPr id="55" name="מלבן 54">
              <a:extLst>
                <a:ext uri="{FF2B5EF4-FFF2-40B4-BE49-F238E27FC236}">
                  <a16:creationId xmlns:a16="http://schemas.microsoft.com/office/drawing/2014/main" id="{30156E29-5F42-4C1A-B7EE-64E5166931BF}"/>
                </a:ext>
              </a:extLst>
            </p:cNvPr>
            <p:cNvSpPr/>
            <p:nvPr/>
          </p:nvSpPr>
          <p:spPr>
            <a:xfrm>
              <a:off x="1573619" y="2860158"/>
              <a:ext cx="3561907" cy="26368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776333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מציין מיקום טקסט 12">
            <a:extLst>
              <a:ext uri="{FF2B5EF4-FFF2-40B4-BE49-F238E27FC236}">
                <a16:creationId xmlns:a16="http://schemas.microsoft.com/office/drawing/2014/main" id="{900F8BE1-1EAC-4BB4-B171-9F0E65DCF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דוגמא – </a:t>
            </a:r>
            <a:r>
              <a:rPr lang="en-US" dirty="0"/>
              <a:t>K=3</a:t>
            </a:r>
            <a:endParaRPr lang="en-IL" dirty="0"/>
          </a:p>
        </p:txBody>
      </p:sp>
      <p:grpSp>
        <p:nvGrpSpPr>
          <p:cNvPr id="21" name="קבוצה 20">
            <a:extLst>
              <a:ext uri="{FF2B5EF4-FFF2-40B4-BE49-F238E27FC236}">
                <a16:creationId xmlns:a16="http://schemas.microsoft.com/office/drawing/2014/main" id="{A9270398-F54C-41A4-9777-839AB4C88D8A}"/>
              </a:ext>
            </a:extLst>
          </p:cNvPr>
          <p:cNvGrpSpPr/>
          <p:nvPr/>
        </p:nvGrpSpPr>
        <p:grpSpPr>
          <a:xfrm>
            <a:off x="4288466" y="1936598"/>
            <a:ext cx="3561907" cy="2636875"/>
            <a:chOff x="1573619" y="2860158"/>
            <a:chExt cx="3561907" cy="2636875"/>
          </a:xfrm>
        </p:grpSpPr>
        <p:sp>
          <p:nvSpPr>
            <p:cNvPr id="22" name="אליפסה 21">
              <a:extLst>
                <a:ext uri="{FF2B5EF4-FFF2-40B4-BE49-F238E27FC236}">
                  <a16:creationId xmlns:a16="http://schemas.microsoft.com/office/drawing/2014/main" id="{6ECE99E2-A401-4DE3-95DD-F4E9C4A7141B}"/>
                </a:ext>
              </a:extLst>
            </p:cNvPr>
            <p:cNvSpPr/>
            <p:nvPr/>
          </p:nvSpPr>
          <p:spPr>
            <a:xfrm>
              <a:off x="1998922" y="4189228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3" name="אליפסה 22">
              <a:extLst>
                <a:ext uri="{FF2B5EF4-FFF2-40B4-BE49-F238E27FC236}">
                  <a16:creationId xmlns:a16="http://schemas.microsoft.com/office/drawing/2014/main" id="{AC8EB388-C307-4E29-B607-DB48CB19C1E4}"/>
                </a:ext>
              </a:extLst>
            </p:cNvPr>
            <p:cNvSpPr/>
            <p:nvPr/>
          </p:nvSpPr>
          <p:spPr>
            <a:xfrm>
              <a:off x="2480932" y="4947683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4" name="אליפסה 23">
              <a:extLst>
                <a:ext uri="{FF2B5EF4-FFF2-40B4-BE49-F238E27FC236}">
                  <a16:creationId xmlns:a16="http://schemas.microsoft.com/office/drawing/2014/main" id="{577A8C9D-D3E3-48F9-8803-7780214D238A}"/>
                </a:ext>
              </a:extLst>
            </p:cNvPr>
            <p:cNvSpPr/>
            <p:nvPr/>
          </p:nvSpPr>
          <p:spPr>
            <a:xfrm>
              <a:off x="2831806" y="3785191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5" name="אליפסה 24">
              <a:extLst>
                <a:ext uri="{FF2B5EF4-FFF2-40B4-BE49-F238E27FC236}">
                  <a16:creationId xmlns:a16="http://schemas.microsoft.com/office/drawing/2014/main" id="{762E8B87-3F6D-49EA-B56B-3363392291D4}"/>
                </a:ext>
              </a:extLst>
            </p:cNvPr>
            <p:cNvSpPr/>
            <p:nvPr/>
          </p:nvSpPr>
          <p:spPr>
            <a:xfrm>
              <a:off x="4054549" y="3131288"/>
              <a:ext cx="350874" cy="34024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26" name="אליפסה 25">
              <a:extLst>
                <a:ext uri="{FF2B5EF4-FFF2-40B4-BE49-F238E27FC236}">
                  <a16:creationId xmlns:a16="http://schemas.microsoft.com/office/drawing/2014/main" id="{89F7E98C-4596-4089-A641-F9E58812F2C1}"/>
                </a:ext>
              </a:extLst>
            </p:cNvPr>
            <p:cNvSpPr/>
            <p:nvPr/>
          </p:nvSpPr>
          <p:spPr>
            <a:xfrm>
              <a:off x="4366437" y="4166216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7" name="אליפסה 26">
              <a:extLst>
                <a:ext uri="{FF2B5EF4-FFF2-40B4-BE49-F238E27FC236}">
                  <a16:creationId xmlns:a16="http://schemas.microsoft.com/office/drawing/2014/main" id="{8B414FCB-BDB7-4814-A7DC-A2E781EF0506}"/>
                </a:ext>
              </a:extLst>
            </p:cNvPr>
            <p:cNvSpPr/>
            <p:nvPr/>
          </p:nvSpPr>
          <p:spPr>
            <a:xfrm>
              <a:off x="3703675" y="3671685"/>
              <a:ext cx="350874" cy="34024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/>
                <a:t>?</a:t>
              </a:r>
              <a:endParaRPr lang="en-IL" dirty="0"/>
            </a:p>
          </p:txBody>
        </p:sp>
        <p:cxnSp>
          <p:nvCxnSpPr>
            <p:cNvPr id="28" name="מחבר חץ ישר 27">
              <a:extLst>
                <a:ext uri="{FF2B5EF4-FFF2-40B4-BE49-F238E27FC236}">
                  <a16:creationId xmlns:a16="http://schemas.microsoft.com/office/drawing/2014/main" id="{5196BBC5-B427-45B4-991D-0AFB9F9C085C}"/>
                </a:ext>
              </a:extLst>
            </p:cNvPr>
            <p:cNvCxnSpPr>
              <a:cxnSpLocks/>
              <a:stCxn id="27" idx="7"/>
              <a:endCxn id="25" idx="3"/>
            </p:cNvCxnSpPr>
            <p:nvPr/>
          </p:nvCxnSpPr>
          <p:spPr>
            <a:xfrm flipV="1">
              <a:off x="4003165" y="3421703"/>
              <a:ext cx="102768" cy="299809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מחבר חץ ישר 28">
              <a:extLst>
                <a:ext uri="{FF2B5EF4-FFF2-40B4-BE49-F238E27FC236}">
                  <a16:creationId xmlns:a16="http://schemas.microsoft.com/office/drawing/2014/main" id="{61624130-924B-46C7-8653-9A46E21F24F8}"/>
                </a:ext>
              </a:extLst>
            </p:cNvPr>
            <p:cNvCxnSpPr>
              <a:stCxn id="27" idx="5"/>
              <a:endCxn id="26" idx="2"/>
            </p:cNvCxnSpPr>
            <p:nvPr/>
          </p:nvCxnSpPr>
          <p:spPr>
            <a:xfrm>
              <a:off x="4003165" y="3962100"/>
              <a:ext cx="363272" cy="374237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מחבר חץ ישר 29">
              <a:extLst>
                <a:ext uri="{FF2B5EF4-FFF2-40B4-BE49-F238E27FC236}">
                  <a16:creationId xmlns:a16="http://schemas.microsoft.com/office/drawing/2014/main" id="{EC3070E7-C9FD-4B7D-BEF0-F3652C1E4D4F}"/>
                </a:ext>
              </a:extLst>
            </p:cNvPr>
            <p:cNvCxnSpPr>
              <a:stCxn id="24" idx="6"/>
              <a:endCxn id="27" idx="2"/>
            </p:cNvCxnSpPr>
            <p:nvPr/>
          </p:nvCxnSpPr>
          <p:spPr>
            <a:xfrm flipV="1">
              <a:off x="3182680" y="3841806"/>
              <a:ext cx="520995" cy="113506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31" name="מלבן 30">
              <a:extLst>
                <a:ext uri="{FF2B5EF4-FFF2-40B4-BE49-F238E27FC236}">
                  <a16:creationId xmlns:a16="http://schemas.microsoft.com/office/drawing/2014/main" id="{9907FD18-5019-4C7F-BB46-F563CE9EA0FD}"/>
                </a:ext>
              </a:extLst>
            </p:cNvPr>
            <p:cNvSpPr/>
            <p:nvPr/>
          </p:nvSpPr>
          <p:spPr>
            <a:xfrm>
              <a:off x="1573619" y="2860158"/>
              <a:ext cx="3561907" cy="26368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grpSp>
        <p:nvGrpSpPr>
          <p:cNvPr id="32" name="קבוצה 31">
            <a:extLst>
              <a:ext uri="{FF2B5EF4-FFF2-40B4-BE49-F238E27FC236}">
                <a16:creationId xmlns:a16="http://schemas.microsoft.com/office/drawing/2014/main" id="{B78611C1-3A13-4358-8136-29B7CE321F15}"/>
              </a:ext>
            </a:extLst>
          </p:cNvPr>
          <p:cNvGrpSpPr/>
          <p:nvPr/>
        </p:nvGrpSpPr>
        <p:grpSpPr>
          <a:xfrm>
            <a:off x="8309803" y="1936598"/>
            <a:ext cx="3561907" cy="2636875"/>
            <a:chOff x="1573619" y="2860158"/>
            <a:chExt cx="3561907" cy="2636875"/>
          </a:xfrm>
        </p:grpSpPr>
        <p:sp>
          <p:nvSpPr>
            <p:cNvPr id="33" name="אליפסה 32">
              <a:extLst>
                <a:ext uri="{FF2B5EF4-FFF2-40B4-BE49-F238E27FC236}">
                  <a16:creationId xmlns:a16="http://schemas.microsoft.com/office/drawing/2014/main" id="{8362E45F-EF16-46E3-9DA5-4ACF9112BAA6}"/>
                </a:ext>
              </a:extLst>
            </p:cNvPr>
            <p:cNvSpPr/>
            <p:nvPr/>
          </p:nvSpPr>
          <p:spPr>
            <a:xfrm>
              <a:off x="1998922" y="4189228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4" name="אליפסה 33">
              <a:extLst>
                <a:ext uri="{FF2B5EF4-FFF2-40B4-BE49-F238E27FC236}">
                  <a16:creationId xmlns:a16="http://schemas.microsoft.com/office/drawing/2014/main" id="{7BA6368F-7CD0-4B22-8F52-61B9628AC647}"/>
                </a:ext>
              </a:extLst>
            </p:cNvPr>
            <p:cNvSpPr/>
            <p:nvPr/>
          </p:nvSpPr>
          <p:spPr>
            <a:xfrm>
              <a:off x="2480932" y="4947683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5" name="אליפסה 34">
              <a:extLst>
                <a:ext uri="{FF2B5EF4-FFF2-40B4-BE49-F238E27FC236}">
                  <a16:creationId xmlns:a16="http://schemas.microsoft.com/office/drawing/2014/main" id="{83E54831-E7B0-4C7A-A627-EBBCD244E649}"/>
                </a:ext>
              </a:extLst>
            </p:cNvPr>
            <p:cNvSpPr/>
            <p:nvPr/>
          </p:nvSpPr>
          <p:spPr>
            <a:xfrm>
              <a:off x="2831806" y="3785191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6" name="אליפסה 35">
              <a:extLst>
                <a:ext uri="{FF2B5EF4-FFF2-40B4-BE49-F238E27FC236}">
                  <a16:creationId xmlns:a16="http://schemas.microsoft.com/office/drawing/2014/main" id="{D7034956-5018-47BF-AA93-7E5C8EB3CFD4}"/>
                </a:ext>
              </a:extLst>
            </p:cNvPr>
            <p:cNvSpPr/>
            <p:nvPr/>
          </p:nvSpPr>
          <p:spPr>
            <a:xfrm>
              <a:off x="4054549" y="3131288"/>
              <a:ext cx="350874" cy="34024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37" name="אליפסה 36">
              <a:extLst>
                <a:ext uri="{FF2B5EF4-FFF2-40B4-BE49-F238E27FC236}">
                  <a16:creationId xmlns:a16="http://schemas.microsoft.com/office/drawing/2014/main" id="{B1265584-027D-485E-AAE0-7F852DDAFF39}"/>
                </a:ext>
              </a:extLst>
            </p:cNvPr>
            <p:cNvSpPr/>
            <p:nvPr/>
          </p:nvSpPr>
          <p:spPr>
            <a:xfrm>
              <a:off x="4366437" y="4166216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8" name="אליפסה 37">
              <a:extLst>
                <a:ext uri="{FF2B5EF4-FFF2-40B4-BE49-F238E27FC236}">
                  <a16:creationId xmlns:a16="http://schemas.microsoft.com/office/drawing/2014/main" id="{DABB3EF0-92E4-45E6-9BCE-3EA08FDE13ED}"/>
                </a:ext>
              </a:extLst>
            </p:cNvPr>
            <p:cNvSpPr/>
            <p:nvPr/>
          </p:nvSpPr>
          <p:spPr>
            <a:xfrm>
              <a:off x="3703675" y="3671685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/>
                <a:t>?</a:t>
              </a:r>
              <a:endParaRPr lang="en-IL" dirty="0"/>
            </a:p>
          </p:txBody>
        </p:sp>
        <p:cxnSp>
          <p:nvCxnSpPr>
            <p:cNvPr id="39" name="מחבר חץ ישר 38">
              <a:extLst>
                <a:ext uri="{FF2B5EF4-FFF2-40B4-BE49-F238E27FC236}">
                  <a16:creationId xmlns:a16="http://schemas.microsoft.com/office/drawing/2014/main" id="{A9993274-D712-462A-B772-CE5907356550}"/>
                </a:ext>
              </a:extLst>
            </p:cNvPr>
            <p:cNvCxnSpPr>
              <a:cxnSpLocks/>
              <a:stCxn id="38" idx="7"/>
              <a:endCxn id="36" idx="3"/>
            </p:cNvCxnSpPr>
            <p:nvPr/>
          </p:nvCxnSpPr>
          <p:spPr>
            <a:xfrm flipV="1">
              <a:off x="4003165" y="3421703"/>
              <a:ext cx="102768" cy="299809"/>
            </a:xfrm>
            <a:prstGeom prst="straightConnector1">
              <a:avLst/>
            </a:prstGeom>
            <a:ln w="38100"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מחבר חץ ישר 39">
              <a:extLst>
                <a:ext uri="{FF2B5EF4-FFF2-40B4-BE49-F238E27FC236}">
                  <a16:creationId xmlns:a16="http://schemas.microsoft.com/office/drawing/2014/main" id="{8802AF01-C956-4E1C-82B2-FCA4F8C8770A}"/>
                </a:ext>
              </a:extLst>
            </p:cNvPr>
            <p:cNvCxnSpPr>
              <a:cxnSpLocks/>
              <a:stCxn id="38" idx="5"/>
              <a:endCxn id="37" idx="2"/>
            </p:cNvCxnSpPr>
            <p:nvPr/>
          </p:nvCxnSpPr>
          <p:spPr>
            <a:xfrm>
              <a:off x="4003165" y="3962100"/>
              <a:ext cx="363272" cy="374237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1" name="מחבר חץ ישר 40">
              <a:extLst>
                <a:ext uri="{FF2B5EF4-FFF2-40B4-BE49-F238E27FC236}">
                  <a16:creationId xmlns:a16="http://schemas.microsoft.com/office/drawing/2014/main" id="{4F1147A5-3A32-4684-AEF4-8377DA13BC98}"/>
                </a:ext>
              </a:extLst>
            </p:cNvPr>
            <p:cNvCxnSpPr>
              <a:cxnSpLocks/>
              <a:stCxn id="35" idx="6"/>
              <a:endCxn id="38" idx="2"/>
            </p:cNvCxnSpPr>
            <p:nvPr/>
          </p:nvCxnSpPr>
          <p:spPr>
            <a:xfrm flipV="1">
              <a:off x="3182680" y="3841806"/>
              <a:ext cx="520995" cy="113506"/>
            </a:xfrm>
            <a:prstGeom prst="straightConnector1">
              <a:avLst/>
            </a:prstGeom>
            <a:ln w="38100">
              <a:solidFill>
                <a:schemeClr val="accent1"/>
              </a:solidFill>
              <a:headEnd type="triangle"/>
              <a:tailEnd type="triangle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42" name="מלבן 41">
              <a:extLst>
                <a:ext uri="{FF2B5EF4-FFF2-40B4-BE49-F238E27FC236}">
                  <a16:creationId xmlns:a16="http://schemas.microsoft.com/office/drawing/2014/main" id="{4434A61E-F75F-4858-9906-D4A4A77387ED}"/>
                </a:ext>
              </a:extLst>
            </p:cNvPr>
            <p:cNvSpPr/>
            <p:nvPr/>
          </p:nvSpPr>
          <p:spPr>
            <a:xfrm>
              <a:off x="1573619" y="2860158"/>
              <a:ext cx="3561907" cy="26368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  <p:sp>
        <p:nvSpPr>
          <p:cNvPr id="43" name="חץ: ימינה 42">
            <a:extLst>
              <a:ext uri="{FF2B5EF4-FFF2-40B4-BE49-F238E27FC236}">
                <a16:creationId xmlns:a16="http://schemas.microsoft.com/office/drawing/2014/main" id="{85130DF1-B0D0-48B7-8A06-D333DB20EE5B}"/>
              </a:ext>
            </a:extLst>
          </p:cNvPr>
          <p:cNvSpPr/>
          <p:nvPr/>
        </p:nvSpPr>
        <p:spPr>
          <a:xfrm>
            <a:off x="3895299" y="2832435"/>
            <a:ext cx="489097" cy="738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4" name="חץ: ימינה 43">
            <a:extLst>
              <a:ext uri="{FF2B5EF4-FFF2-40B4-BE49-F238E27FC236}">
                <a16:creationId xmlns:a16="http://schemas.microsoft.com/office/drawing/2014/main" id="{412D363C-7EA2-4006-BF1D-7C6F8453DB29}"/>
              </a:ext>
            </a:extLst>
          </p:cNvPr>
          <p:cNvSpPr/>
          <p:nvPr/>
        </p:nvSpPr>
        <p:spPr>
          <a:xfrm>
            <a:off x="7860125" y="2856220"/>
            <a:ext cx="479344" cy="738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45" name="קבוצה 44">
            <a:extLst>
              <a:ext uri="{FF2B5EF4-FFF2-40B4-BE49-F238E27FC236}">
                <a16:creationId xmlns:a16="http://schemas.microsoft.com/office/drawing/2014/main" id="{C2BE8D59-E3F1-496A-A2C3-85792E33210D}"/>
              </a:ext>
            </a:extLst>
          </p:cNvPr>
          <p:cNvGrpSpPr/>
          <p:nvPr/>
        </p:nvGrpSpPr>
        <p:grpSpPr>
          <a:xfrm>
            <a:off x="330299" y="1915145"/>
            <a:ext cx="3561907" cy="2636875"/>
            <a:chOff x="1573619" y="2860158"/>
            <a:chExt cx="3561907" cy="2636875"/>
          </a:xfrm>
        </p:grpSpPr>
        <p:sp>
          <p:nvSpPr>
            <p:cNvPr id="46" name="אליפסה 45">
              <a:extLst>
                <a:ext uri="{FF2B5EF4-FFF2-40B4-BE49-F238E27FC236}">
                  <a16:creationId xmlns:a16="http://schemas.microsoft.com/office/drawing/2014/main" id="{F4212F9B-9641-4AC2-8909-86AED7AE8FDD}"/>
                </a:ext>
              </a:extLst>
            </p:cNvPr>
            <p:cNvSpPr/>
            <p:nvPr/>
          </p:nvSpPr>
          <p:spPr>
            <a:xfrm>
              <a:off x="1998922" y="4189228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7" name="אליפסה 46">
              <a:extLst>
                <a:ext uri="{FF2B5EF4-FFF2-40B4-BE49-F238E27FC236}">
                  <a16:creationId xmlns:a16="http://schemas.microsoft.com/office/drawing/2014/main" id="{83CA9CCC-26A2-4A65-9842-D9629EB1058F}"/>
                </a:ext>
              </a:extLst>
            </p:cNvPr>
            <p:cNvSpPr/>
            <p:nvPr/>
          </p:nvSpPr>
          <p:spPr>
            <a:xfrm>
              <a:off x="2480932" y="4947683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8" name="אליפסה 47">
              <a:extLst>
                <a:ext uri="{FF2B5EF4-FFF2-40B4-BE49-F238E27FC236}">
                  <a16:creationId xmlns:a16="http://schemas.microsoft.com/office/drawing/2014/main" id="{14CBAA8D-BBBF-4DEE-B3BA-A58CEB9420DA}"/>
                </a:ext>
              </a:extLst>
            </p:cNvPr>
            <p:cNvSpPr/>
            <p:nvPr/>
          </p:nvSpPr>
          <p:spPr>
            <a:xfrm>
              <a:off x="2831806" y="3785191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49" name="אליפסה 48">
              <a:extLst>
                <a:ext uri="{FF2B5EF4-FFF2-40B4-BE49-F238E27FC236}">
                  <a16:creationId xmlns:a16="http://schemas.microsoft.com/office/drawing/2014/main" id="{C14867DB-8689-472A-B57C-07989FAA197F}"/>
                </a:ext>
              </a:extLst>
            </p:cNvPr>
            <p:cNvSpPr/>
            <p:nvPr/>
          </p:nvSpPr>
          <p:spPr>
            <a:xfrm>
              <a:off x="4054549" y="3131288"/>
              <a:ext cx="350874" cy="340242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  <p:sp>
          <p:nvSpPr>
            <p:cNvPr id="50" name="אליפסה 49">
              <a:extLst>
                <a:ext uri="{FF2B5EF4-FFF2-40B4-BE49-F238E27FC236}">
                  <a16:creationId xmlns:a16="http://schemas.microsoft.com/office/drawing/2014/main" id="{FF774539-BE33-46C2-90AB-0B6007E29E21}"/>
                </a:ext>
              </a:extLst>
            </p:cNvPr>
            <p:cNvSpPr/>
            <p:nvPr/>
          </p:nvSpPr>
          <p:spPr>
            <a:xfrm>
              <a:off x="4366437" y="4166216"/>
              <a:ext cx="350874" cy="34024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51" name="אליפסה 50">
              <a:extLst>
                <a:ext uri="{FF2B5EF4-FFF2-40B4-BE49-F238E27FC236}">
                  <a16:creationId xmlns:a16="http://schemas.microsoft.com/office/drawing/2014/main" id="{F39AC16F-D60A-4049-B571-A3DC0A538003}"/>
                </a:ext>
              </a:extLst>
            </p:cNvPr>
            <p:cNvSpPr/>
            <p:nvPr/>
          </p:nvSpPr>
          <p:spPr>
            <a:xfrm>
              <a:off x="3703675" y="3671685"/>
              <a:ext cx="350874" cy="340242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/>
                <a:t>?</a:t>
              </a:r>
              <a:endParaRPr lang="en-IL" dirty="0"/>
            </a:p>
          </p:txBody>
        </p:sp>
        <p:sp>
          <p:nvSpPr>
            <p:cNvPr id="55" name="מלבן 54">
              <a:extLst>
                <a:ext uri="{FF2B5EF4-FFF2-40B4-BE49-F238E27FC236}">
                  <a16:creationId xmlns:a16="http://schemas.microsoft.com/office/drawing/2014/main" id="{30156E29-5F42-4C1A-B7EE-64E5166931BF}"/>
                </a:ext>
              </a:extLst>
            </p:cNvPr>
            <p:cNvSpPr/>
            <p:nvPr/>
          </p:nvSpPr>
          <p:spPr>
            <a:xfrm>
              <a:off x="1573619" y="2860158"/>
              <a:ext cx="3561907" cy="263687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 dirty="0"/>
            </a:p>
          </p:txBody>
        </p:sp>
      </p:grpSp>
    </p:spTree>
    <p:extLst>
      <p:ext uri="{BB962C8B-B14F-4D97-AF65-F5344CB8AC3E}">
        <p14:creationId xmlns:p14="http://schemas.microsoft.com/office/powerpoint/2010/main" val="45282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F225C8A3-769A-4A06-9D8F-900E7172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משפט פיתגורס</a:t>
            </a:r>
            <a:endParaRPr lang="en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DA373EA-EE87-4421-BE1E-021F918D8B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כיצד נמדוד מרחק?</a:t>
            </a:r>
            <a:endParaRPr lang="en-IL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9A4E7A8-79A1-4918-B124-B6C40B75941D}"/>
              </a:ext>
            </a:extLst>
          </p:cNvPr>
          <p:cNvSpPr/>
          <p:nvPr/>
        </p:nvSpPr>
        <p:spPr>
          <a:xfrm>
            <a:off x="5391609" y="3855007"/>
            <a:ext cx="350874" cy="3402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L" dirty="0"/>
          </a:p>
        </p:txBody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DEA5DA71-3EEA-4E27-8A08-4AB30F3CEC30}"/>
              </a:ext>
            </a:extLst>
          </p:cNvPr>
          <p:cNvSpPr/>
          <p:nvPr/>
        </p:nvSpPr>
        <p:spPr>
          <a:xfrm>
            <a:off x="8216364" y="1817189"/>
            <a:ext cx="350874" cy="3402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L" dirty="0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9F3AC595-A93F-4BB0-83E5-CE306E946F48}"/>
              </a:ext>
            </a:extLst>
          </p:cNvPr>
          <p:cNvCxnSpPr/>
          <p:nvPr/>
        </p:nvCxnSpPr>
        <p:spPr>
          <a:xfrm>
            <a:off x="2946400" y="4991100"/>
            <a:ext cx="591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חץ ישר 17">
            <a:extLst>
              <a:ext uri="{FF2B5EF4-FFF2-40B4-BE49-F238E27FC236}">
                <a16:creationId xmlns:a16="http://schemas.microsoft.com/office/drawing/2014/main" id="{41540845-8E78-4C21-A161-A4B7DD72EE26}"/>
              </a:ext>
            </a:extLst>
          </p:cNvPr>
          <p:cNvCxnSpPr>
            <a:cxnSpLocks/>
          </p:cNvCxnSpPr>
          <p:nvPr/>
        </p:nvCxnSpPr>
        <p:spPr>
          <a:xfrm flipV="1">
            <a:off x="3098800" y="1130300"/>
            <a:ext cx="0" cy="401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F25C5F2F-7296-4C29-8904-C37DDD28F633}"/>
              </a:ext>
            </a:extLst>
          </p:cNvPr>
          <p:cNvSpPr txBox="1"/>
          <p:nvPr/>
        </p:nvSpPr>
        <p:spPr>
          <a:xfrm>
            <a:off x="2429514" y="760968"/>
            <a:ext cx="1338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Sepal length</a:t>
            </a:r>
            <a:endParaRPr lang="en-IL" dirty="0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0D60BA40-0750-4534-9CB2-39AEE6EF6B82}"/>
              </a:ext>
            </a:extLst>
          </p:cNvPr>
          <p:cNvSpPr txBox="1"/>
          <p:nvPr/>
        </p:nvSpPr>
        <p:spPr>
          <a:xfrm>
            <a:off x="8930925" y="4762997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Sepal width</a:t>
            </a:r>
            <a:endParaRPr lang="en-IL" dirty="0"/>
          </a:p>
        </p:txBody>
      </p:sp>
      <p:cxnSp>
        <p:nvCxnSpPr>
          <p:cNvPr id="23" name="מחבר חץ ישר 22">
            <a:extLst>
              <a:ext uri="{FF2B5EF4-FFF2-40B4-BE49-F238E27FC236}">
                <a16:creationId xmlns:a16="http://schemas.microsoft.com/office/drawing/2014/main" id="{1B3133FA-DD8D-4E8B-AE6D-023E42830970}"/>
              </a:ext>
            </a:extLst>
          </p:cNvPr>
          <p:cNvCxnSpPr>
            <a:stCxn id="8" idx="7"/>
            <a:endCxn id="14" idx="3"/>
          </p:cNvCxnSpPr>
          <p:nvPr/>
        </p:nvCxnSpPr>
        <p:spPr>
          <a:xfrm flipV="1">
            <a:off x="5691099" y="2107604"/>
            <a:ext cx="2576649" cy="179723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F7353FF1-5479-40C8-90BF-C5AF5E5CA1C7}"/>
              </a:ext>
            </a:extLst>
          </p:cNvPr>
          <p:cNvSpPr txBox="1"/>
          <p:nvPr/>
        </p:nvSpPr>
        <p:spPr>
          <a:xfrm>
            <a:off x="493868" y="5162114"/>
            <a:ext cx="587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d(A,B) = sqrt( (</a:t>
            </a:r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(</a:t>
            </a:r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en-IL" dirty="0"/>
          </a:p>
        </p:txBody>
      </p:sp>
      <p:pic>
        <p:nvPicPr>
          <p:cNvPr id="12" name="Picture 2" descr="alt-text">
            <a:extLst>
              <a:ext uri="{FF2B5EF4-FFF2-40B4-BE49-F238E27FC236}">
                <a16:creationId xmlns:a16="http://schemas.microsoft.com/office/drawing/2014/main" id="{C7262814-07D5-492D-B000-E6B19923C6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72" r="36457"/>
          <a:stretch/>
        </p:blipFill>
        <p:spPr bwMode="auto">
          <a:xfrm>
            <a:off x="8449227" y="1394132"/>
            <a:ext cx="537578" cy="50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alt-text">
            <a:extLst>
              <a:ext uri="{FF2B5EF4-FFF2-40B4-BE49-F238E27FC236}">
                <a16:creationId xmlns:a16="http://schemas.microsoft.com/office/drawing/2014/main" id="{31C40F02-1C5B-4676-832D-E9E7DEEE02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72" r="36457"/>
          <a:stretch/>
        </p:blipFill>
        <p:spPr bwMode="auto">
          <a:xfrm>
            <a:off x="4874711" y="4071069"/>
            <a:ext cx="537578" cy="504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מחבר חץ ישר 22">
            <a:extLst>
              <a:ext uri="{FF2B5EF4-FFF2-40B4-BE49-F238E27FC236}">
                <a16:creationId xmlns:a16="http://schemas.microsoft.com/office/drawing/2014/main" id="{261AD157-2468-4557-A52A-ABA6CB853639}"/>
              </a:ext>
            </a:extLst>
          </p:cNvPr>
          <p:cNvCxnSpPr>
            <a:cxnSpLocks/>
          </p:cNvCxnSpPr>
          <p:nvPr/>
        </p:nvCxnSpPr>
        <p:spPr>
          <a:xfrm>
            <a:off x="5843499" y="4057234"/>
            <a:ext cx="2548302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מחבר חץ ישר 22">
            <a:extLst>
              <a:ext uri="{FF2B5EF4-FFF2-40B4-BE49-F238E27FC236}">
                <a16:creationId xmlns:a16="http://schemas.microsoft.com/office/drawing/2014/main" id="{B115EA05-194D-4921-8F9A-4ADF41D094FC}"/>
              </a:ext>
            </a:extLst>
          </p:cNvPr>
          <p:cNvCxnSpPr>
            <a:cxnSpLocks/>
          </p:cNvCxnSpPr>
          <p:nvPr/>
        </p:nvCxnSpPr>
        <p:spPr>
          <a:xfrm flipV="1">
            <a:off x="8391801" y="2157431"/>
            <a:ext cx="0" cy="1913638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70576BB-9AB8-40D9-8F94-82943BF49A07}"/>
              </a:ext>
            </a:extLst>
          </p:cNvPr>
          <p:cNvSpPr txBox="1"/>
          <p:nvPr/>
        </p:nvSpPr>
        <p:spPr>
          <a:xfrm>
            <a:off x="8399237" y="2828847"/>
            <a:ext cx="2162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endParaRPr lang="en-I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6F01E2-E8FC-464D-A79B-6A1C31F31233}"/>
              </a:ext>
            </a:extLst>
          </p:cNvPr>
          <p:cNvSpPr txBox="1"/>
          <p:nvPr/>
        </p:nvSpPr>
        <p:spPr>
          <a:xfrm>
            <a:off x="6096000" y="4104919"/>
            <a:ext cx="2105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endParaRPr lang="en-IL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796C4D-474B-45BB-9C97-BB312DE3A1DC}"/>
              </a:ext>
            </a:extLst>
          </p:cNvPr>
          <p:cNvSpPr txBox="1"/>
          <p:nvPr/>
        </p:nvSpPr>
        <p:spPr>
          <a:xfrm>
            <a:off x="6341778" y="2661518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d(A,B)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94315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 animBg="1"/>
      <p:bldP spid="14" grpId="0" animBg="1"/>
      <p:bldP spid="20" grpId="0"/>
      <p:bldP spid="21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F225C8A3-769A-4A06-9D8F-900E7172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משפט פיתגורס</a:t>
            </a:r>
            <a:endParaRPr lang="en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DA373EA-EE87-4421-BE1E-021F918D8B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מרחק עם </a:t>
            </a:r>
            <a:r>
              <a:rPr lang="en-US" dirty="0"/>
              <a:t>3</a:t>
            </a:r>
            <a:r>
              <a:rPr lang="he-IL" dirty="0"/>
              <a:t> מאפיינים</a:t>
            </a:r>
            <a:endParaRPr lang="en-IL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9A4E7A8-79A1-4918-B124-B6C40B75941D}"/>
              </a:ext>
            </a:extLst>
          </p:cNvPr>
          <p:cNvSpPr/>
          <p:nvPr/>
        </p:nvSpPr>
        <p:spPr>
          <a:xfrm>
            <a:off x="5391609" y="3855007"/>
            <a:ext cx="350874" cy="3402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L" dirty="0"/>
          </a:p>
        </p:txBody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DEA5DA71-3EEA-4E27-8A08-4AB30F3CEC30}"/>
              </a:ext>
            </a:extLst>
          </p:cNvPr>
          <p:cNvSpPr/>
          <p:nvPr/>
        </p:nvSpPr>
        <p:spPr>
          <a:xfrm>
            <a:off x="8507650" y="2152230"/>
            <a:ext cx="350874" cy="3402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L" dirty="0"/>
          </a:p>
        </p:txBody>
      </p: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9F3AC595-A93F-4BB0-83E5-CE306E946F48}"/>
              </a:ext>
            </a:extLst>
          </p:cNvPr>
          <p:cNvCxnSpPr/>
          <p:nvPr/>
        </p:nvCxnSpPr>
        <p:spPr>
          <a:xfrm>
            <a:off x="2946400" y="4991100"/>
            <a:ext cx="591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חץ ישר 17">
            <a:extLst>
              <a:ext uri="{FF2B5EF4-FFF2-40B4-BE49-F238E27FC236}">
                <a16:creationId xmlns:a16="http://schemas.microsoft.com/office/drawing/2014/main" id="{41540845-8E78-4C21-A161-A4B7DD72EE26}"/>
              </a:ext>
            </a:extLst>
          </p:cNvPr>
          <p:cNvCxnSpPr>
            <a:cxnSpLocks/>
          </p:cNvCxnSpPr>
          <p:nvPr/>
        </p:nvCxnSpPr>
        <p:spPr>
          <a:xfrm flipV="1">
            <a:off x="3098800" y="1130300"/>
            <a:ext cx="0" cy="401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F25C5F2F-7296-4C29-8904-C37DDD28F633}"/>
              </a:ext>
            </a:extLst>
          </p:cNvPr>
          <p:cNvSpPr txBox="1"/>
          <p:nvPr/>
        </p:nvSpPr>
        <p:spPr>
          <a:xfrm>
            <a:off x="2429514" y="760968"/>
            <a:ext cx="1338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Sepal length</a:t>
            </a:r>
            <a:endParaRPr lang="en-IL" dirty="0"/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0D60BA40-0750-4534-9CB2-39AEE6EF6B82}"/>
              </a:ext>
            </a:extLst>
          </p:cNvPr>
          <p:cNvSpPr txBox="1"/>
          <p:nvPr/>
        </p:nvSpPr>
        <p:spPr>
          <a:xfrm>
            <a:off x="8930925" y="4762997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Sepal width</a:t>
            </a:r>
            <a:endParaRPr lang="en-IL" dirty="0"/>
          </a:p>
        </p:txBody>
      </p:sp>
      <p:cxnSp>
        <p:nvCxnSpPr>
          <p:cNvPr id="23" name="מחבר חץ ישר 22">
            <a:extLst>
              <a:ext uri="{FF2B5EF4-FFF2-40B4-BE49-F238E27FC236}">
                <a16:creationId xmlns:a16="http://schemas.microsoft.com/office/drawing/2014/main" id="{1B3133FA-DD8D-4E8B-AE6D-023E42830970}"/>
              </a:ext>
            </a:extLst>
          </p:cNvPr>
          <p:cNvCxnSpPr>
            <a:cxnSpLocks/>
            <a:stCxn id="8" idx="7"/>
            <a:endCxn id="14" idx="2"/>
          </p:cNvCxnSpPr>
          <p:nvPr/>
        </p:nvCxnSpPr>
        <p:spPr>
          <a:xfrm flipV="1">
            <a:off x="5691099" y="2322351"/>
            <a:ext cx="2816551" cy="158248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F7353FF1-5479-40C8-90BF-C5AF5E5CA1C7}"/>
              </a:ext>
            </a:extLst>
          </p:cNvPr>
          <p:cNvSpPr txBox="1"/>
          <p:nvPr/>
        </p:nvSpPr>
        <p:spPr>
          <a:xfrm>
            <a:off x="493868" y="5162114"/>
            <a:ext cx="8223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d(A,B) = sqrt( (</a:t>
            </a:r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(</a:t>
            </a:r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(</a:t>
            </a:r>
            <a:r>
              <a:rPr lang="en-US" dirty="0" err="1"/>
              <a:t>A</a:t>
            </a:r>
            <a:r>
              <a:rPr lang="en-US" baseline="-25000" dirty="0" err="1"/>
              <a:t>petal</a:t>
            </a:r>
            <a:r>
              <a:rPr lang="en-US" baseline="-25000" dirty="0"/>
              <a:t> length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petal</a:t>
            </a:r>
            <a:r>
              <a:rPr lang="en-US" baseline="-25000" dirty="0"/>
              <a:t> length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en-IL" dirty="0"/>
          </a:p>
        </p:txBody>
      </p:sp>
      <p:cxnSp>
        <p:nvCxnSpPr>
          <p:cNvPr id="12" name="מחבר חץ ישר 11">
            <a:extLst>
              <a:ext uri="{FF2B5EF4-FFF2-40B4-BE49-F238E27FC236}">
                <a16:creationId xmlns:a16="http://schemas.microsoft.com/office/drawing/2014/main" id="{6EE7E554-524E-4279-B726-C9D0CF74235C}"/>
              </a:ext>
            </a:extLst>
          </p:cNvPr>
          <p:cNvCxnSpPr>
            <a:cxnSpLocks/>
          </p:cNvCxnSpPr>
          <p:nvPr/>
        </p:nvCxnSpPr>
        <p:spPr>
          <a:xfrm flipV="1">
            <a:off x="2907652" y="2538986"/>
            <a:ext cx="2659394" cy="2660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89199A87-A2DE-4971-8926-3B283F1D71A8}"/>
              </a:ext>
            </a:extLst>
          </p:cNvPr>
          <p:cNvSpPr txBox="1"/>
          <p:nvPr/>
        </p:nvSpPr>
        <p:spPr>
          <a:xfrm>
            <a:off x="4988296" y="2184220"/>
            <a:ext cx="1297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Petal length</a:t>
            </a:r>
            <a:endParaRPr lang="en-IL" dirty="0"/>
          </a:p>
        </p:txBody>
      </p:sp>
      <p:cxnSp>
        <p:nvCxnSpPr>
          <p:cNvPr id="22" name="מחבר חץ ישר 22">
            <a:extLst>
              <a:ext uri="{FF2B5EF4-FFF2-40B4-BE49-F238E27FC236}">
                <a16:creationId xmlns:a16="http://schemas.microsoft.com/office/drawing/2014/main" id="{62482D7A-9A9A-4F0B-A96F-EFA7AE06B182}"/>
              </a:ext>
            </a:extLst>
          </p:cNvPr>
          <p:cNvCxnSpPr>
            <a:cxnSpLocks/>
          </p:cNvCxnSpPr>
          <p:nvPr/>
        </p:nvCxnSpPr>
        <p:spPr>
          <a:xfrm>
            <a:off x="5843499" y="4057234"/>
            <a:ext cx="2024151" cy="18615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מחבר חץ ישר 22">
            <a:extLst>
              <a:ext uri="{FF2B5EF4-FFF2-40B4-BE49-F238E27FC236}">
                <a16:creationId xmlns:a16="http://schemas.microsoft.com/office/drawing/2014/main" id="{5E510D19-EA5B-4F6E-8530-D2108EF27231}"/>
              </a:ext>
            </a:extLst>
          </p:cNvPr>
          <p:cNvCxnSpPr>
            <a:cxnSpLocks/>
          </p:cNvCxnSpPr>
          <p:nvPr/>
        </p:nvCxnSpPr>
        <p:spPr>
          <a:xfrm flipV="1">
            <a:off x="7859854" y="2953282"/>
            <a:ext cx="7796" cy="110395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חץ ישר 22">
            <a:extLst>
              <a:ext uri="{FF2B5EF4-FFF2-40B4-BE49-F238E27FC236}">
                <a16:creationId xmlns:a16="http://schemas.microsoft.com/office/drawing/2014/main" id="{C23CF83A-2CB0-4B6A-8635-5FC95AA4D8FE}"/>
              </a:ext>
            </a:extLst>
          </p:cNvPr>
          <p:cNvCxnSpPr>
            <a:cxnSpLocks/>
          </p:cNvCxnSpPr>
          <p:nvPr/>
        </p:nvCxnSpPr>
        <p:spPr>
          <a:xfrm flipV="1">
            <a:off x="7859854" y="2415537"/>
            <a:ext cx="707384" cy="58154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03E8BDC-DFBC-49F6-8A3D-83249821E8E3}"/>
              </a:ext>
            </a:extLst>
          </p:cNvPr>
          <p:cNvSpPr txBox="1"/>
          <p:nvPr/>
        </p:nvSpPr>
        <p:spPr>
          <a:xfrm>
            <a:off x="7859854" y="3554116"/>
            <a:ext cx="2150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endParaRPr lang="en-IL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3FCE1D-54D6-43ED-953B-6324D2ED7BA9}"/>
              </a:ext>
            </a:extLst>
          </p:cNvPr>
          <p:cNvSpPr txBox="1"/>
          <p:nvPr/>
        </p:nvSpPr>
        <p:spPr>
          <a:xfrm>
            <a:off x="5951112" y="4051080"/>
            <a:ext cx="201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endParaRPr lang="en-IL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7EB62B-3E47-414D-84FD-3F33C65519F4}"/>
              </a:ext>
            </a:extLst>
          </p:cNvPr>
          <p:cNvSpPr txBox="1"/>
          <p:nvPr/>
        </p:nvSpPr>
        <p:spPr>
          <a:xfrm>
            <a:off x="8246672" y="2618465"/>
            <a:ext cx="2075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</a:t>
            </a:r>
            <a:r>
              <a:rPr lang="en-US" baseline="-25000" dirty="0" err="1"/>
              <a:t>petal</a:t>
            </a:r>
            <a:r>
              <a:rPr lang="en-US" baseline="-25000" dirty="0"/>
              <a:t> length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petal</a:t>
            </a:r>
            <a:r>
              <a:rPr lang="en-US" baseline="-25000" dirty="0"/>
              <a:t> length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4680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8" grpId="0" animBg="1"/>
      <p:bldP spid="14" grpId="0" animBg="1"/>
      <p:bldP spid="20" grpId="0"/>
      <p:bldP spid="21" grpId="0"/>
      <p:bldP spid="2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DA373EA-EE87-4421-BE1E-021F918D8B6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מרחק עם </a:t>
            </a:r>
            <a:r>
              <a:rPr lang="en-US" dirty="0"/>
              <a:t>4</a:t>
            </a:r>
            <a:r>
              <a:rPr lang="he-IL" dirty="0"/>
              <a:t> מאפיינים</a:t>
            </a:r>
            <a:endParaRPr lang="en-IL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9A4E7A8-79A1-4918-B124-B6C40B75941D}"/>
              </a:ext>
            </a:extLst>
          </p:cNvPr>
          <p:cNvSpPr/>
          <p:nvPr/>
        </p:nvSpPr>
        <p:spPr>
          <a:xfrm>
            <a:off x="5391609" y="3855007"/>
            <a:ext cx="350874" cy="3402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  <a:endParaRPr lang="en-IL" dirty="0"/>
          </a:p>
        </p:txBody>
      </p:sp>
      <p:sp>
        <p:nvSpPr>
          <p:cNvPr id="14" name="אליפסה 13">
            <a:extLst>
              <a:ext uri="{FF2B5EF4-FFF2-40B4-BE49-F238E27FC236}">
                <a16:creationId xmlns:a16="http://schemas.microsoft.com/office/drawing/2014/main" id="{DEA5DA71-3EEA-4E27-8A08-4AB30F3CEC30}"/>
              </a:ext>
            </a:extLst>
          </p:cNvPr>
          <p:cNvSpPr/>
          <p:nvPr/>
        </p:nvSpPr>
        <p:spPr>
          <a:xfrm>
            <a:off x="8216364" y="1817189"/>
            <a:ext cx="350874" cy="340242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L" dirty="0"/>
          </a:p>
        </p:txBody>
      </p:sp>
      <p:cxnSp>
        <p:nvCxnSpPr>
          <p:cNvPr id="23" name="מחבר חץ ישר 22">
            <a:extLst>
              <a:ext uri="{FF2B5EF4-FFF2-40B4-BE49-F238E27FC236}">
                <a16:creationId xmlns:a16="http://schemas.microsoft.com/office/drawing/2014/main" id="{1B3133FA-DD8D-4E8B-AE6D-023E42830970}"/>
              </a:ext>
            </a:extLst>
          </p:cNvPr>
          <p:cNvCxnSpPr>
            <a:stCxn id="8" idx="7"/>
            <a:endCxn id="14" idx="3"/>
          </p:cNvCxnSpPr>
          <p:nvPr/>
        </p:nvCxnSpPr>
        <p:spPr>
          <a:xfrm flipV="1">
            <a:off x="5691099" y="2107604"/>
            <a:ext cx="2576649" cy="179723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F7353FF1-5479-40C8-90BF-C5AF5E5CA1C7}"/>
              </a:ext>
            </a:extLst>
          </p:cNvPr>
          <p:cNvSpPr txBox="1"/>
          <p:nvPr/>
        </p:nvSpPr>
        <p:spPr>
          <a:xfrm>
            <a:off x="493868" y="5162114"/>
            <a:ext cx="10237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d(A,B) = sqrt( (</a:t>
            </a:r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length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(</a:t>
            </a:r>
            <a:r>
              <a:rPr lang="en-US" dirty="0" err="1"/>
              <a:t>A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sepal</a:t>
            </a:r>
            <a:r>
              <a:rPr lang="en-US" baseline="-25000" dirty="0"/>
              <a:t> width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(</a:t>
            </a:r>
            <a:r>
              <a:rPr lang="en-US" dirty="0" err="1"/>
              <a:t>A</a:t>
            </a:r>
            <a:r>
              <a:rPr lang="en-US" baseline="-25000" dirty="0" err="1"/>
              <a:t>petal</a:t>
            </a:r>
            <a:r>
              <a:rPr lang="en-US" baseline="-25000" dirty="0"/>
              <a:t> length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petal</a:t>
            </a:r>
            <a:r>
              <a:rPr lang="en-US" baseline="-25000" dirty="0"/>
              <a:t> length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(</a:t>
            </a:r>
            <a:r>
              <a:rPr lang="en-US" dirty="0" err="1"/>
              <a:t>A</a:t>
            </a:r>
            <a:r>
              <a:rPr lang="en-US" baseline="-25000" dirty="0" err="1"/>
              <a:t>petal</a:t>
            </a:r>
            <a:r>
              <a:rPr lang="en-US" baseline="-25000" dirty="0"/>
              <a:t> width</a:t>
            </a:r>
            <a:r>
              <a:rPr lang="en-US" dirty="0"/>
              <a:t>-</a:t>
            </a:r>
            <a:r>
              <a:rPr lang="en-US" dirty="0" err="1"/>
              <a:t>B</a:t>
            </a:r>
            <a:r>
              <a:rPr lang="en-US" baseline="-25000" dirty="0" err="1"/>
              <a:t>petal</a:t>
            </a:r>
            <a:r>
              <a:rPr lang="en-US" baseline="-25000" dirty="0"/>
              <a:t> width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058949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2E0A7807-E77A-4EB6-A295-9825A3D14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dirty="0"/>
              <a:t>The distance between object A with features a1,a2,…</a:t>
            </a:r>
          </a:p>
          <a:p>
            <a:pPr algn="ctr"/>
            <a:r>
              <a:rPr lang="en-US" dirty="0"/>
              <a:t>and object B with features b1,b2,…</a:t>
            </a:r>
          </a:p>
          <a:p>
            <a:pPr algn="ctr"/>
            <a:r>
              <a:rPr lang="en-US" dirty="0"/>
              <a:t>is: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d(A,B) = sqrt ( (a</a:t>
            </a:r>
            <a:r>
              <a:rPr lang="en-US" baseline="-25000" dirty="0"/>
              <a:t>1</a:t>
            </a:r>
            <a:r>
              <a:rPr lang="en-US" dirty="0"/>
              <a:t>-b</a:t>
            </a:r>
            <a:r>
              <a:rPr lang="en-US" baseline="-25000" dirty="0"/>
              <a:t>1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(a</a:t>
            </a:r>
            <a:r>
              <a:rPr lang="en-US" baseline="-25000" dirty="0"/>
              <a:t>2</a:t>
            </a:r>
            <a:r>
              <a:rPr lang="en-US" dirty="0"/>
              <a:t>-b</a:t>
            </a:r>
            <a:r>
              <a:rPr lang="en-US" baseline="-25000" dirty="0"/>
              <a:t>2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+ … + (a</a:t>
            </a:r>
            <a:r>
              <a:rPr lang="en-US" baseline="-25000" dirty="0"/>
              <a:t>n</a:t>
            </a:r>
            <a:r>
              <a:rPr lang="en-US" dirty="0"/>
              <a:t>-b</a:t>
            </a:r>
            <a:r>
              <a:rPr lang="en-US" baseline="-25000" dirty="0"/>
              <a:t>n</a:t>
            </a:r>
            <a:r>
              <a:rPr lang="en-US" dirty="0"/>
              <a:t>)</a:t>
            </a:r>
            <a:r>
              <a:rPr lang="en-US" baseline="30000" dirty="0"/>
              <a:t>2</a:t>
            </a:r>
            <a:r>
              <a:rPr lang="en-US" dirty="0"/>
              <a:t> )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6AC8CFA-9BFE-4F47-82E6-A6620C496F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מרחק עם </a:t>
            </a:r>
            <a:r>
              <a:rPr lang="en-US" dirty="0"/>
              <a:t>n</a:t>
            </a:r>
            <a:r>
              <a:rPr lang="he-IL" dirty="0"/>
              <a:t> מאפיינים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11874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 algn="l" rtl="0">
              <a:spcAft>
                <a:spcPts val="1600"/>
              </a:spcAft>
              <a:buNone/>
            </a:pPr>
            <a:endParaRPr/>
          </a:p>
        </p:txBody>
      </p:sp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300" y="1111018"/>
            <a:ext cx="11709400" cy="527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/>
        </p:nvSpPr>
        <p:spPr>
          <a:xfrm>
            <a:off x="4096000" y="3157434"/>
            <a:ext cx="4000000" cy="1313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iw" sz="6933" b="1">
                <a:solidFill>
                  <a:srgbClr val="1C4587"/>
                </a:solidFill>
                <a:latin typeface="Assistant"/>
                <a:ea typeface="Assistant"/>
                <a:cs typeface="Assistant"/>
                <a:sym typeface="Assistant"/>
              </a:rPr>
              <a:t>OR</a:t>
            </a:r>
            <a:endParaRPr sz="2400"/>
          </a:p>
        </p:txBody>
      </p:sp>
      <p:sp>
        <p:nvSpPr>
          <p:cNvPr id="2" name="Google Shape;215;p36">
            <a:extLst>
              <a:ext uri="{FF2B5EF4-FFF2-40B4-BE49-F238E27FC236}">
                <a16:creationId xmlns:a16="http://schemas.microsoft.com/office/drawing/2014/main" id="{BFA4C925-7886-F7F9-D09A-CC23A80028E2}"/>
              </a:ext>
            </a:extLst>
          </p:cNvPr>
          <p:cNvSpPr txBox="1"/>
          <p:nvPr/>
        </p:nvSpPr>
        <p:spPr>
          <a:xfrm>
            <a:off x="7108206" y="6547832"/>
            <a:ext cx="32688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200" b="1">
                <a:solidFill>
                  <a:schemeClr val="dk2"/>
                </a:solidFill>
              </a:rPr>
              <a:t>מתוך </a:t>
            </a:r>
            <a:r>
              <a:rPr lang="iw" sz="1200" b="1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המצגת</a:t>
            </a:r>
            <a:r>
              <a:rPr lang="iw" sz="1200" b="1">
                <a:solidFill>
                  <a:schemeClr val="dk2"/>
                </a:solidFill>
              </a:rPr>
              <a:t> של המרצה </a:t>
            </a:r>
            <a:r>
              <a:rPr lang="he-IL" sz="1200" b="1">
                <a:solidFill>
                  <a:schemeClr val="dk2"/>
                </a:solidFill>
              </a:rPr>
              <a:t>שרית לולב</a:t>
            </a:r>
            <a:endParaRPr sz="900" b="1">
              <a:solidFill>
                <a:schemeClr val="dk1"/>
              </a:solidFill>
            </a:endParaRPr>
          </a:p>
          <a:p>
            <a:pPr marL="45720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>
            <a:spLocks noGrp="1"/>
          </p:cNvSpPr>
          <p:nvPr>
            <p:ph type="body" idx="1"/>
          </p:nvPr>
        </p:nvSpPr>
        <p:spPr>
          <a:xfrm>
            <a:off x="0" y="1019067"/>
            <a:ext cx="121920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 algn="ctr">
              <a:spcAft>
                <a:spcPts val="1600"/>
              </a:spcAft>
              <a:buNone/>
            </a:pPr>
            <a:r>
              <a:rPr lang="iw" sz="2933"/>
              <a:t>בידינו מאגר נתונים של מתכונים המסווגים לשני סוגים: Muffin ו Cupca</a:t>
            </a:r>
            <a:r>
              <a:rPr lang="en-US" sz="2933"/>
              <a:t>k</a:t>
            </a:r>
            <a:r>
              <a:rPr lang="iw" sz="2933"/>
              <a:t>e:</a:t>
            </a:r>
            <a:br>
              <a:rPr lang="iw" sz="2933"/>
            </a:br>
            <a:r>
              <a:rPr lang="iw" sz="2133"/>
              <a:t>לכל מתכון מוגדרים מספר מאפיינים (תכונות) כמו: כמות קמח, חלב, סוכר, חמאה, ביצים, אבקת אפייה, וניל ומלח</a:t>
            </a:r>
            <a:endParaRPr sz="2133"/>
          </a:p>
        </p:txBody>
      </p:sp>
      <p:sp>
        <p:nvSpPr>
          <p:cNvPr id="147" name="Google Shape;147;p28"/>
          <p:cNvSpPr txBox="1"/>
          <p:nvPr/>
        </p:nvSpPr>
        <p:spPr>
          <a:xfrm>
            <a:off x="0" y="327500"/>
            <a:ext cx="1219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algn="ctr" rtl="1"/>
            <a:r>
              <a:rPr lang="iw" sz="3733" b="1" u="sng">
                <a:solidFill>
                  <a:srgbClr val="073763"/>
                </a:solidFill>
              </a:rPr>
              <a:t>דוגמה</a:t>
            </a:r>
            <a:endParaRPr sz="3733" b="1" u="sng">
              <a:solidFill>
                <a:srgbClr val="073763"/>
              </a:solidFill>
            </a:endParaRPr>
          </a:p>
        </p:txBody>
      </p:sp>
      <p:pic>
        <p:nvPicPr>
          <p:cNvPr id="148" name="Google Shape;14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400" y="2183367"/>
            <a:ext cx="8585200" cy="33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/>
        </p:nvSpPr>
        <p:spPr>
          <a:xfrm>
            <a:off x="0" y="5675867"/>
            <a:ext cx="12192000" cy="765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>
              <a:lnSpc>
                <a:spcPct val="115000"/>
              </a:lnSpc>
            </a:pPr>
            <a:r>
              <a:rPr lang="iw" sz="2933" b="1">
                <a:solidFill>
                  <a:schemeClr val="dk2"/>
                </a:solidFill>
                <a:highlight>
                  <a:srgbClr val="FFF2CC"/>
                </a:highlight>
              </a:rPr>
              <a:t>נרצה לקבל מתכון חדש ולקבוע האם הוא נחשב למאפין או קאפקייקס</a:t>
            </a:r>
            <a:endParaRPr sz="3467" b="1">
              <a:solidFill>
                <a:schemeClr val="dk1"/>
              </a:solidFill>
              <a:highlight>
                <a:srgbClr val="FFF2CC"/>
              </a:highlight>
            </a:endParaRPr>
          </a:p>
        </p:txBody>
      </p:sp>
      <p:sp>
        <p:nvSpPr>
          <p:cNvPr id="2" name="Google Shape;215;p36">
            <a:extLst>
              <a:ext uri="{FF2B5EF4-FFF2-40B4-BE49-F238E27FC236}">
                <a16:creationId xmlns:a16="http://schemas.microsoft.com/office/drawing/2014/main" id="{BA5AD161-52B0-AA93-8473-FE0EE940E93E}"/>
              </a:ext>
            </a:extLst>
          </p:cNvPr>
          <p:cNvSpPr txBox="1"/>
          <p:nvPr/>
        </p:nvSpPr>
        <p:spPr>
          <a:xfrm>
            <a:off x="7119800" y="6543005"/>
            <a:ext cx="32688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200" b="1">
                <a:solidFill>
                  <a:schemeClr val="dk2"/>
                </a:solidFill>
              </a:rPr>
              <a:t>מתוך </a:t>
            </a:r>
            <a:r>
              <a:rPr lang="iw" sz="1200" b="1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המצגת</a:t>
            </a:r>
            <a:r>
              <a:rPr lang="iw" sz="1200" b="1">
                <a:solidFill>
                  <a:schemeClr val="dk2"/>
                </a:solidFill>
              </a:rPr>
              <a:t> של המרצה </a:t>
            </a:r>
            <a:r>
              <a:rPr lang="he-IL" sz="1200" b="1">
                <a:solidFill>
                  <a:schemeClr val="dk2"/>
                </a:solidFill>
              </a:rPr>
              <a:t>שרית לולב</a:t>
            </a:r>
            <a:endParaRPr sz="900" b="1">
              <a:solidFill>
                <a:schemeClr val="dk1"/>
              </a:solidFill>
            </a:endParaRPr>
          </a:p>
          <a:p>
            <a:pPr marL="45720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>
            <a:spLocks noGrp="1"/>
          </p:cNvSpPr>
          <p:nvPr>
            <p:ph type="body" idx="1"/>
          </p:nvPr>
        </p:nvSpPr>
        <p:spPr>
          <a:xfrm>
            <a:off x="4788767" y="1019067"/>
            <a:ext cx="7403600" cy="5019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r>
              <a:rPr lang="iw"/>
              <a:t>לצורך הסבר האלגוריתם נבחרו מתוך כל התכונות המאפיינות מתכון רק שתי תכונות.</a:t>
            </a:r>
            <a:endParaRPr/>
          </a:p>
          <a:p>
            <a:pPr marL="0" indent="0">
              <a:spcBef>
                <a:spcPts val="1600"/>
              </a:spcBef>
              <a:buNone/>
            </a:pPr>
            <a:r>
              <a:rPr lang="iw"/>
              <a:t>מתוך הנתונים המופיעים בגרף:</a:t>
            </a:r>
            <a:endParaRPr/>
          </a:p>
          <a:p>
            <a:pPr indent="-482588">
              <a:spcBef>
                <a:spcPts val="1600"/>
              </a:spcBef>
              <a:buSzPts val="2100"/>
              <a:buChar char="-"/>
            </a:pPr>
            <a:r>
              <a:rPr lang="iw"/>
              <a:t>כמה דוגמאות אימון יש?</a:t>
            </a:r>
            <a:endParaRPr/>
          </a:p>
          <a:p>
            <a:pPr indent="-482588">
              <a:buSzPts val="2100"/>
              <a:buChar char="-"/>
            </a:pPr>
            <a:r>
              <a:rPr lang="iw"/>
              <a:t>אילו תכונות נבחרו?</a:t>
            </a:r>
            <a:endParaRPr/>
          </a:p>
          <a:p>
            <a:pPr indent="-482588">
              <a:buSzPts val="2100"/>
              <a:buChar char="-"/>
            </a:pPr>
            <a:r>
              <a:rPr lang="iw"/>
              <a:t>איזה סיווג הייתם בוחרים עבור </a:t>
            </a:r>
            <a:endParaRPr/>
          </a:p>
          <a:p>
            <a:pPr lvl="1" indent="-482588">
              <a:buSzPts val="2100"/>
              <a:buChar char="-"/>
            </a:pPr>
            <a:r>
              <a:rPr lang="iw" sz="2800"/>
              <a:t>הנקודה הירוקה?</a:t>
            </a:r>
            <a:endParaRPr sz="2800"/>
          </a:p>
          <a:p>
            <a:pPr lvl="1" indent="-482588">
              <a:buSzPts val="2100"/>
              <a:buChar char="-"/>
            </a:pPr>
            <a:r>
              <a:rPr lang="iw" sz="2800"/>
              <a:t>הנקודה הצהובה?</a:t>
            </a:r>
            <a:endParaRPr sz="2800"/>
          </a:p>
          <a:p>
            <a:pPr lvl="1" indent="-482588">
              <a:buSzPts val="2100"/>
              <a:buChar char="-"/>
            </a:pPr>
            <a:r>
              <a:rPr lang="iw" sz="2800"/>
              <a:t>הנקודה הכחולה?</a:t>
            </a:r>
            <a:endParaRPr sz="2800"/>
          </a:p>
        </p:txBody>
      </p:sp>
      <p:sp>
        <p:nvSpPr>
          <p:cNvPr id="155" name="Google Shape;155;p29"/>
          <p:cNvSpPr txBox="1"/>
          <p:nvPr/>
        </p:nvSpPr>
        <p:spPr>
          <a:xfrm>
            <a:off x="0" y="327500"/>
            <a:ext cx="1219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algn="ctr" rtl="1"/>
            <a:r>
              <a:rPr lang="iw" sz="3733" b="1" u="sng">
                <a:solidFill>
                  <a:srgbClr val="073763"/>
                </a:solidFill>
              </a:rPr>
              <a:t>אלגוריתם השכן הקרוב ביותר - NN</a:t>
            </a:r>
            <a:endParaRPr sz="3733" b="1" u="sng">
              <a:solidFill>
                <a:srgbClr val="073763"/>
              </a:solidFill>
            </a:endParaRPr>
          </a:p>
        </p:txBody>
      </p:sp>
      <p:pic>
        <p:nvPicPr>
          <p:cNvPr id="156" name="Google Shape;15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900" y="1466500"/>
            <a:ext cx="48514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/>
          <p:nvPr/>
        </p:nvSpPr>
        <p:spPr>
          <a:xfrm>
            <a:off x="3914233" y="3849533"/>
            <a:ext cx="372000" cy="372000"/>
          </a:xfrm>
          <a:prstGeom prst="ellipse">
            <a:avLst/>
          </a:prstGeom>
          <a:solidFill>
            <a:srgbClr val="6AA84F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8" name="Google Shape;158;p29"/>
          <p:cNvSpPr/>
          <p:nvPr/>
        </p:nvSpPr>
        <p:spPr>
          <a:xfrm>
            <a:off x="3025567" y="4035533"/>
            <a:ext cx="372000" cy="372000"/>
          </a:xfrm>
          <a:prstGeom prst="ellipse">
            <a:avLst/>
          </a:prstGeom>
          <a:solidFill>
            <a:srgbClr val="F1C232"/>
          </a:solidFill>
          <a:ln w="9525" cap="flat" cmpd="sng">
            <a:solidFill>
              <a:srgbClr val="BF9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59" name="Google Shape;159;p29"/>
          <p:cNvSpPr/>
          <p:nvPr/>
        </p:nvSpPr>
        <p:spPr>
          <a:xfrm>
            <a:off x="1634367" y="3328500"/>
            <a:ext cx="372000" cy="3720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Google Shape;215;p36">
            <a:extLst>
              <a:ext uri="{FF2B5EF4-FFF2-40B4-BE49-F238E27FC236}">
                <a16:creationId xmlns:a16="http://schemas.microsoft.com/office/drawing/2014/main" id="{1E9E8BBA-380F-7127-1B7D-1A26F1743A14}"/>
              </a:ext>
            </a:extLst>
          </p:cNvPr>
          <p:cNvSpPr txBox="1"/>
          <p:nvPr/>
        </p:nvSpPr>
        <p:spPr>
          <a:xfrm>
            <a:off x="7168591" y="6530500"/>
            <a:ext cx="32688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200" b="1">
                <a:solidFill>
                  <a:schemeClr val="dk2"/>
                </a:solidFill>
              </a:rPr>
              <a:t>מתוך </a:t>
            </a:r>
            <a:r>
              <a:rPr lang="iw" sz="1200" b="1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המצגת</a:t>
            </a:r>
            <a:r>
              <a:rPr lang="iw" sz="1200" b="1">
                <a:solidFill>
                  <a:schemeClr val="dk2"/>
                </a:solidFill>
              </a:rPr>
              <a:t> של המרצה </a:t>
            </a:r>
            <a:r>
              <a:rPr lang="he-IL" sz="1200" b="1">
                <a:solidFill>
                  <a:schemeClr val="dk2"/>
                </a:solidFill>
              </a:rPr>
              <a:t>שרית לולב</a:t>
            </a:r>
            <a:endParaRPr sz="900" b="1">
              <a:solidFill>
                <a:schemeClr val="dk1"/>
              </a:solidFill>
            </a:endParaRPr>
          </a:p>
          <a:p>
            <a:pPr marL="45720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>
            <a:spLocks noGrp="1"/>
          </p:cNvSpPr>
          <p:nvPr>
            <p:ph type="body" idx="1"/>
          </p:nvPr>
        </p:nvSpPr>
        <p:spPr>
          <a:xfrm>
            <a:off x="356033" y="1253000"/>
            <a:ext cx="11758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Bef>
                <a:spcPts val="933"/>
              </a:spcBef>
              <a:buNone/>
            </a:pPr>
            <a:r>
              <a:rPr lang="iw"/>
              <a:t>נסתכל על שתי הרשומות הבאות:</a:t>
            </a:r>
            <a:endParaRPr/>
          </a:p>
          <a:p>
            <a:pPr marL="0" indent="0">
              <a:spcBef>
                <a:spcPts val="933"/>
              </a:spcBef>
              <a:buNone/>
            </a:pPr>
            <a:endParaRPr/>
          </a:p>
          <a:p>
            <a:pPr marL="0" indent="0">
              <a:spcBef>
                <a:spcPts val="800"/>
              </a:spcBef>
              <a:buNone/>
            </a:pPr>
            <a:endParaRPr/>
          </a:p>
          <a:p>
            <a:pPr marL="0" indent="0">
              <a:spcBef>
                <a:spcPts val="1600"/>
              </a:spcBef>
              <a:buNone/>
            </a:pPr>
            <a:endParaRPr/>
          </a:p>
          <a:p>
            <a:pPr marL="0" indent="0">
              <a:spcBef>
                <a:spcPts val="933"/>
              </a:spcBef>
              <a:buClr>
                <a:schemeClr val="dk1"/>
              </a:buClr>
              <a:buSzPts val="1100"/>
              <a:buNone/>
            </a:pPr>
            <a:r>
              <a:rPr lang="iw" b="1"/>
              <a:t>נחשב את המרחק בין מתכון 1 למתכון 2:</a:t>
            </a:r>
            <a:endParaRPr b="1"/>
          </a:p>
          <a:p>
            <a:pPr marL="0" indent="0">
              <a:spcBef>
                <a:spcPts val="8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81" name="Google Shape;181;p32"/>
          <p:cNvSpPr txBox="1"/>
          <p:nvPr/>
        </p:nvSpPr>
        <p:spPr>
          <a:xfrm>
            <a:off x="0" y="327500"/>
            <a:ext cx="12192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lnSpcReduction="10000"/>
          </a:bodyPr>
          <a:lstStyle/>
          <a:p>
            <a:pPr algn="ctr" rtl="1"/>
            <a:r>
              <a:rPr lang="iw" sz="3733" b="1" u="sng">
                <a:solidFill>
                  <a:srgbClr val="073763"/>
                </a:solidFill>
              </a:rPr>
              <a:t>אלגוריתם השכן הקרוב ביותר - NN - חישוב מרחק</a:t>
            </a:r>
            <a:endParaRPr sz="3733" b="1" u="sng">
              <a:solidFill>
                <a:srgbClr val="073763"/>
              </a:solidFill>
            </a:endParaRPr>
          </a:p>
        </p:txBody>
      </p:sp>
      <p:pic>
        <p:nvPicPr>
          <p:cNvPr id="182" name="Google Shape;182;p32"/>
          <p:cNvPicPr preferRelativeResize="0"/>
          <p:nvPr/>
        </p:nvPicPr>
        <p:blipFill rotWithShape="1">
          <a:blip r:embed="rId3">
            <a:alphaModFix/>
          </a:blip>
          <a:srcRect b="58851"/>
          <a:stretch/>
        </p:blipFill>
        <p:spPr>
          <a:xfrm>
            <a:off x="1942833" y="2033667"/>
            <a:ext cx="8585200" cy="1395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8133" y="2488996"/>
            <a:ext cx="395600" cy="39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8133" y="3002200"/>
            <a:ext cx="395600" cy="369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59618" y="4286100"/>
            <a:ext cx="9420316" cy="115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2"/>
          <p:cNvSpPr txBox="1"/>
          <p:nvPr/>
        </p:nvSpPr>
        <p:spPr>
          <a:xfrm>
            <a:off x="0" y="4768284"/>
            <a:ext cx="4000000" cy="946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lang="iw" sz="2800">
                <a:solidFill>
                  <a:schemeClr val="dk2"/>
                </a:solidFill>
              </a:rPr>
              <a:t>d</a:t>
            </a:r>
            <a:r>
              <a:rPr lang="en-US" sz="2267" i="1">
                <a:solidFill>
                  <a:schemeClr val="dk2"/>
                </a:solidFill>
              </a:rPr>
              <a:t>(recipe1, receipe2)=</a:t>
            </a:r>
            <a:endParaRPr sz="2267" i="1">
              <a:solidFill>
                <a:schemeClr val="dk2"/>
              </a:solidFill>
            </a:endParaRPr>
          </a:p>
        </p:txBody>
      </p:sp>
      <p:sp>
        <p:nvSpPr>
          <p:cNvPr id="2" name="Google Shape;215;p36">
            <a:extLst>
              <a:ext uri="{FF2B5EF4-FFF2-40B4-BE49-F238E27FC236}">
                <a16:creationId xmlns:a16="http://schemas.microsoft.com/office/drawing/2014/main" id="{F37BAF96-B70A-41AA-72DE-B11A588285E4}"/>
              </a:ext>
            </a:extLst>
          </p:cNvPr>
          <p:cNvSpPr txBox="1"/>
          <p:nvPr/>
        </p:nvSpPr>
        <p:spPr>
          <a:xfrm>
            <a:off x="7168591" y="6565309"/>
            <a:ext cx="32688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w" sz="1200" b="1">
                <a:solidFill>
                  <a:schemeClr val="dk2"/>
                </a:solidFill>
              </a:rPr>
              <a:t>מתוך </a:t>
            </a:r>
            <a:r>
              <a:rPr lang="iw" sz="1200" b="1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המצגת</a:t>
            </a:r>
            <a:r>
              <a:rPr lang="iw" sz="1200" b="1">
                <a:solidFill>
                  <a:schemeClr val="dk2"/>
                </a:solidFill>
              </a:rPr>
              <a:t> של המרצה </a:t>
            </a:r>
            <a:r>
              <a:rPr lang="he-IL" sz="1200" b="1">
                <a:solidFill>
                  <a:schemeClr val="dk2"/>
                </a:solidFill>
              </a:rPr>
              <a:t>שרית לולב</a:t>
            </a:r>
            <a:endParaRPr sz="900" b="1">
              <a:solidFill>
                <a:schemeClr val="dk1"/>
              </a:solidFill>
            </a:endParaRPr>
          </a:p>
          <a:p>
            <a:pPr marL="457200" lvl="0" indent="0" algn="r" rtl="1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F613811-0006-E722-D7D8-66E4AC979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/>
              <a:t>סיכום ביצוע אלגוריתם </a:t>
            </a:r>
            <a:r>
              <a:rPr lang="en-US"/>
              <a:t>KNN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C39743B-393F-C22F-0F7F-1925EA3333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שלב האימון (</a:t>
            </a:r>
            <a:r>
              <a:rPr lang="en-US"/>
              <a:t>fit</a:t>
            </a:r>
            <a:r>
              <a:rPr lang="he-IL"/>
              <a:t>):</a:t>
            </a:r>
          </a:p>
          <a:p>
            <a:pPr lvl="1"/>
            <a:r>
              <a:rPr lang="he-IL"/>
              <a:t>שמירת נתונים במאגר</a:t>
            </a:r>
          </a:p>
          <a:p>
            <a:r>
              <a:rPr lang="he-IL"/>
              <a:t>שלב החיזוי (</a:t>
            </a:r>
            <a:r>
              <a:rPr lang="en-US"/>
              <a:t>predict</a:t>
            </a:r>
            <a:r>
              <a:rPr lang="he-IL"/>
              <a:t>):</a:t>
            </a:r>
          </a:p>
          <a:p>
            <a:pPr lvl="1"/>
            <a:r>
              <a:rPr lang="he-IL"/>
              <a:t>קבלת דוגמאות לחיזוי</a:t>
            </a:r>
          </a:p>
          <a:p>
            <a:pPr lvl="1"/>
            <a:r>
              <a:rPr lang="he-IL"/>
              <a:t>בעבור כל דוגמה</a:t>
            </a:r>
          </a:p>
          <a:p>
            <a:pPr lvl="2"/>
            <a:r>
              <a:rPr lang="he-IL"/>
              <a:t>מציאת המרחקים של הדוגמה מכל הדוגמאות שבמאגר האימון</a:t>
            </a:r>
          </a:p>
          <a:p>
            <a:pPr lvl="2"/>
            <a:r>
              <a:rPr lang="he-IL"/>
              <a:t>מציאת </a:t>
            </a:r>
            <a:r>
              <a:rPr lang="en-US"/>
              <a:t>K</a:t>
            </a:r>
            <a:r>
              <a:rPr lang="he-IL"/>
              <a:t> השכנים הקרובים ביותר</a:t>
            </a:r>
          </a:p>
          <a:p>
            <a:pPr lvl="3"/>
            <a:r>
              <a:rPr lang="he-IL"/>
              <a:t>באמצעות לולאה מקוננת </a:t>
            </a:r>
          </a:p>
          <a:p>
            <a:pPr lvl="3"/>
            <a:r>
              <a:rPr lang="he-IL"/>
              <a:t>או באמצעות מיון ולולאה יחידה</a:t>
            </a:r>
          </a:p>
          <a:p>
            <a:pPr lvl="2"/>
            <a:r>
              <a:rPr lang="he-IL"/>
              <a:t>בדיקת הסווג השכיח מבין </a:t>
            </a:r>
            <a:r>
              <a:rPr lang="en-US"/>
              <a:t>K</a:t>
            </a:r>
            <a:r>
              <a:rPr lang="he-IL"/>
              <a:t> השכנים הקרובים ביותר</a:t>
            </a:r>
          </a:p>
          <a:p>
            <a:pPr lvl="3"/>
            <a:r>
              <a:rPr lang="he-IL"/>
              <a:t>נמנה כמה יש מכל תגית</a:t>
            </a:r>
          </a:p>
          <a:p>
            <a:pPr lvl="3"/>
            <a:r>
              <a:rPr lang="he-IL"/>
              <a:t>נמצא את המקסימום ונחזיר את התגית</a:t>
            </a:r>
          </a:p>
          <a:p>
            <a:pPr lvl="2"/>
            <a:endParaRPr lang="he-IL"/>
          </a:p>
          <a:p>
            <a:endParaRPr lang="he-IL"/>
          </a:p>
          <a:p>
            <a:pPr lvl="1"/>
            <a:endParaRPr lang="he-IL"/>
          </a:p>
          <a:p>
            <a:pPr lvl="2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7201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E4B9DB-471C-4D8B-B41D-643A97A0C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9CA445-CC48-4EB1-9D8A-8435C37C90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תרגיל 4.1 – דף עבודה </a:t>
            </a:r>
            <a:r>
              <a:rPr lang="en-US" dirty="0"/>
              <a:t>KNN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20535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BF807D45-CF18-483D-9C9F-E36404737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מה עושים עם מאפיינים קטגוריאליים?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אם אין סדר: </a:t>
            </a:r>
            <a:r>
              <a:rPr lang="en-US" dirty="0"/>
              <a:t>One hot encoding</a:t>
            </a:r>
            <a:endParaRPr lang="he-IL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he-IL" dirty="0"/>
              <a:t>אם יש סדר: המרה למספרים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מה עושים עם מאפיינים בסקאלות שונות?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scaling</a:t>
            </a:r>
            <a:endParaRPr lang="he-I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dirty="0"/>
              <a:t>מה עושים עם מאפיינים בעלי חשיבות שונה?</a:t>
            </a:r>
            <a:endParaRPr lang="en-US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dirty="0"/>
              <a:t>Weighted scaling</a:t>
            </a:r>
            <a:endParaRPr lang="he-IL" dirty="0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0C94DA4-7777-48B1-A9C0-439FF7F1D47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עוד קצת על חישוב מרחקים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89437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he-IL" dirty="0">
                <a:hlinkClick r:id="rId3"/>
              </a:rPr>
              <a:t>תרגיל חזרה אישי</a:t>
            </a:r>
            <a:endParaRPr dirty="0"/>
          </a:p>
        </p:txBody>
      </p:sp>
      <p:sp>
        <p:nvSpPr>
          <p:cNvPr id="265" name="Google Shape;265;p27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he-IL"/>
              <a:t>תרגיל 4.2 </a:t>
            </a:r>
            <a:r>
              <a:rPr lang="he-IL" dirty="0"/>
              <a:t>– תרגיל חזרה אישי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iris knn decision boundaries">
            <a:extLst>
              <a:ext uri="{FF2B5EF4-FFF2-40B4-BE49-F238E27FC236}">
                <a16:creationId xmlns:a16="http://schemas.microsoft.com/office/drawing/2014/main" id="{EFC905E9-F325-4A90-B33F-87C91B2FA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6942" y="1459001"/>
            <a:ext cx="541972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72E577A-398E-4D94-97FE-389240ED1F4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גבולות החלטה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18839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3B315A9-24ED-4192-9049-B7D714AB38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KNN</a:t>
            </a:r>
            <a:r>
              <a:rPr lang="he-IL" dirty="0"/>
              <a:t> - הדגמה</a:t>
            </a:r>
            <a:endParaRPr lang="en-IL" dirty="0"/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6F5AD5CE-56FC-4E04-891B-958E4E6BFF32}"/>
              </a:ext>
            </a:extLst>
          </p:cNvPr>
          <p:cNvSpPr/>
          <p:nvPr/>
        </p:nvSpPr>
        <p:spPr>
          <a:xfrm>
            <a:off x="6287317" y="6000234"/>
            <a:ext cx="54944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2"/>
              </a:rPr>
              <a:t>http://vision.stanford.edu/teaching/cs231n-demos/knn/</a:t>
            </a:r>
            <a:endParaRPr lang="en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529EDAD2-A865-44B3-AC0D-9E56B82AD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400" y="1585361"/>
            <a:ext cx="4985200" cy="368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77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026EF0F-D359-439A-A566-BE086687B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he-IL" dirty="0"/>
              <a:t> קטן</a:t>
            </a:r>
          </a:p>
          <a:p>
            <a:pPr lvl="1"/>
            <a:r>
              <a:rPr lang="he-IL" dirty="0"/>
              <a:t>קו החלטה פחות רציף – מודל יותר מורכב – הכללה פחותה</a:t>
            </a:r>
          </a:p>
          <a:p>
            <a:r>
              <a:rPr lang="en-US" dirty="0"/>
              <a:t>K</a:t>
            </a:r>
            <a:r>
              <a:rPr lang="he-IL" dirty="0"/>
              <a:t> גדול</a:t>
            </a:r>
          </a:p>
          <a:p>
            <a:pPr lvl="1"/>
            <a:r>
              <a:rPr lang="he-IL" dirty="0"/>
              <a:t>קו החלטה חלק יותר – מודל פשוט יותר – הכללה טובה יותר</a:t>
            </a:r>
          </a:p>
          <a:p>
            <a:endParaRPr lang="en-IL" dirty="0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3C9DB438-B442-4AEC-8B1B-9CB7F60686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e-IL" dirty="0"/>
              <a:t>השפעת הפרמטר </a:t>
            </a:r>
            <a:r>
              <a:rPr lang="en-US" dirty="0"/>
              <a:t>K</a:t>
            </a:r>
            <a:endParaRPr lang="en-IL" dirty="0"/>
          </a:p>
        </p:txBody>
      </p:sp>
      <p:pic>
        <p:nvPicPr>
          <p:cNvPr id="6146" name="Picture 2" descr="Image result for knn decision boundaries">
            <a:extLst>
              <a:ext uri="{FF2B5EF4-FFF2-40B4-BE49-F238E27FC236}">
                <a16:creationId xmlns:a16="http://schemas.microsoft.com/office/drawing/2014/main" id="{21166FC1-9805-4C75-939A-C0706C3DAD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4" t="5503" r="5318" b="6640"/>
          <a:stretch/>
        </p:blipFill>
        <p:spPr bwMode="auto">
          <a:xfrm>
            <a:off x="92597" y="3686596"/>
            <a:ext cx="8831484" cy="298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2344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D3F651-2468-4C8C-B64A-D023FC70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</p:spPr>
        <p:txBody>
          <a:bodyPr/>
          <a:lstStyle/>
          <a:p>
            <a:r>
              <a:rPr lang="he-IL" dirty="0"/>
              <a:t>תודה על ההשתתפות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13812207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TECHNION_Op3_General_Heb</Template>
  <TotalTime>5824</TotalTime>
  <Words>603</Words>
  <Application>Microsoft Office PowerPoint</Application>
  <PresentationFormat>מסך רחב</PresentationFormat>
  <Paragraphs>120</Paragraphs>
  <Slides>25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25</vt:i4>
      </vt:variant>
    </vt:vector>
  </HeadingPairs>
  <TitlesOfParts>
    <vt:vector size="30" baseType="lpstr">
      <vt:lpstr>Arial</vt:lpstr>
      <vt:lpstr>Assistant</vt:lpstr>
      <vt:lpstr>Calibri</vt:lpstr>
      <vt:lpstr>Tahoma</vt:lpstr>
      <vt:lpstr>TECHNION_Op3_General_Heb</vt:lpstr>
      <vt:lpstr>K-Nearest Neighbors (KNN)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סיכום ביצוע אלגוריתם KNN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מדעי הנתונים</dc:title>
  <dc:creator>Jacob Mike</dc:creator>
  <cp:lastModifiedBy>אריאל בר-יצחק</cp:lastModifiedBy>
  <cp:revision>196</cp:revision>
  <dcterms:created xsi:type="dcterms:W3CDTF">2019-03-02T07:56:19Z</dcterms:created>
  <dcterms:modified xsi:type="dcterms:W3CDTF">2025-07-01T09:58:23Z</dcterms:modified>
</cp:coreProperties>
</file>