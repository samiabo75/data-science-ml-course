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6" r:id="rId3"/>
    <p:sldId id="340" r:id="rId4"/>
    <p:sldId id="341" r:id="rId5"/>
    <p:sldId id="277" r:id="rId6"/>
    <p:sldId id="257" r:id="rId7"/>
    <p:sldId id="258" r:id="rId8"/>
    <p:sldId id="260" r:id="rId9"/>
    <p:sldId id="263" r:id="rId10"/>
    <p:sldId id="283" r:id="rId11"/>
    <p:sldId id="273" r:id="rId12"/>
    <p:sldId id="284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86" r:id="rId22"/>
    <p:sldId id="285" r:id="rId23"/>
    <p:sldId id="282" r:id="rId24"/>
    <p:sldId id="275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EIEc7JQ6G+ckZAfaR9kvxPShb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6055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1483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8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כותרת ותוכן">
  <p:cSld name="2_כותרת ותוכן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9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9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9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9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בלבד">
  <p:cSld name="1_כותרת בלבד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0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0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0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>
  <p:cSld name="השוואה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1"/>
          <p:cNvSpPr txBox="1">
            <a:spLocks noGrp="1"/>
          </p:cNvSpPr>
          <p:nvPr>
            <p:ph type="body" idx="1"/>
          </p:nvPr>
        </p:nvSpPr>
        <p:spPr>
          <a:xfrm>
            <a:off x="369278" y="1681163"/>
            <a:ext cx="56282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2"/>
          </p:nvPr>
        </p:nvSpPr>
        <p:spPr>
          <a:xfrm>
            <a:off x="369278" y="2505075"/>
            <a:ext cx="5628298" cy="31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60957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609570" cy="315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5"/>
          </p:nvPr>
        </p:nvSpPr>
        <p:spPr>
          <a:xfrm>
            <a:off x="369277" y="365124"/>
            <a:ext cx="11412493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3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?utm_source=scs-index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drive/1_s1uH0BseMDTbBGvJ6lgkJkJ1aMt5dok?usp=sha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IudLrV5T1rxEBkAkml66BbMyGKilVOEd?usp=drive_lin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למידה עמוקה</a:t>
            </a:r>
            <a:endParaRPr dirty="0"/>
          </a:p>
        </p:txBody>
      </p:sp>
      <p:sp>
        <p:nvSpPr>
          <p:cNvPr id="56" name="Google Shape;56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sz="2400" dirty="0"/>
              <a:t>פיתון למדעי הנתונים – טבלאות</a:t>
            </a:r>
            <a:endParaRPr lang="en-US" dirty="0"/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sz="2400" dirty="0"/>
              <a:t>מאת: </a:t>
            </a:r>
            <a:r>
              <a:rPr lang="he-IL" sz="2400"/>
              <a:t>אריאל בר-יצחק, ד"ר קובי מייק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6AE390-5708-319A-EC47-7F6D07207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בהרצאה </a:t>
            </a:r>
            <a:r>
              <a:rPr lang="he-IL" dirty="0"/>
              <a:t>זו נלמד פיתון למדעי הנתונים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/>
              <a:t>סביבת </a:t>
            </a:r>
            <a:r>
              <a:rPr lang="en-US"/>
              <a:t>Google Colab Notebooks</a:t>
            </a:r>
            <a:endParaRPr lang="he-IL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 dirty="0"/>
              <a:t>ספריית </a:t>
            </a:r>
            <a:r>
              <a:rPr lang="en-US" dirty="0"/>
              <a:t>pandas</a:t>
            </a:r>
            <a:endParaRPr lang="he-IL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 dirty="0"/>
              <a:t>ספריית </a:t>
            </a:r>
            <a:r>
              <a:rPr lang="en-US" dirty="0"/>
              <a:t>matplotlib</a:t>
            </a:r>
            <a:endParaRPr lang="he-IL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he-IL" dirty="0"/>
              <a:t>ספריית </a:t>
            </a:r>
            <a:r>
              <a:rPr lang="en-US" dirty="0"/>
              <a:t>seaborn</a:t>
            </a:r>
            <a:endParaRPr lang="he-IL" dirty="0"/>
          </a:p>
          <a:p>
            <a:pPr marL="1143000" lvl="1" indent="-457200"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D6207-52A7-3561-3142-60393E76E79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 dirty="0"/>
              <a:t>מבוא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0239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3673F801-0356-AFAF-5F8D-7F9E4714B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אין צורך בהתקנות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שמירה אוטומטית בענן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אינטגרציה טובה עם </a:t>
            </a:r>
            <a:r>
              <a:rPr lang="en-US"/>
              <a:t>Google Classroom</a:t>
            </a:r>
            <a:endParaRPr lang="he-IL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יכולת להריץ קטעי קוד בנפרד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יכולת לראות פלטים בנפרד 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אפשרות לשלב קטעי טקסט, קוד ותמונות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he-IL"/>
              <a:t>אפשרות שימוש ב </a:t>
            </a:r>
            <a:r>
              <a:rPr lang="en-US"/>
              <a:t>GPU</a:t>
            </a:r>
            <a:r>
              <a:rPr lang="he-IL"/>
              <a:t> (פרויקט י"ב)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B431155-C036-76A4-1FD9-8FF980BE96A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 lnSpcReduction="10000"/>
          </a:bodyPr>
          <a:lstStyle/>
          <a:p>
            <a:pPr algn="l" rtl="0"/>
            <a:r>
              <a:rPr lang="en-US"/>
              <a:t>Google Colab Notebooks</a:t>
            </a:r>
            <a:endParaRPr lang="he-IL"/>
          </a:p>
          <a:p>
            <a:r>
              <a:rPr lang="he-IL"/>
              <a:t>יתרונות הסביבה</a:t>
            </a:r>
          </a:p>
        </p:txBody>
      </p:sp>
    </p:spTree>
    <p:extLst>
      <p:ext uri="{BB962C8B-B14F-4D97-AF65-F5344CB8AC3E}">
        <p14:creationId xmlns:p14="http://schemas.microsoft.com/office/powerpoint/2010/main" val="369831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8FE5C5F1-EEED-2DAE-A941-DC5D1FF05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/>
            <a:r>
              <a:rPr lang="he-IL"/>
              <a:t>חיפוש </a:t>
            </a:r>
            <a:r>
              <a:rPr lang="he-IL">
                <a:solidFill>
                  <a:srgbClr val="FF0000"/>
                </a:solidFill>
              </a:rPr>
              <a:t>גוגל קולאב </a:t>
            </a:r>
            <a:r>
              <a:rPr lang="he-IL"/>
              <a:t>או </a:t>
            </a:r>
            <a:r>
              <a:rPr lang="en-US">
                <a:solidFill>
                  <a:srgbClr val="FF0000"/>
                </a:solidFill>
              </a:rPr>
              <a:t>Google Colab</a:t>
            </a:r>
            <a:endParaRPr lang="he-IL">
              <a:solidFill>
                <a:srgbClr val="FF0000"/>
              </a:solidFill>
            </a:endParaRPr>
          </a:p>
          <a:p>
            <a:pPr marL="228600" indent="0"/>
            <a:r>
              <a:rPr lang="he-IL"/>
              <a:t>או לחצו על הלינק הבא</a:t>
            </a:r>
          </a:p>
          <a:p>
            <a:pPr marL="228600" indent="0" algn="l" rtl="0"/>
            <a:r>
              <a:rPr lang="en-US">
                <a:hlinkClick r:id="rId2"/>
              </a:rPr>
              <a:t>https://colab.research.google.com/?utm_source=scs-index</a:t>
            </a:r>
            <a:endParaRPr lang="en-US"/>
          </a:p>
          <a:p>
            <a:pPr marL="228600" indent="0" algn="l" rtl="0"/>
            <a:endParaRPr lang="en-US"/>
          </a:p>
          <a:p>
            <a:pPr marL="228600" indent="0"/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2E70BDE-0ABA-B103-633C-CCBFD5A8788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 rtl="0"/>
            <a:r>
              <a:rPr lang="en-US"/>
              <a:t>Google Colab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1692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50D4-D79D-9B28-FC4D-728C8438F3A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 dirty="0"/>
              <a:t>מחברות - הדגמה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09F6A-6A11-D8B0-5FE8-23E67250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206" y="1649281"/>
            <a:ext cx="6363588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3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7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ספריה לניהול טבלאות (data frames)</a:t>
            </a:r>
            <a:r>
              <a:rPr lang="he-IL"/>
              <a:t> </a:t>
            </a:r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ספריית Pandas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>
            <a:spLocks noGrp="1"/>
          </p:cNvSpPr>
          <p:nvPr>
            <p:ph type="body" idx="2"/>
          </p:nvPr>
        </p:nvSpPr>
        <p:spPr>
          <a:xfrm>
            <a:off x="351693" y="319969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ייבוא הספרייה לסביבת העבודה</a:t>
            </a:r>
            <a:endParaRPr/>
          </a:p>
        </p:txBody>
      </p:sp>
      <p:pic>
        <p:nvPicPr>
          <p:cNvPr id="68" name="Google Shape;68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8143" y="2744385"/>
            <a:ext cx="5755714" cy="1138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קריאת טבלה מקובץ CSV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875EDFF3-9FB2-96F1-039A-F9217B28E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815" y="1859688"/>
            <a:ext cx="6899441" cy="3524567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C90304D-3830-A385-01BB-D61E0401D75B}"/>
              </a:ext>
            </a:extLst>
          </p:cNvPr>
          <p:cNvSpPr txBox="1"/>
          <p:nvPr/>
        </p:nvSpPr>
        <p:spPr>
          <a:xfrm>
            <a:off x="8603311" y="5969656"/>
            <a:ext cx="194807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/>
              <a:t>לינק למחברת הדגמה</a:t>
            </a:r>
            <a:br>
              <a:rPr lang="en-US"/>
            </a:br>
            <a:r>
              <a:rPr lang="en-US">
                <a:hlinkClick r:id="rId4"/>
              </a:rPr>
              <a:t>Iris Dataset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 dirty="0"/>
              <a:t>הצגת ראש הטבלה </a:t>
            </a:r>
            <a:r>
              <a:rPr lang="he-IL" dirty="0"/>
              <a:t>- </a:t>
            </a:r>
            <a:r>
              <a:rPr lang="iw-IL" dirty="0"/>
              <a:t>  df.head()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5ECD7BC-3FA0-39F4-C68B-099A1D16C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838" y="2228682"/>
            <a:ext cx="5544324" cy="2400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הצגת </a:t>
            </a:r>
            <a:r>
              <a:rPr lang="he-IL"/>
              <a:t>מידע על העמודות - </a:t>
            </a:r>
            <a:r>
              <a:rPr lang="iw-IL"/>
              <a:t>  df.</a:t>
            </a:r>
            <a:r>
              <a:rPr lang="en-US"/>
              <a:t>info</a:t>
            </a:r>
            <a:r>
              <a:rPr lang="iw-IL"/>
              <a:t>()</a:t>
            </a:r>
            <a:endParaRPr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F761EA6-5C92-E720-09F1-8D43AA898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971" y="2019103"/>
            <a:ext cx="3458058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77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3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סטטיסטיקה תיאורית 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0FA7C745-E32C-2B2B-D810-2FCD06584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074" y="1780945"/>
            <a:ext cx="6277851" cy="32961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הצגת </a:t>
            </a:r>
            <a:r>
              <a:rPr lang="he-IL"/>
              <a:t>ערכים ייחודיים ומספרם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B8501AC-2ED8-8C81-D745-B61BA2B1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312" y="2604972"/>
            <a:ext cx="556337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42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 dirty="0"/>
              <a:t>הצגת שמות העמודות </a:t>
            </a:r>
            <a:r>
              <a:rPr lang="he-IL" dirty="0"/>
              <a:t>- </a:t>
            </a:r>
            <a:r>
              <a:rPr lang="iw-IL" dirty="0"/>
              <a:t>  df.columns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89F8E0A-52E9-843B-CDCA-95F4C52E7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16" y="2909815"/>
            <a:ext cx="6392167" cy="10383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5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 dirty="0"/>
              <a:t>בחירת עמודה </a:t>
            </a:r>
            <a:r>
              <a:rPr lang="he-IL" dirty="0"/>
              <a:t>- </a:t>
            </a:r>
            <a:r>
              <a:rPr lang="iw-IL" dirty="0"/>
              <a:t> df [col] או df [[col]]</a:t>
            </a:r>
            <a:endParaRPr dirty="0"/>
          </a:p>
        </p:txBody>
      </p:sp>
      <p:sp>
        <p:nvSpPr>
          <p:cNvPr id="113" name="Google Shape;113;p55"/>
          <p:cNvSpPr txBox="1"/>
          <p:nvPr/>
        </p:nvSpPr>
        <p:spPr>
          <a:xfrm>
            <a:off x="6188568" y="1855976"/>
            <a:ext cx="392973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w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אפשרות א’: df</a:t>
            </a:r>
            <a:r>
              <a:rPr lang="iw-IL" sz="1400" b="1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iw-IL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</a:t>
            </a:r>
            <a:r>
              <a:rPr lang="iw-IL" sz="1400" b="1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lang="iw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e-IL"/>
              <a:t> </a:t>
            </a:r>
            <a:r>
              <a:rPr lang="en-US"/>
              <a:t>Pandas Series</a:t>
            </a:r>
            <a:endParaRPr sz="1400" b="0" i="0" u="none" strike="noStrike" cap="non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5"/>
          <p:cNvSpPr txBox="1"/>
          <p:nvPr/>
        </p:nvSpPr>
        <p:spPr>
          <a:xfrm>
            <a:off x="347893" y="1741487"/>
            <a:ext cx="388003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w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אפשרות ב’: df</a:t>
            </a:r>
            <a:r>
              <a:rPr lang="iw-IL" sz="1400" b="1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[[</a:t>
            </a:r>
            <a:r>
              <a:rPr lang="iw-IL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</a:t>
            </a:r>
            <a:r>
              <a:rPr lang="iw-IL" sz="1400" b="1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]]</a:t>
            </a:r>
            <a:r>
              <a:rPr lang="iw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e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 Dataframe</a:t>
            </a:r>
            <a:endParaRPr sz="1400" b="0" i="0" u="none" strike="noStrike" cap="non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FE9E09A5-A0D7-0774-33DF-783B948C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81" y="2110820"/>
            <a:ext cx="2042927" cy="3397556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3A0CF40E-EA00-5545-F963-5F848DC69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250" y="2540224"/>
            <a:ext cx="3991532" cy="25911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6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עמודות df[[cols]]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DBE5349-5AEB-AEEC-81AC-5CD1C61C2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225" y="1874026"/>
            <a:ext cx="3362975" cy="38041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7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שורות לפי אינדקס df[from:to]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65A6228-57ED-4A65-3EE2-C29574E3D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808" y="1940710"/>
            <a:ext cx="5390808" cy="37786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8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שורות באמצעות תנאי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4FE47C8-C1C0-DB37-55CE-7BDB76E8A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969" y="1950539"/>
            <a:ext cx="3439005" cy="259116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63AC9DDC-F206-77A0-AFDE-DB9349FA8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022" y="1950540"/>
            <a:ext cx="5131178" cy="29963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9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שורות באמצעות תנאי (2)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9B9222C2-5A19-3E4E-0E24-E4D4A9DB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604" y="1741487"/>
            <a:ext cx="6335009" cy="38105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0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שורות באמצעות תנאי מורכב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5F828CF-A569-2978-B7A4-E3CA1851F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709" y="1823574"/>
            <a:ext cx="6620799" cy="39057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1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מיון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2864A2F3-C293-B743-5433-A5578DE59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46" y="783388"/>
            <a:ext cx="6268325" cy="47060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242D4DC9-FB59-692D-1E9B-8C6E3AB60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מחיקת עמודות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EF9AB7D-D7B8-F71E-5300-379D083F4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76" y="1741487"/>
            <a:ext cx="4940958" cy="37192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E9DB14D-F998-106A-C6BA-AAF70CEE2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03" y="1741487"/>
            <a:ext cx="5151648" cy="387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88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A8B5DFA-7067-4B88-5CC4-BA657BABE79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he-IL"/>
              <a:t>מחיקת ערכים חסרים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7FAD1A2F-1FD4-A3D6-A7B5-E24646B5F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2" y="1001140"/>
            <a:ext cx="2777488" cy="4239840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45355D3-AAF8-73C5-4792-80D980DDDE4A}"/>
              </a:ext>
            </a:extLst>
          </p:cNvPr>
          <p:cNvSpPr txBox="1"/>
          <p:nvPr/>
        </p:nvSpPr>
        <p:spPr>
          <a:xfrm>
            <a:off x="5138928" y="2862072"/>
            <a:ext cx="513892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/>
              <a:t>הערה: פקודה זו נבצע על </a:t>
            </a:r>
            <a:r>
              <a:rPr lang="en-US"/>
              <a:t>Penguin Dataset</a:t>
            </a:r>
            <a:r>
              <a:rPr lang="he-IL"/>
              <a:t> כי שם יש ערכים חסרים</a:t>
            </a:r>
          </a:p>
        </p:txBody>
      </p:sp>
    </p:spTree>
    <p:extLst>
      <p:ext uri="{BB962C8B-B14F-4D97-AF65-F5344CB8AC3E}">
        <p14:creationId xmlns:p14="http://schemas.microsoft.com/office/powerpoint/2010/main" val="2892858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4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יש לתרגל את הפקודות במצגת על המחברת הבאה</a:t>
            </a:r>
            <a:b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Penguin Dataset</a:t>
            </a:r>
            <a:endParaRPr lang="he-I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45720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כדי לבצע בה שינויים ולשמור את השינויים, יש לפתוח את המחברת ולבצע לה העתק אליכם 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File, Save copy in drive</a:t>
            </a:r>
            <a:endParaRPr lang="en-US" sz="2400" dirty="0"/>
          </a:p>
        </p:txBody>
      </p:sp>
      <p:sp>
        <p:nvSpPr>
          <p:cNvPr id="174" name="Google Shape;174;p6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25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he-IL"/>
              <a:t>תרגיל 1 </a:t>
            </a:r>
            <a:r>
              <a:rPr lang="he-IL" dirty="0"/>
              <a:t>בקבוצות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שאלות?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275</Words>
  <Application>Microsoft Office PowerPoint</Application>
  <PresentationFormat>מסך רחב</PresentationFormat>
  <Paragraphs>49</Paragraphs>
  <Slides>24</Slides>
  <Notes>18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24</vt:i4>
      </vt:variant>
    </vt:vector>
  </HeadingPairs>
  <TitlesOfParts>
    <vt:vector size="27" baseType="lpstr">
      <vt:lpstr>Arial</vt:lpstr>
      <vt:lpstr>Tahoma</vt:lpstr>
      <vt:lpstr>TECHNION_Op3_General_Heb</vt:lpstr>
      <vt:lpstr>למידה עמוקה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שאלות?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מדעי הנתונים ולמידת מכונה</dc:title>
  <dc:creator>Jacob Mike</dc:creator>
  <cp:lastModifiedBy>אריאל דוד בר יצחק</cp:lastModifiedBy>
  <cp:revision>30</cp:revision>
  <dcterms:created xsi:type="dcterms:W3CDTF">2019-03-02T07:56:19Z</dcterms:created>
  <dcterms:modified xsi:type="dcterms:W3CDTF">2026-09-06T13:16:04Z</dcterms:modified>
</cp:coreProperties>
</file>