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601" r:id="rId3"/>
    <p:sldId id="266" r:id="rId4"/>
    <p:sldId id="267" r:id="rId5"/>
    <p:sldId id="268" r:id="rId6"/>
    <p:sldId id="605" r:id="rId7"/>
    <p:sldId id="508" r:id="rId8"/>
    <p:sldId id="604" r:id="rId9"/>
    <p:sldId id="270" r:id="rId10"/>
    <p:sldId id="610" r:id="rId11"/>
    <p:sldId id="269" r:id="rId12"/>
    <p:sldId id="631" r:id="rId13"/>
    <p:sldId id="272" r:id="rId14"/>
    <p:sldId id="273" r:id="rId15"/>
    <p:sldId id="285" r:id="rId16"/>
    <p:sldId id="624" r:id="rId17"/>
    <p:sldId id="274" r:id="rId18"/>
    <p:sldId id="608" r:id="rId19"/>
    <p:sldId id="276" r:id="rId20"/>
    <p:sldId id="277" r:id="rId21"/>
    <p:sldId id="627" r:id="rId22"/>
    <p:sldId id="630" r:id="rId23"/>
    <p:sldId id="612" r:id="rId24"/>
    <p:sldId id="614" r:id="rId25"/>
    <p:sldId id="615" r:id="rId26"/>
    <p:sldId id="617" r:id="rId27"/>
    <p:sldId id="618" r:id="rId28"/>
    <p:sldId id="619" r:id="rId29"/>
    <p:sldId id="621" r:id="rId30"/>
    <p:sldId id="622" r:id="rId31"/>
    <p:sldId id="611" r:id="rId32"/>
    <p:sldId id="634" r:id="rId33"/>
    <p:sldId id="623" r:id="rId34"/>
    <p:sldId id="284" r:id="rId35"/>
    <p:sldId id="625" r:id="rId36"/>
    <p:sldId id="633" r:id="rId37"/>
    <p:sldId id="616" r:id="rId38"/>
    <p:sldId id="632" r:id="rId39"/>
    <p:sldId id="628" r:id="rId40"/>
    <p:sldId id="289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5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>
            <a:extLst>
              <a:ext uri="{FF2B5EF4-FFF2-40B4-BE49-F238E27FC236}">
                <a16:creationId xmlns:a16="http://schemas.microsoft.com/office/drawing/2014/main" id="{69807A4C-7A6D-4668-9385-BFC6002D14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E0F1A2E-DFA6-471D-8DD2-857758C4E239}"/>
              </a:ext>
            </a:extLst>
          </p:cNvPr>
          <p:cNvSpPr txBox="1"/>
          <p:nvPr userDrawn="1"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 kobymike@gmail.com</a:t>
            </a: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741487"/>
            <a:ext cx="11430077" cy="5448303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49038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 dirty="0"/>
              <a:t>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420230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niTAtk-NmYc48c2R0DrWLP4bvgZAdiz1?usp=sharing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למידה עמוקה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פעולות בסיסיות באלגברה לינארית</a:t>
            </a:r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מאת: אריאל בר-יצחק</a:t>
            </a:r>
            <a:r>
              <a:rPr lang="he-IL" sz="2400"/>
              <a:t>, ד"ר קובי מייק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6958-48D7-40B1-83EC-77D1C654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תוכן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FF52C-6DF3-4F20-912E-D960B2523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וקטורים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פעולות בסיסיות על וקטורים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מכפלה פנימית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מטריצות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פעולות בסיסיות על מטריצות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מכפלת מטריצות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0FB8E-578E-4112-B844-290D30D3A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97" y="3825875"/>
            <a:ext cx="2635854" cy="100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6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5964-B2D7-48F9-A77E-2237FB6E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וקטור מאפיינים – </a:t>
            </a:r>
            <a:r>
              <a:rPr lang="en-US" dirty="0"/>
              <a:t>feature vectors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47BB-A7A1-4C0C-A9B0-F65C7684E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וקטור מאפיינים הוא אוסף מספרים המייצגים אובייקט בעולם</a:t>
            </a:r>
          </a:p>
          <a:p>
            <a:endParaRPr lang="he-IL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C50CD6E-5253-482D-A9B7-111325DA3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3119944"/>
            <a:ext cx="22479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CCD124-0DCD-4613-9261-B1E31C28510C}"/>
              </a:ext>
            </a:extLst>
          </p:cNvPr>
          <p:cNvSpPr txBox="1"/>
          <p:nvPr/>
        </p:nvSpPr>
        <p:spPr>
          <a:xfrm>
            <a:off x="3531140" y="3816628"/>
            <a:ext cx="664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 = [sepal length, sepal width, petal length, petal width]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02620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3F0D-C91F-419C-A9BE-F891592F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וקטור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BAE7-87DB-4066-8579-54E45D69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אובייקט מתמטי </a:t>
            </a:r>
          </a:p>
          <a:p>
            <a:r>
              <a:rPr lang="he-IL" dirty="0"/>
              <a:t>אוסף סדור של מספרים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781C9-25AE-4CB7-9CC5-BD408CC3C55B}"/>
              </a:ext>
            </a:extLst>
          </p:cNvPr>
          <p:cNvSpPr txBox="1"/>
          <p:nvPr/>
        </p:nvSpPr>
        <p:spPr>
          <a:xfrm>
            <a:off x="1042481" y="1027906"/>
            <a:ext cx="2842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 = [5.1,3.5,1.4,0.2]</a:t>
            </a:r>
          </a:p>
          <a:p>
            <a:r>
              <a:rPr lang="en-US" sz="2400" dirty="0"/>
              <a:t>u = [4.9,3.0,1.4,0.2]</a:t>
            </a:r>
          </a:p>
        </p:txBody>
      </p:sp>
    </p:spTree>
    <p:extLst>
      <p:ext uri="{BB962C8B-B14F-4D97-AF65-F5344CB8AC3E}">
        <p14:creationId xmlns:p14="http://schemas.microsoft.com/office/powerpoint/2010/main" val="253324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D674-D474-41E8-9D8E-CE40DE8FE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פעולות על וקטורים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D4F3B-3BCD-4065-A719-88AE7723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e-IL" dirty="0"/>
              <a:t>חיבור</a:t>
            </a:r>
          </a:p>
          <a:p>
            <a:pPr>
              <a:lnSpc>
                <a:spcPct val="150000"/>
              </a:lnSpc>
            </a:pPr>
            <a:r>
              <a:rPr lang="he-IL" dirty="0"/>
              <a:t>חיסור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he-IL" dirty="0"/>
              <a:t>כפל בסקלר (מספר)</a:t>
            </a:r>
          </a:p>
          <a:p>
            <a:pPr>
              <a:lnSpc>
                <a:spcPct val="150000"/>
              </a:lnSpc>
            </a:pPr>
            <a:r>
              <a:rPr lang="he-IL" dirty="0"/>
              <a:t>מכפלה (</a:t>
            </a:r>
            <a:r>
              <a:rPr lang="en-US" dirty="0"/>
              <a:t>elementwise</a:t>
            </a:r>
            <a:r>
              <a:rPr lang="he-IL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E2E8F-FC1B-4F08-B0E1-5470487398DC}"/>
              </a:ext>
            </a:extLst>
          </p:cNvPr>
          <p:cNvSpPr txBox="1"/>
          <p:nvPr/>
        </p:nvSpPr>
        <p:spPr>
          <a:xfrm>
            <a:off x="1042481" y="1180306"/>
            <a:ext cx="52535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 = [5.1,3.5,1.4,0.2]</a:t>
            </a:r>
          </a:p>
          <a:p>
            <a:r>
              <a:rPr lang="en-US" sz="2400" dirty="0"/>
              <a:t>u = [4.9,3.0,1.4,0.2]</a:t>
            </a:r>
          </a:p>
          <a:p>
            <a:endParaRPr lang="en-US" sz="2400" dirty="0"/>
          </a:p>
          <a:p>
            <a:r>
              <a:rPr lang="en-US" sz="2400" dirty="0" err="1"/>
              <a:t>v+u</a:t>
            </a:r>
            <a:r>
              <a:rPr lang="en-US" sz="2400" dirty="0"/>
              <a:t> = [10.0, 6.5, 2.8, 0.4]</a:t>
            </a:r>
          </a:p>
          <a:p>
            <a:endParaRPr lang="en-US" sz="2400" dirty="0"/>
          </a:p>
          <a:p>
            <a:r>
              <a:rPr lang="en-US" sz="2400" dirty="0"/>
              <a:t>v-u = [0.2, 0.5, 0.0, 0.0]</a:t>
            </a:r>
          </a:p>
          <a:p>
            <a:endParaRPr lang="en-US" sz="2400" dirty="0"/>
          </a:p>
          <a:p>
            <a:r>
              <a:rPr lang="en-US" sz="2400" dirty="0"/>
              <a:t>v * 2 = [10.2, 7.0, 2.8, 0.4]</a:t>
            </a:r>
          </a:p>
          <a:p>
            <a:endParaRPr lang="en-US" sz="2400" dirty="0"/>
          </a:p>
          <a:p>
            <a:r>
              <a:rPr lang="en-US" sz="2400" dirty="0"/>
              <a:t>v*u = [24.99, 10.5 ,  1.96,  0.04]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9167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3759-3EF8-4579-83C9-818E09F4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1 – פתרו את התרגילים הבאים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D8010-B04B-4107-A5D5-86CD2404E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229" y="1557149"/>
            <a:ext cx="11563006" cy="4351338"/>
          </a:xfrm>
        </p:spPr>
        <p:txBody>
          <a:bodyPr/>
          <a:lstStyle/>
          <a:p>
            <a:pPr marL="228600" indent="0" algn="l" rtl="0"/>
            <a:r>
              <a:rPr lang="en-US" sz="2800" dirty="0"/>
              <a:t>v = [1,2,-1,0]</a:t>
            </a:r>
          </a:p>
          <a:p>
            <a:pPr marL="228600" indent="0" algn="l" rtl="0"/>
            <a:r>
              <a:rPr lang="en-US" sz="2800" dirty="0"/>
              <a:t>u = [2,1,3,-1]</a:t>
            </a:r>
          </a:p>
          <a:p>
            <a:pPr marL="742950" indent="-514350" algn="l" rtl="0">
              <a:buFont typeface="+mj-lt"/>
              <a:buAutoNum type="arabicPeriod"/>
            </a:pPr>
            <a:r>
              <a:rPr lang="en-US" dirty="0"/>
              <a:t>2*v</a:t>
            </a:r>
          </a:p>
          <a:p>
            <a:pPr marL="742950" indent="-514350" algn="l" rtl="0">
              <a:buFont typeface="+mj-lt"/>
              <a:buAutoNum type="arabicPeriod"/>
            </a:pPr>
            <a:r>
              <a:rPr lang="en-US" sz="2800" dirty="0"/>
              <a:t>v*2</a:t>
            </a:r>
          </a:p>
          <a:p>
            <a:pPr marL="742950" indent="-514350" algn="l" rtl="0">
              <a:buFont typeface="+mj-lt"/>
              <a:buAutoNum type="arabicPeriod"/>
            </a:pPr>
            <a:r>
              <a:rPr lang="en-US" dirty="0" err="1"/>
              <a:t>u+v</a:t>
            </a:r>
            <a:endParaRPr lang="en-US" dirty="0"/>
          </a:p>
          <a:p>
            <a:pPr marL="742950" indent="-514350" algn="l" rtl="0">
              <a:buFont typeface="+mj-lt"/>
              <a:buAutoNum type="arabicPeriod"/>
            </a:pPr>
            <a:r>
              <a:rPr lang="en-US" sz="2800" dirty="0"/>
              <a:t>u+3*v</a:t>
            </a:r>
          </a:p>
          <a:p>
            <a:pPr marL="742950" indent="-514350" algn="l" rtl="0">
              <a:buFont typeface="+mj-lt"/>
              <a:buAutoNum type="arabicPeriod"/>
            </a:pPr>
            <a:r>
              <a:rPr lang="en-US" dirty="0"/>
              <a:t>u-3*v</a:t>
            </a:r>
          </a:p>
          <a:p>
            <a:pPr marL="742950" indent="-514350" algn="l" rtl="0">
              <a:buFont typeface="+mj-lt"/>
              <a:buAutoNum type="arabicPeriod"/>
            </a:pPr>
            <a:r>
              <a:rPr lang="en-US" sz="2800" dirty="0"/>
              <a:t>u*v</a:t>
            </a:r>
          </a:p>
          <a:p>
            <a:pPr marL="742950" indent="-514350" algn="l" rtl="0">
              <a:buFont typeface="+mj-lt"/>
              <a:buAutoNum type="arabicPeriod"/>
            </a:pPr>
            <a:endParaRPr lang="en-US" sz="2800" dirty="0"/>
          </a:p>
          <a:p>
            <a:pPr algn="l" rtl="0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1985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8EDEC1F3-7FAD-490B-A6CE-9E307D4F3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1693" y="1741488"/>
                <a:ext cx="11430077" cy="3792538"/>
              </a:xfrm>
            </p:spPr>
            <p:txBody>
              <a:bodyPr/>
              <a:lstStyle/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baseline="-2500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baseline="-2500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𝑣𝑛</m:t>
                          </m:r>
                        </m:e>
                      </m:d>
                    </m:oMath>
                    <m:oMath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baseline="-2500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baseline="-2500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𝑢𝑛</m:t>
                          </m:r>
                        </m:e>
                      </m:d>
                    </m:oMath>
                    <m:oMath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baseline="-2500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baseline="-2500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baseline="-2500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baseline="-2500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𝑣𝑛𝑢𝑛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baseline="-2500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baseline="-2500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lang="en-US" b="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algn="l" rtl="0"/>
                <a:endParaRPr lang="en-IL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8EDEC1F3-7FAD-490B-A6CE-9E307D4F3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1693" y="1741488"/>
                <a:ext cx="11430077" cy="37925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00CF973-A9F8-4594-9B28-417328CF4E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מכפלה פנימית </a:t>
            </a:r>
            <a:r>
              <a:rPr lang="en-US" dirty="0"/>
              <a:t>dot product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0607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937D-95CB-4508-BAB6-FF45E143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2 - מכפלה פנימית </a:t>
            </a:r>
            <a:r>
              <a:rPr lang="en-US" dirty="0"/>
              <a:t>dot product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7ADDA-1525-463D-8241-8E21A284C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חשבו את המכפלות הפנימיות הבאות: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dirty="0"/>
              <a:t>[5,5]•[1,1]</a:t>
            </a:r>
            <a:endParaRPr lang="he-IL" dirty="0"/>
          </a:p>
          <a:p>
            <a:pPr marL="914400" lvl="1" indent="-457200" algn="l" rtl="0">
              <a:buFont typeface="+mj-lt"/>
              <a:buAutoNum type="arabicPeriod"/>
            </a:pPr>
            <a:r>
              <a:rPr lang="en-US" dirty="0"/>
              <a:t>[5,-5]•[1,1]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dirty="0"/>
              <a:t>[5,0]•[1,1]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dirty="0"/>
              <a:t>[3,0]•[0,4]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dirty="0"/>
              <a:t>[1,2,3,4,5]•[5,4,3,2,1]</a:t>
            </a:r>
            <a:endParaRPr lang="en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4458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8942-85DD-46A1-80D5-09691937F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רשימות אינן וקטורים</a:t>
            </a:r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91E22-306F-45DA-B684-EB0E07C2A4E5}"/>
              </a:ext>
            </a:extLst>
          </p:cNvPr>
          <p:cNvSpPr txBox="1"/>
          <p:nvPr/>
        </p:nvSpPr>
        <p:spPr>
          <a:xfrm>
            <a:off x="8277782" y="2421700"/>
            <a:ext cx="355417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v1 = [5.1,3.5,1.4,0.2]</a:t>
            </a:r>
          </a:p>
          <a:p>
            <a:r>
              <a:rPr lang="en-US" sz="2400" dirty="0"/>
              <a:t>v2 = [4.9,3.0,1.4,0.2]</a:t>
            </a:r>
          </a:p>
          <a:p>
            <a:endParaRPr lang="en-US" sz="2400" dirty="0"/>
          </a:p>
          <a:p>
            <a:r>
              <a:rPr lang="en-US" sz="2400" dirty="0"/>
              <a:t>v1+v2 = [10.0, 6.5, 2.8, 0.8]</a:t>
            </a:r>
          </a:p>
          <a:p>
            <a:endParaRPr lang="en-US" sz="2400" dirty="0"/>
          </a:p>
          <a:p>
            <a:r>
              <a:rPr lang="en-US" sz="2400" dirty="0"/>
              <a:t>v1-v2 = [0.2, 0.5, 0.0, 0.0]</a:t>
            </a:r>
          </a:p>
          <a:p>
            <a:endParaRPr lang="en-US" sz="2400" dirty="0"/>
          </a:p>
          <a:p>
            <a:r>
              <a:rPr lang="en-US" sz="2400" dirty="0"/>
              <a:t>v1 * 2 = [10.2, 7.0, 2.8, 0.4</a:t>
            </a:r>
            <a:r>
              <a:rPr lang="en-US" dirty="0"/>
              <a:t>]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66C90-1960-4F12-BD0C-83DCCA1D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89" y="1514720"/>
            <a:ext cx="6960859" cy="4978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DA3FE-8411-4C28-BCC6-13C7957B30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5036"/>
          <a:stretch/>
        </p:blipFill>
        <p:spPr>
          <a:xfrm>
            <a:off x="433789" y="1572138"/>
            <a:ext cx="6960859" cy="74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0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56A29A9D-EAF5-4BF8-8A0D-F4113E297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3" y="1741487"/>
            <a:ext cx="11430077" cy="4097338"/>
          </a:xfrm>
        </p:spPr>
        <p:txBody>
          <a:bodyPr>
            <a:normAutofit fontScale="77500" lnSpcReduction="20000"/>
          </a:bodyPr>
          <a:lstStyle/>
          <a:p>
            <a:r>
              <a:rPr lang="he-IL" dirty="0"/>
              <a:t>ממשו את הפעולות הבאות: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add(</a:t>
            </a:r>
            <a:r>
              <a:rPr lang="en-US" dirty="0" err="1"/>
              <a:t>u,v</a:t>
            </a:r>
            <a:r>
              <a:rPr lang="en-US" dirty="0"/>
              <a:t>)</a:t>
            </a:r>
            <a:r>
              <a:rPr lang="he-IL" dirty="0"/>
              <a:t> – הפעולה מקבלת שני וקטורים </a:t>
            </a:r>
            <a:r>
              <a:rPr lang="en-US" dirty="0" err="1"/>
              <a:t>u,v</a:t>
            </a:r>
            <a:r>
              <a:rPr lang="he-IL" dirty="0"/>
              <a:t> כרשימות ומחזירה רשימה המכילה את סכום </a:t>
            </a:r>
            <a:r>
              <a:rPr lang="he-IL" dirty="0" err="1"/>
              <a:t>הוקטורים</a:t>
            </a:r>
            <a:r>
              <a:rPr lang="he-IL" dirty="0"/>
              <a:t> </a:t>
            </a:r>
            <a:r>
              <a:rPr lang="en-US" dirty="0" err="1"/>
              <a:t>u</a:t>
            </a:r>
            <a:r>
              <a:rPr lang="en-US" err="1"/>
              <a:t>+</a:t>
            </a:r>
            <a:r>
              <a:rPr lang="en-US"/>
              <a:t>v</a:t>
            </a:r>
            <a:r>
              <a:rPr lang="he-IL"/>
              <a:t>. 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Scalar</a:t>
            </a:r>
            <a:r>
              <a:rPr lang="en-US" dirty="0" err="1"/>
              <a:t>_mul</a:t>
            </a:r>
            <a:r>
              <a:rPr lang="en-US" dirty="0"/>
              <a:t>(</a:t>
            </a:r>
            <a:r>
              <a:rPr lang="en-US" dirty="0" err="1"/>
              <a:t>s,v</a:t>
            </a:r>
            <a:r>
              <a:rPr lang="en-US" dirty="0"/>
              <a:t>)</a:t>
            </a:r>
            <a:r>
              <a:rPr lang="he-IL" dirty="0"/>
              <a:t> – הפעולה מקבלת סקלר </a:t>
            </a:r>
            <a:r>
              <a:rPr lang="en-US" dirty="0"/>
              <a:t>s</a:t>
            </a:r>
            <a:r>
              <a:rPr lang="he-IL" dirty="0"/>
              <a:t> ווקטור </a:t>
            </a:r>
            <a:r>
              <a:rPr lang="en-US" dirty="0"/>
              <a:t>v</a:t>
            </a:r>
            <a:r>
              <a:rPr lang="he-IL" dirty="0"/>
              <a:t> כרשימה ומחזירה רשימה המכילה את המכפלה </a:t>
            </a:r>
            <a:r>
              <a:rPr lang="en-US" dirty="0"/>
              <a:t>s*v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multiply(</a:t>
            </a:r>
            <a:r>
              <a:rPr lang="en-US" dirty="0" err="1"/>
              <a:t>v,u</a:t>
            </a:r>
            <a:r>
              <a:rPr lang="en-US" dirty="0"/>
              <a:t>)</a:t>
            </a:r>
            <a:r>
              <a:rPr lang="he-IL" dirty="0"/>
              <a:t> – שני וקטורים </a:t>
            </a:r>
            <a:r>
              <a:rPr lang="en-US" dirty="0" err="1"/>
              <a:t>u,v</a:t>
            </a:r>
            <a:r>
              <a:rPr lang="he-IL" dirty="0"/>
              <a:t> כרשימות ומחזירה</a:t>
            </a:r>
            <a:r>
              <a:rPr lang="en-US" dirty="0"/>
              <a:t> </a:t>
            </a:r>
            <a:r>
              <a:rPr lang="he-IL" dirty="0"/>
              <a:t>רשימה המכילה את המכפלה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dirty="0"/>
              <a:t>elementwise</a:t>
            </a:r>
            <a:r>
              <a:rPr lang="he-IL" dirty="0"/>
              <a:t> </a:t>
            </a:r>
            <a:r>
              <a:rPr lang="en-US" dirty="0"/>
              <a:t>v*u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dot(</a:t>
            </a:r>
            <a:r>
              <a:rPr lang="en-US" dirty="0" err="1"/>
              <a:t>v,u</a:t>
            </a:r>
            <a:r>
              <a:rPr lang="en-US" dirty="0"/>
              <a:t>)</a:t>
            </a:r>
            <a:r>
              <a:rPr lang="he-IL" dirty="0"/>
              <a:t> - הפעולה מקבלת שני וקטורים </a:t>
            </a:r>
            <a:r>
              <a:rPr lang="en-US" dirty="0" err="1"/>
              <a:t>u,v</a:t>
            </a:r>
            <a:r>
              <a:rPr lang="he-IL" dirty="0"/>
              <a:t> כרשימות ומחזירה את ערך המכפלה </a:t>
            </a:r>
            <a:r>
              <a:rPr lang="en-US" dirty="0" err="1"/>
              <a:t>u</a:t>
            </a:r>
            <a:r>
              <a:rPr lang="en-US" err="1"/>
              <a:t>•</a:t>
            </a:r>
            <a:r>
              <a:rPr lang="en-US"/>
              <a:t>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he-IL"/>
              <a:t>הערות: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יש לבצע בדיקת תקינות הקלט בכל הפעולות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בדקו את הפעולות </a:t>
            </a:r>
            <a:r>
              <a:rPr lang="he-IL" dirty="0" err="1"/>
              <a:t>שכתבתםן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E4AC54F-05C3-4E99-9D62-FF9E8C44EA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0975" y="349038"/>
            <a:ext cx="11600796" cy="1376363"/>
          </a:xfrm>
        </p:spPr>
        <p:txBody>
          <a:bodyPr>
            <a:normAutofit/>
          </a:bodyPr>
          <a:lstStyle/>
          <a:p>
            <a:r>
              <a:rPr lang="he-IL" dirty="0"/>
              <a:t>תרגיל</a:t>
            </a:r>
            <a:r>
              <a:rPr lang="en-US" dirty="0"/>
              <a:t> </a:t>
            </a:r>
            <a:r>
              <a:rPr lang="he-IL" dirty="0"/>
              <a:t> 3 – פעולות על וקטורים ב</a:t>
            </a:r>
            <a:r>
              <a:rPr lang="en-US" dirty="0"/>
              <a:t>python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558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272EE2-A2F7-4B8D-6295-04A823332058}"/>
              </a:ext>
            </a:extLst>
          </p:cNvPr>
          <p:cNvSpPr/>
          <p:nvPr/>
        </p:nvSpPr>
        <p:spPr>
          <a:xfrm>
            <a:off x="8259276" y="5762625"/>
            <a:ext cx="3704124" cy="1095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4160F-D9BA-9B84-0995-783D2B1858DB}"/>
              </a:ext>
            </a:extLst>
          </p:cNvPr>
          <p:cNvSpPr/>
          <p:nvPr/>
        </p:nvSpPr>
        <p:spPr>
          <a:xfrm>
            <a:off x="3781425" y="4629150"/>
            <a:ext cx="1181100" cy="2228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D5B1A-2338-46BD-B848-4AABD0B3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יישום וקטורים ב-</a:t>
            </a:r>
            <a:r>
              <a:rPr lang="en-US" dirty="0" err="1"/>
              <a:t>numpy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C04AA-7138-407B-6C87-323DD7595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117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E04EC1-DD0B-5D0B-FA2D-FC800819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359" y="4785103"/>
            <a:ext cx="3849666" cy="207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073748-AD06-A75B-3347-71DEF8B3EA2A}"/>
              </a:ext>
            </a:extLst>
          </p:cNvPr>
          <p:cNvSpPr txBox="1"/>
          <p:nvPr/>
        </p:nvSpPr>
        <p:spPr>
          <a:xfrm>
            <a:off x="8903208" y="4924425"/>
            <a:ext cx="17091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מכפלה </a:t>
            </a:r>
            <a:r>
              <a:rPr lang="en-US" dirty="0"/>
              <a:t>elementwise</a:t>
            </a:r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מכפלה </a:t>
            </a:r>
            <a:r>
              <a:rPr lang="en-US" dirty="0"/>
              <a:t>dot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11999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5CBE-9F78-DE6D-D865-44F67459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/>
              <a:t>Broadcasting 1D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AB38-54BD-EAAF-6409-6E0596BF5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he-IL" dirty="0"/>
              <a:t> יכול לבצע פעולות בין אלמנטים בממדים שונים, על ידי שכפול</a:t>
            </a:r>
          </a:p>
          <a:p>
            <a:r>
              <a:rPr lang="he-IL" dirty="0"/>
              <a:t>לדוגמא, מכפלה של סקלר בווקטור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E9FD0-866B-01E4-124B-719C6193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53" y="3752850"/>
            <a:ext cx="5287113" cy="1790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4D731-0071-DAD3-2AED-AA5014B40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03" y="2562104"/>
            <a:ext cx="3873196" cy="119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4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5964-B2D7-48F9-A77E-2237FB6E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מטריצת מאפיינים – </a:t>
            </a:r>
            <a:r>
              <a:rPr lang="en-US" dirty="0"/>
              <a:t>feature matrix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47BB-A7A1-4C0C-A9B0-F65C7684E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מטריצת מאפיינים הוא אוסף מספרים המייצגים מספר אובייקטים בעולם</a:t>
            </a:r>
          </a:p>
          <a:p>
            <a:endParaRPr lang="he-IL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C50CD6E-5253-482D-A9B7-111325DA3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79" y="2409825"/>
            <a:ext cx="22479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ree picture: wild, iris, flower, iris, setosa">
            <a:extLst>
              <a:ext uri="{FF2B5EF4-FFF2-40B4-BE49-F238E27FC236}">
                <a16:creationId xmlns:a16="http://schemas.microsoft.com/office/drawing/2014/main" id="{4109234D-EDC9-43DE-A038-65CEB2F13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404" y="2876272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iris setosa | I'm a sucker for irises. This is a native Newf… | Flickr">
            <a:extLst>
              <a:ext uri="{FF2B5EF4-FFF2-40B4-BE49-F238E27FC236}">
                <a16:creationId xmlns:a16="http://schemas.microsoft.com/office/drawing/2014/main" id="{54785E65-933E-40A6-B70F-49379C619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659" y="3483770"/>
            <a:ext cx="192405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70ECDFF2-85D5-4616-93B1-BDB43BC89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792" y="2876272"/>
            <a:ext cx="600273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7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3F0D-C91F-419C-A9BE-F891592F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מטריצה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BAE7-87DB-4066-8579-54E45D69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אובייקט מתמטי </a:t>
            </a:r>
          </a:p>
          <a:p>
            <a:r>
              <a:rPr lang="he-IL" dirty="0"/>
              <a:t>אוסף דו-ממדי סדור של מספרים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519E7C-9B3C-48E1-90CE-38D40A722BFE}"/>
                  </a:ext>
                </a:extLst>
              </p:cNvPr>
              <p:cNvSpPr txBox="1"/>
              <p:nvPr/>
            </p:nvSpPr>
            <p:spPr>
              <a:xfrm>
                <a:off x="838200" y="832477"/>
                <a:ext cx="3462037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519E7C-9B3C-48E1-90CE-38D40A722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32477"/>
                <a:ext cx="3462037" cy="984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EF3C48-421E-4254-B109-923784F0A4AB}"/>
                  </a:ext>
                </a:extLst>
              </p:cNvPr>
              <p:cNvSpPr txBox="1"/>
              <p:nvPr/>
            </p:nvSpPr>
            <p:spPr>
              <a:xfrm>
                <a:off x="838200" y="1965426"/>
                <a:ext cx="3473708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EF3C48-421E-4254-B109-923784F0A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65426"/>
                <a:ext cx="3473708" cy="9841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1108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214-2011-4767-B77D-A635911C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ממדי מטריצה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92199C-1652-4200-BDA7-3F70E64A6642}"/>
                  </a:ext>
                </a:extLst>
              </p:cNvPr>
              <p:cNvSpPr txBox="1"/>
              <p:nvPr/>
            </p:nvSpPr>
            <p:spPr>
              <a:xfrm>
                <a:off x="838200" y="832477"/>
                <a:ext cx="3532249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92199C-1652-4200-BDA7-3F70E64A6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32477"/>
                <a:ext cx="3532249" cy="984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69C16-27F7-4270-8085-D694AB9AA5A1}"/>
              </a:ext>
            </a:extLst>
          </p:cNvPr>
          <p:cNvCxnSpPr/>
          <p:nvPr/>
        </p:nvCxnSpPr>
        <p:spPr>
          <a:xfrm>
            <a:off x="5344357" y="923278"/>
            <a:ext cx="0" cy="8933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82E538-D6EE-45E5-8A0E-25B499751431}"/>
              </a:ext>
            </a:extLst>
          </p:cNvPr>
          <p:cNvCxnSpPr/>
          <p:nvPr/>
        </p:nvCxnSpPr>
        <p:spPr>
          <a:xfrm>
            <a:off x="1757779" y="2539014"/>
            <a:ext cx="25478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F8CAE6-9F5C-467B-8CBF-D37C571F151D}"/>
              </a:ext>
            </a:extLst>
          </p:cNvPr>
          <p:cNvSpPr txBox="1"/>
          <p:nvPr/>
        </p:nvSpPr>
        <p:spPr>
          <a:xfrm>
            <a:off x="5344357" y="11996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F68E8-9211-4AFC-BCB4-75C0C4AD83DF}"/>
              </a:ext>
            </a:extLst>
          </p:cNvPr>
          <p:cNvSpPr txBox="1"/>
          <p:nvPr/>
        </p:nvSpPr>
        <p:spPr>
          <a:xfrm>
            <a:off x="2796466" y="26100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4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89052-4AB1-40DB-A226-4EA04FF073E3}"/>
              </a:ext>
            </a:extLst>
          </p:cNvPr>
          <p:cNvSpPr txBox="1"/>
          <p:nvPr/>
        </p:nvSpPr>
        <p:spPr>
          <a:xfrm>
            <a:off x="1597981" y="3994951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is 3 X 4 matrix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77211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4A86-34A6-40DA-AC36-17991B89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סימון איברי ממטריצה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EE09AC-4623-4709-B2BF-A6A750E440A1}"/>
                  </a:ext>
                </a:extLst>
              </p:cNvPr>
              <p:cNvSpPr txBox="1"/>
              <p:nvPr/>
            </p:nvSpPr>
            <p:spPr>
              <a:xfrm>
                <a:off x="2965732" y="4015134"/>
                <a:ext cx="6096000" cy="1718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L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L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L" sz="28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L" sz="28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L" sz="280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L" sz="28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EE09AC-4623-4709-B2BF-A6A750E44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732" y="4015134"/>
                <a:ext cx="6096000" cy="17180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9AF1CD-2E3C-4F2F-AEC6-024974E6D675}"/>
                  </a:ext>
                </a:extLst>
              </p:cNvPr>
              <p:cNvSpPr txBox="1"/>
              <p:nvPr/>
            </p:nvSpPr>
            <p:spPr>
              <a:xfrm>
                <a:off x="2965732" y="1872916"/>
                <a:ext cx="6096000" cy="1461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L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L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IL" sz="28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9AF1CD-2E3C-4F2F-AEC6-024974E6D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732" y="1872916"/>
                <a:ext cx="6096000" cy="1461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2C12C9-910E-4F3F-924E-B69ABF51A81E}"/>
              </a:ext>
            </a:extLst>
          </p:cNvPr>
          <p:cNvCxnSpPr/>
          <p:nvPr/>
        </p:nvCxnSpPr>
        <p:spPr>
          <a:xfrm flipV="1">
            <a:off x="4106779" y="2603821"/>
            <a:ext cx="1906953" cy="118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3744BE-1001-44BF-BBBD-A19054CCA5E4}"/>
              </a:ext>
            </a:extLst>
          </p:cNvPr>
          <p:cNvSpPr txBox="1"/>
          <p:nvPr/>
        </p:nvSpPr>
        <p:spPr>
          <a:xfrm>
            <a:off x="2344758" y="3528363"/>
            <a:ext cx="1762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>
                <a:solidFill>
                  <a:schemeClr val="accent2">
                    <a:lumMod val="75000"/>
                  </a:schemeClr>
                </a:solidFill>
              </a:rPr>
              <a:t>אינדקס שורה</a:t>
            </a:r>
            <a:endParaRPr lang="en-IL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F970DC-B081-4213-BF7C-6987B6F5713E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432884" y="2416435"/>
            <a:ext cx="1613394" cy="954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39F864-E8A2-400A-AB41-A36D9BAD2359}"/>
              </a:ext>
            </a:extLst>
          </p:cNvPr>
          <p:cNvSpPr txBox="1"/>
          <p:nvPr/>
        </p:nvSpPr>
        <p:spPr>
          <a:xfrm>
            <a:off x="8046278" y="3140289"/>
            <a:ext cx="2450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>
                <a:solidFill>
                  <a:schemeClr val="accent2">
                    <a:lumMod val="75000"/>
                  </a:schemeClr>
                </a:solidFill>
              </a:rPr>
              <a:t>אינדקס עמודה</a:t>
            </a:r>
            <a:endParaRPr lang="en-IL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37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D674-D474-41E8-9D8E-CE40DE8FE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פעולות על מטריצות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D4F3B-3BCD-4065-A719-88AE7723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חיבור</a:t>
            </a:r>
          </a:p>
          <a:p>
            <a:r>
              <a:rPr lang="he-IL" dirty="0"/>
              <a:t>חיסור</a:t>
            </a:r>
          </a:p>
          <a:p>
            <a:r>
              <a:rPr lang="he-IL" dirty="0"/>
              <a:t>כפל בסקלר (מספר)</a:t>
            </a:r>
          </a:p>
          <a:p>
            <a:r>
              <a:rPr lang="he-IL" dirty="0"/>
              <a:t>כפל </a:t>
            </a:r>
            <a:r>
              <a:rPr lang="en-US" dirty="0"/>
              <a:t>elementwise</a:t>
            </a:r>
            <a:endParaRPr lang="he-IL" dirty="0"/>
          </a:p>
          <a:p>
            <a:r>
              <a:rPr lang="he-IL" dirty="0"/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026123-B038-4E07-80E2-E5724D01BCFC}"/>
                  </a:ext>
                </a:extLst>
              </p:cNvPr>
              <p:cNvSpPr txBox="1"/>
              <p:nvPr/>
            </p:nvSpPr>
            <p:spPr>
              <a:xfrm>
                <a:off x="504825" y="217892"/>
                <a:ext cx="3462038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026123-B038-4E07-80E2-E5724D01B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5" y="217892"/>
                <a:ext cx="3462038" cy="984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B91834-6787-42EE-8821-D66DD121D888}"/>
                  </a:ext>
                </a:extLst>
              </p:cNvPr>
              <p:cNvSpPr txBox="1"/>
              <p:nvPr/>
            </p:nvSpPr>
            <p:spPr>
              <a:xfrm>
                <a:off x="504825" y="1350841"/>
                <a:ext cx="3473708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B91834-6787-42EE-8821-D66DD121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5" y="1350841"/>
                <a:ext cx="3473708" cy="9841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EDE5F9-96F2-446F-A3A8-8AF05BE8E7D3}"/>
                  </a:ext>
                </a:extLst>
              </p:cNvPr>
              <p:cNvSpPr txBox="1"/>
              <p:nvPr/>
            </p:nvSpPr>
            <p:spPr>
              <a:xfrm>
                <a:off x="504825" y="2472493"/>
                <a:ext cx="4208267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10.1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7.1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EDE5F9-96F2-446F-A3A8-8AF05BE8E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5" y="2472493"/>
                <a:ext cx="4208267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6B6B75-EC97-46B7-9B20-0C74EDA6F884}"/>
                  </a:ext>
                </a:extLst>
              </p:cNvPr>
              <p:cNvSpPr txBox="1"/>
              <p:nvPr/>
            </p:nvSpPr>
            <p:spPr>
              <a:xfrm>
                <a:off x="504825" y="3575965"/>
                <a:ext cx="4275593" cy="98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6B6B75-EC97-46B7-9B20-0C74EDA6F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5" y="3575965"/>
                <a:ext cx="4275593" cy="9828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DF0365-0A9F-4113-A025-46970B9ADA74}"/>
                  </a:ext>
                </a:extLst>
              </p:cNvPr>
              <p:cNvSpPr txBox="1"/>
              <p:nvPr/>
            </p:nvSpPr>
            <p:spPr>
              <a:xfrm>
                <a:off x="504825" y="4713199"/>
                <a:ext cx="408778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DF0365-0A9F-4113-A025-46970B9AD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5" y="4713199"/>
                <a:ext cx="4087786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940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79F6-D408-4C46-B7D3-A2D84F2D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4 – פעולות על מטריצות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8AA97-1587-4CD8-BD84-814E84107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פתרו את התרגילים הבאים:</a:t>
            </a:r>
          </a:p>
          <a:p>
            <a:pPr marL="742950" indent="-514350" algn="l" rtl="0">
              <a:buFont typeface="+mj-lt"/>
              <a:buAutoNum type="arabicPeriod"/>
            </a:pPr>
            <a:r>
              <a:rPr lang="en-US" dirty="0"/>
              <a:t>3*A</a:t>
            </a:r>
          </a:p>
          <a:p>
            <a:pPr marL="742950" indent="-514350" algn="l" rtl="0">
              <a:buFont typeface="+mj-lt"/>
              <a:buAutoNum type="arabicPeriod"/>
            </a:pPr>
            <a:r>
              <a:rPr lang="en-US" dirty="0"/>
              <a:t>3*A+B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F4AF9D-F575-4C9A-9221-EA1954A1A3A4}"/>
                  </a:ext>
                </a:extLst>
              </p:cNvPr>
              <p:cNvSpPr txBox="1"/>
              <p:nvPr/>
            </p:nvSpPr>
            <p:spPr>
              <a:xfrm>
                <a:off x="6853073" y="2690624"/>
                <a:ext cx="2751907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F4AF9D-F575-4C9A-9221-EA1954A1A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073" y="2690624"/>
                <a:ext cx="2751907" cy="984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2086D7-F258-407A-9765-B6705EE5734E}"/>
                  </a:ext>
                </a:extLst>
              </p:cNvPr>
              <p:cNvSpPr txBox="1"/>
              <p:nvPr/>
            </p:nvSpPr>
            <p:spPr>
              <a:xfrm>
                <a:off x="6853073" y="4018568"/>
                <a:ext cx="2763577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5.0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2086D7-F258-407A-9765-B6705EE57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073" y="4018568"/>
                <a:ext cx="2763577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096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5B1A-2338-46BD-B848-4AABD0B3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מטריצות ב-</a:t>
            </a:r>
            <a:r>
              <a:rPr lang="en-US" dirty="0" err="1"/>
              <a:t>numpy</a:t>
            </a:r>
            <a:r>
              <a:rPr lang="he-IL" dirty="0"/>
              <a:t> - </a:t>
            </a:r>
            <a:r>
              <a:rPr lang="en-US" dirty="0"/>
              <a:t>array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24ACD-9A99-4AD9-BAC8-568F4A0DF5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6" r="-1" b="4165"/>
          <a:stretch/>
        </p:blipFill>
        <p:spPr>
          <a:xfrm>
            <a:off x="310718" y="1610749"/>
            <a:ext cx="9101406" cy="307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26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B08B-B17D-4688-BE1E-A89828E1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פעולות </a:t>
            </a:r>
            <a:r>
              <a:rPr lang="he-IL"/>
              <a:t>על מטריצות ב </a:t>
            </a:r>
            <a:r>
              <a:rPr lang="en-US"/>
              <a:t>numpy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D89F8-75C9-E408-6D93-E4A37A67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5" y="1418876"/>
            <a:ext cx="3101839" cy="2710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8B5C3-96C0-AC03-DBA8-1DD1DA825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602" y="1418876"/>
            <a:ext cx="3586397" cy="532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22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D224-3AE6-C289-4A24-65233B11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פעולת </a:t>
            </a:r>
            <a:r>
              <a:rPr lang="en-US" dirty="0"/>
              <a:t>Transpose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E5E17E-2047-03CE-7195-F2CE5A439FCF}"/>
              </a:ext>
            </a:extLst>
          </p:cNvPr>
          <p:cNvSpPr/>
          <p:nvPr/>
        </p:nvSpPr>
        <p:spPr>
          <a:xfrm>
            <a:off x="1647825" y="2171700"/>
            <a:ext cx="2152650" cy="923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823233-0C5B-2ACD-B4DB-DF67B356983E}"/>
              </a:ext>
            </a:extLst>
          </p:cNvPr>
          <p:cNvSpPr/>
          <p:nvPr/>
        </p:nvSpPr>
        <p:spPr>
          <a:xfrm rot="5400000">
            <a:off x="4327518" y="2171699"/>
            <a:ext cx="2152650" cy="923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3D780-0F81-B665-8522-0A7781517FC5}"/>
              </a:ext>
            </a:extLst>
          </p:cNvPr>
          <p:cNvSpPr txBox="1"/>
          <p:nvPr/>
        </p:nvSpPr>
        <p:spPr>
          <a:xfrm>
            <a:off x="3808652" y="1787892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</a:t>
            </a:r>
            <a:endParaRPr lang="en-IL" sz="3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26EDB-7EF3-51EA-10A6-E4D58EFA3933}"/>
              </a:ext>
            </a:extLst>
          </p:cNvPr>
          <p:cNvSpPr txBox="1"/>
          <p:nvPr/>
        </p:nvSpPr>
        <p:spPr>
          <a:xfrm>
            <a:off x="4154089" y="2479772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=</a:t>
            </a:r>
            <a:endParaRPr lang="en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78BB1F-C9BF-D29B-9B0D-33F563CF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945" y="1787892"/>
            <a:ext cx="4763165" cy="38391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93D0E3-EF27-4E16-DC09-0E9E21909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195" y="4338579"/>
            <a:ext cx="2572109" cy="828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E3B3F-FCDB-E281-0132-915E3BA47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630" y="2190750"/>
            <a:ext cx="1286001" cy="8825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CB7000-3B8D-FE1A-D6F5-23F6990E69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803"/>
          <a:stretch/>
        </p:blipFill>
        <p:spPr>
          <a:xfrm>
            <a:off x="5002614" y="1963134"/>
            <a:ext cx="762043" cy="134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22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מטריצה במטריצה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765" y="1470183"/>
            <a:ext cx="11563006" cy="4589707"/>
          </a:xfrm>
        </p:spPr>
        <p:txBody>
          <a:bodyPr/>
          <a:lstStyle/>
          <a:p>
            <a:r>
              <a:rPr lang="he-IL" dirty="0"/>
              <a:t>כפל מטריצה הוא אוסף </a:t>
            </a:r>
            <a:r>
              <a:rPr lang="he-IL"/>
              <a:t>מכפלות פנימיות </a:t>
            </a:r>
            <a:r>
              <a:rPr lang="he-IL" dirty="0"/>
              <a:t>בין שורה משמאל </a:t>
            </a:r>
            <a:r>
              <a:rPr lang="he-IL"/>
              <a:t>ועמודה מימין. ניתן להכפיל רק מטריצות עם ממדים המאפשרים זאת. מספר העמודות ב </a:t>
            </a:r>
            <a:r>
              <a:rPr lang="en-US"/>
              <a:t>A</a:t>
            </a:r>
            <a:r>
              <a:rPr lang="he-IL"/>
              <a:t> חייב להיות זהה למספר השורות ב </a:t>
            </a:r>
            <a:r>
              <a:rPr lang="en-US"/>
              <a:t>B</a:t>
            </a:r>
            <a:r>
              <a:rPr lang="he-IL"/>
              <a:t>.</a:t>
            </a:r>
            <a:endParaRPr lang="en-IL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864849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864849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3018465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3018465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/>
              <p:nvPr/>
            </p:nvSpPr>
            <p:spPr>
              <a:xfrm>
                <a:off x="783195" y="4290184"/>
                <a:ext cx="6069097" cy="1006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290184"/>
                <a:ext cx="6069097" cy="1006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A2E7934-7BB0-9838-2559-C18DC9869FDE}"/>
              </a:ext>
            </a:extLst>
          </p:cNvPr>
          <p:cNvSpPr txBox="1"/>
          <p:nvPr/>
        </p:nvSpPr>
        <p:spPr>
          <a:xfrm>
            <a:off x="1928350" y="3695798"/>
            <a:ext cx="9144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(n,m)</a:t>
            </a:r>
            <a:endParaRPr lang="he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F41FB97-8A77-852B-59CF-7458E29969DE}"/>
              </a:ext>
            </a:extLst>
          </p:cNvPr>
          <p:cNvSpPr txBox="1"/>
          <p:nvPr/>
        </p:nvSpPr>
        <p:spPr>
          <a:xfrm>
            <a:off x="5261272" y="3614363"/>
            <a:ext cx="9144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(m,q)</a:t>
            </a:r>
            <a:endParaRPr lang="he-IL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C57E573-242F-D681-BB3D-5BF0BC6B4DDC}"/>
              </a:ext>
            </a:extLst>
          </p:cNvPr>
          <p:cNvSpPr txBox="1"/>
          <p:nvPr/>
        </p:nvSpPr>
        <p:spPr>
          <a:xfrm>
            <a:off x="6709735" y="4903866"/>
            <a:ext cx="9144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(n,q)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7041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(1)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כפל מטריצה הוא אוסף מכפלות </a:t>
            </a:r>
            <a:r>
              <a:rPr lang="he-IL" dirty="0" err="1"/>
              <a:t>סקלריות</a:t>
            </a:r>
            <a:r>
              <a:rPr lang="he-IL" dirty="0"/>
              <a:t> בין שורה משמאל ועמודה מימין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7776423" cy="1006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7776423" cy="1006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6AD8735-34BD-4D06-807C-9B708DA511E2}"/>
              </a:ext>
            </a:extLst>
          </p:cNvPr>
          <p:cNvSpPr/>
          <p:nvPr/>
        </p:nvSpPr>
        <p:spPr>
          <a:xfrm>
            <a:off x="2007676" y="4043966"/>
            <a:ext cx="750330" cy="281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FF877E-A86A-49A3-879F-3A6D47FF2D31}"/>
              </a:ext>
            </a:extLst>
          </p:cNvPr>
          <p:cNvSpPr/>
          <p:nvPr/>
        </p:nvSpPr>
        <p:spPr>
          <a:xfrm>
            <a:off x="3196178" y="4184525"/>
            <a:ext cx="423365" cy="710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8429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(2)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כפל מטריצה הוא אוסף מכפלות </a:t>
            </a:r>
            <a:r>
              <a:rPr lang="he-IL" dirty="0" err="1"/>
              <a:t>סקלריות</a:t>
            </a:r>
            <a:r>
              <a:rPr lang="he-IL" dirty="0"/>
              <a:t> בין שורה משמאל ועמודה מימין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6D0CA4-3A8F-4F41-9831-7FB47BB9A70A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9337236" cy="1006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1∗8+4∗11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6D0CA4-3A8F-4F41-9831-7FB47BB9A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9337236" cy="1006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CE9B564-2D8B-4CEA-A06D-2A90306914A7}"/>
              </a:ext>
            </a:extLst>
          </p:cNvPr>
          <p:cNvSpPr/>
          <p:nvPr/>
        </p:nvSpPr>
        <p:spPr>
          <a:xfrm>
            <a:off x="2007676" y="4043966"/>
            <a:ext cx="750330" cy="281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D884D-E9EA-49E3-8E34-9234B24C3CDA}"/>
              </a:ext>
            </a:extLst>
          </p:cNvPr>
          <p:cNvSpPr/>
          <p:nvPr/>
        </p:nvSpPr>
        <p:spPr>
          <a:xfrm>
            <a:off x="3818680" y="4184525"/>
            <a:ext cx="423365" cy="710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7479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(3)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כפל מטריצה הוא אוסף מכפלות </a:t>
            </a:r>
            <a:r>
              <a:rPr lang="he-IL" dirty="0" err="1"/>
              <a:t>סקלריות</a:t>
            </a:r>
            <a:r>
              <a:rPr lang="he-IL" dirty="0"/>
              <a:t> בין שורה משמאל ועמודה מימין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1∗8+4∗11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1∗9+4∗12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3532EFE-8240-4AF1-90E5-2CEA9E80483A}"/>
              </a:ext>
            </a:extLst>
          </p:cNvPr>
          <p:cNvSpPr/>
          <p:nvPr/>
        </p:nvSpPr>
        <p:spPr>
          <a:xfrm>
            <a:off x="2007676" y="4043966"/>
            <a:ext cx="750330" cy="281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B4DF7-2893-4A2F-91C2-F4D2A607D27B}"/>
              </a:ext>
            </a:extLst>
          </p:cNvPr>
          <p:cNvSpPr/>
          <p:nvPr/>
        </p:nvSpPr>
        <p:spPr>
          <a:xfrm>
            <a:off x="4501103" y="4184526"/>
            <a:ext cx="423365" cy="710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5710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(4)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כפל מטריצה הוא אוסף מכפלות </a:t>
            </a:r>
            <a:r>
              <a:rPr lang="he-IL" dirty="0" err="1"/>
              <a:t>סקלריות</a:t>
            </a:r>
            <a:r>
              <a:rPr lang="he-IL" dirty="0"/>
              <a:t> בין שורה משמאל ועמודה מימין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1∗8+4∗11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1∗9+4∗12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3532EFE-8240-4AF1-90E5-2CEA9E80483A}"/>
              </a:ext>
            </a:extLst>
          </p:cNvPr>
          <p:cNvSpPr/>
          <p:nvPr/>
        </p:nvSpPr>
        <p:spPr>
          <a:xfrm>
            <a:off x="2007676" y="4399393"/>
            <a:ext cx="750330" cy="281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B4DF7-2893-4A2F-91C2-F4D2A607D27B}"/>
              </a:ext>
            </a:extLst>
          </p:cNvPr>
          <p:cNvSpPr/>
          <p:nvPr/>
        </p:nvSpPr>
        <p:spPr>
          <a:xfrm>
            <a:off x="3224753" y="4184525"/>
            <a:ext cx="423365" cy="710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76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(5)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כפל מטריצה הוא אוסף מכפלות </a:t>
            </a:r>
            <a:r>
              <a:rPr lang="he-IL" dirty="0" err="1"/>
              <a:t>סקלריות</a:t>
            </a:r>
            <a:r>
              <a:rPr lang="he-IL" dirty="0"/>
              <a:t> בין שורה משמאל ועמודה מימין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1∗8+4∗11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1∗9+4∗12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3532EFE-8240-4AF1-90E5-2CEA9E80483A}"/>
              </a:ext>
            </a:extLst>
          </p:cNvPr>
          <p:cNvSpPr/>
          <p:nvPr/>
        </p:nvSpPr>
        <p:spPr>
          <a:xfrm>
            <a:off x="2007676" y="4399393"/>
            <a:ext cx="750330" cy="281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B4DF7-2893-4A2F-91C2-F4D2A607D27B}"/>
              </a:ext>
            </a:extLst>
          </p:cNvPr>
          <p:cNvSpPr/>
          <p:nvPr/>
        </p:nvSpPr>
        <p:spPr>
          <a:xfrm>
            <a:off x="3818680" y="4184525"/>
            <a:ext cx="423365" cy="710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2810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(6)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כפל מטריצה הוא אוסף מכפלות </a:t>
            </a:r>
            <a:r>
              <a:rPr lang="he-IL" dirty="0" err="1"/>
              <a:t>סקלריות</a:t>
            </a:r>
            <a:r>
              <a:rPr lang="he-IL" dirty="0"/>
              <a:t> בין שורה משמאל ועמודה מימין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1∗8+4∗11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1∗9+4∗12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∗9+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∗12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3532EFE-8240-4AF1-90E5-2CEA9E80483A}"/>
              </a:ext>
            </a:extLst>
          </p:cNvPr>
          <p:cNvSpPr/>
          <p:nvPr/>
        </p:nvSpPr>
        <p:spPr>
          <a:xfrm>
            <a:off x="2007676" y="4399393"/>
            <a:ext cx="750330" cy="281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B4DF7-2893-4A2F-91C2-F4D2A607D27B}"/>
              </a:ext>
            </a:extLst>
          </p:cNvPr>
          <p:cNvSpPr/>
          <p:nvPr/>
        </p:nvSpPr>
        <p:spPr>
          <a:xfrm>
            <a:off x="4437805" y="4184525"/>
            <a:ext cx="423365" cy="710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5146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(7)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D0C11-F238-400B-B2B1-7319FCF5E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כפל מטריצה הוא אוסף מכפלות </a:t>
            </a:r>
            <a:r>
              <a:rPr lang="he-IL" dirty="0" err="1"/>
              <a:t>סקלריות</a:t>
            </a:r>
            <a:r>
              <a:rPr lang="he-IL" dirty="0"/>
              <a:t> בין שורה משמאל ועמודה מימין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1∗8+4∗11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1∗9+4∗12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∗9+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∗12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∗9+</m:t>
                                </m:r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∗12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EA458-4DB6-4842-989D-16BB4D0B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10842584" cy="976614"/>
              </a:xfrm>
              <a:prstGeom prst="rect">
                <a:avLst/>
              </a:prstGeom>
              <a:blipFill>
                <a:blip r:embed="rId4"/>
                <a:stretch>
                  <a:fillRect b="-62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3532EFE-8240-4AF1-90E5-2CEA9E80483A}"/>
              </a:ext>
            </a:extLst>
          </p:cNvPr>
          <p:cNvSpPr/>
          <p:nvPr/>
        </p:nvSpPr>
        <p:spPr>
          <a:xfrm>
            <a:off x="2026726" y="4758021"/>
            <a:ext cx="750330" cy="281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929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B4E2-476D-4DA2-8546-A3DB0861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מטריצות – חישוב כללי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1EE665-2C28-4631-ABE8-B802E66DDA72}"/>
                  </a:ext>
                </a:extLst>
              </p:cNvPr>
              <p:cNvSpPr txBox="1"/>
              <p:nvPr/>
            </p:nvSpPr>
            <p:spPr>
              <a:xfrm>
                <a:off x="1200150" y="1396850"/>
                <a:ext cx="9010650" cy="1903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L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L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L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L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L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L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L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IL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L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L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L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L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L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L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IL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1EE665-2C28-4631-ABE8-B802E66DD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50" y="1396850"/>
                <a:ext cx="9010650" cy="1903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8D7F1E-2F11-4389-B74E-04B22B91D7B5}"/>
                  </a:ext>
                </a:extLst>
              </p:cNvPr>
              <p:cNvSpPr txBox="1"/>
              <p:nvPr/>
            </p:nvSpPr>
            <p:spPr>
              <a:xfrm>
                <a:off x="161925" y="3495675"/>
                <a:ext cx="8591550" cy="1844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L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L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8D7F1E-2F11-4389-B74E-04B22B91D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" y="3495675"/>
                <a:ext cx="8591550" cy="18448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74E3AE3-4DC9-4FEB-9377-CD6E9D79FE14}"/>
              </a:ext>
            </a:extLst>
          </p:cNvPr>
          <p:cNvSpPr/>
          <p:nvPr/>
        </p:nvSpPr>
        <p:spPr>
          <a:xfrm>
            <a:off x="2103928" y="1928592"/>
            <a:ext cx="3414555" cy="365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D33D6-A430-406A-87C4-81D9C6BAD375}"/>
              </a:ext>
            </a:extLst>
          </p:cNvPr>
          <p:cNvSpPr/>
          <p:nvPr/>
        </p:nvSpPr>
        <p:spPr>
          <a:xfrm>
            <a:off x="7574287" y="1399668"/>
            <a:ext cx="750330" cy="1848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0460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51FE-2878-4D63-A7DE-CDE59B81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5 – כפל מטריצות 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256DCF8-12D6-4240-83F0-B9426412EF5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פתרו את התרגילים הבאים: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IL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IL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256DCF8-12D6-4240-83F0-B9426412E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067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07DFEE-58A5-61F0-D12E-7459BC14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סיכום גדלים של מטריצות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0C7818F0-DDF1-AC03-527B-373D9079B3B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algn="l" rtl="0"/>
                <a: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A(n,m)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C(n,q)</a:t>
                </a:r>
                <a:endParaRPr lang="he-IL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0C7818F0-DDF1-AC03-527B-373D9079B3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427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8AAF-F4A2-4017-8400-A951E2BF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6 - מימוש כפל מטריצות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89ABE-026E-47FD-88DA-F6A886EF0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ממשו פעולה </a:t>
            </a:r>
            <a:r>
              <a:rPr lang="en-US" dirty="0"/>
              <a:t>dot(A,B)</a:t>
            </a:r>
            <a:r>
              <a:rPr lang="he-IL" dirty="0"/>
              <a:t> המקבלת שתי מטריצות </a:t>
            </a:r>
            <a:r>
              <a:rPr lang="en-US" dirty="0"/>
              <a:t>A,B</a:t>
            </a:r>
            <a:r>
              <a:rPr lang="he-IL" dirty="0"/>
              <a:t> כ-</a:t>
            </a:r>
            <a:r>
              <a:rPr lang="en-US" dirty="0" err="1"/>
              <a:t>numpy</a:t>
            </a:r>
            <a:r>
              <a:rPr lang="en-US" dirty="0"/>
              <a:t> array</a:t>
            </a:r>
            <a:endParaRPr lang="he-IL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הפעולה בודקת אם ניתן להכפיל את המטריצות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במידה וכן הפעולה מחשבת את התוצאה על ידי נוסחת הכפלת המטריצות ומחזירה את התשובה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בדקו את </a:t>
            </a:r>
            <a:r>
              <a:rPr lang="he-IL"/>
              <a:t>הפעולה על </a:t>
            </a:r>
            <a:r>
              <a:rPr lang="he-IL" dirty="0"/>
              <a:t>ידי השוואה ל</a:t>
            </a:r>
            <a:r>
              <a:rPr lang="en-US" dirty="0"/>
              <a:t>numpy.dot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3879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B42B-BC8C-41F0-AC19-38A0C70E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609" y="302975"/>
            <a:ext cx="4851510" cy="49703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he-IL" sz="3600"/>
              <a:t>וקטור חד-ממדי</a:t>
            </a:r>
            <a:endParaRPr lang="en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0E1C85-61B2-4D5F-B83E-5D2CC7FE9E20}"/>
                  </a:ext>
                </a:extLst>
              </p:cNvPr>
              <p:cNvSpPr txBox="1"/>
              <p:nvPr/>
            </p:nvSpPr>
            <p:spPr>
              <a:xfrm>
                <a:off x="4640111" y="2626680"/>
                <a:ext cx="35988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0E1C85-61B2-4D5F-B83E-5D2CC7FE9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111" y="2626680"/>
                <a:ext cx="3598806" cy="369332"/>
              </a:xfrm>
              <a:prstGeom prst="rect">
                <a:avLst/>
              </a:prstGeom>
              <a:blipFill>
                <a:blip r:embed="rId2"/>
                <a:stretch>
                  <a:fillRect l="-1184" b="-166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6BF330-09C2-4C1E-8C25-2793D9C2F3B3}"/>
                  </a:ext>
                </a:extLst>
              </p:cNvPr>
              <p:cNvSpPr txBox="1"/>
              <p:nvPr/>
            </p:nvSpPr>
            <p:spPr>
              <a:xfrm>
                <a:off x="4998670" y="4246033"/>
                <a:ext cx="1440844" cy="98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/>
                  <a:t>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4.9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4.7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6BF330-09C2-4C1E-8C25-2793D9C2F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670" y="4246033"/>
                <a:ext cx="1440844" cy="982833"/>
              </a:xfrm>
              <a:prstGeom prst="rect">
                <a:avLst/>
              </a:prstGeom>
              <a:blipFill>
                <a:blip r:embed="rId3"/>
                <a:stretch>
                  <a:fillRect l="-131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DA1D2A4-BD22-4BA7-AD01-6D9623AFE3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0297"/>
          <a:stretch/>
        </p:blipFill>
        <p:spPr>
          <a:xfrm>
            <a:off x="307342" y="250825"/>
            <a:ext cx="4163006" cy="1751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E00E6F-0956-4F62-9311-E23CA02D00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016" b="37560"/>
          <a:stretch/>
        </p:blipFill>
        <p:spPr>
          <a:xfrm>
            <a:off x="307342" y="2315633"/>
            <a:ext cx="4163006" cy="16171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3F1606-D344-4586-AAC8-361737496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42" y="4246033"/>
            <a:ext cx="3753374" cy="2324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35F36E75-A7B3-0FEF-6016-E318BB1316C4}"/>
                  </a:ext>
                </a:extLst>
              </p:cNvPr>
              <p:cNvSpPr txBox="1"/>
              <p:nvPr/>
            </p:nvSpPr>
            <p:spPr>
              <a:xfrm>
                <a:off x="4558981" y="883697"/>
                <a:ext cx="3569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35F36E75-A7B3-0FEF-6016-E318BB131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981" y="883697"/>
                <a:ext cx="3569952" cy="369332"/>
              </a:xfrm>
              <a:prstGeom prst="rect">
                <a:avLst/>
              </a:prstGeom>
              <a:blipFill>
                <a:blip r:embed="rId6"/>
                <a:stretch>
                  <a:fillRect l="-513"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6678A6F4-4082-E3B7-59B6-9F8D2B3E0AB5}"/>
              </a:ext>
            </a:extLst>
          </p:cNvPr>
          <p:cNvSpPr txBox="1">
            <a:spLocks/>
          </p:cNvSpPr>
          <p:nvPr/>
        </p:nvSpPr>
        <p:spPr>
          <a:xfrm>
            <a:off x="4110019" y="1753851"/>
            <a:ext cx="8363104" cy="4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he-IL" sz="3600"/>
              <a:t>וקטור שורה / מטריצת שורה</a:t>
            </a:r>
            <a:endParaRPr lang="en-IL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A4F96D-95AB-DF44-F185-557B50D54B2B}"/>
              </a:ext>
            </a:extLst>
          </p:cNvPr>
          <p:cNvSpPr txBox="1">
            <a:spLocks/>
          </p:cNvSpPr>
          <p:nvPr/>
        </p:nvSpPr>
        <p:spPr>
          <a:xfrm>
            <a:off x="3947381" y="3309278"/>
            <a:ext cx="8363104" cy="4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he-IL" sz="3600"/>
              <a:t>וקטור עמודה / מטריצת עמודה</a:t>
            </a:r>
            <a:endParaRPr lang="en-IL" sz="3600" dirty="0"/>
          </a:p>
        </p:txBody>
      </p:sp>
    </p:spTree>
    <p:extLst>
      <p:ext uri="{BB962C8B-B14F-4D97-AF65-F5344CB8AC3E}">
        <p14:creationId xmlns:p14="http://schemas.microsoft.com/office/powerpoint/2010/main" val="2690654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544B-CFBD-5C10-04C0-693F8FF09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8" y="355225"/>
            <a:ext cx="10802715" cy="1100714"/>
          </a:xfrm>
        </p:spPr>
        <p:txBody>
          <a:bodyPr>
            <a:normAutofit fontScale="90000"/>
          </a:bodyPr>
          <a:lstStyle/>
          <a:p>
            <a:r>
              <a:rPr lang="he-IL"/>
              <a:t>מכפלת מטריצת שורה במטריצת עמודה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0B0921-247A-B821-8CA8-8D163399BADF}"/>
                  </a:ext>
                </a:extLst>
              </p:cNvPr>
              <p:cNvSpPr txBox="1"/>
              <p:nvPr/>
            </p:nvSpPr>
            <p:spPr>
              <a:xfrm>
                <a:off x="4338999" y="2092002"/>
                <a:ext cx="14257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0B0921-247A-B821-8CA8-8D163399B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99" y="2092002"/>
                <a:ext cx="1425710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94679-30C4-C0D2-68B8-EE57008AC776}"/>
                  </a:ext>
                </a:extLst>
              </p:cNvPr>
              <p:cNvSpPr txBox="1"/>
              <p:nvPr/>
            </p:nvSpPr>
            <p:spPr>
              <a:xfrm>
                <a:off x="5764709" y="1788361"/>
                <a:ext cx="500458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94679-30C4-C0D2-68B8-EE57008AC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709" y="1788361"/>
                <a:ext cx="500458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767616-38FC-08D9-E2DF-10122C3325E6}"/>
                  </a:ext>
                </a:extLst>
              </p:cNvPr>
              <p:cNvSpPr txBox="1"/>
              <p:nvPr/>
            </p:nvSpPr>
            <p:spPr>
              <a:xfrm>
                <a:off x="4913014" y="4533362"/>
                <a:ext cx="14257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767616-38FC-08D9-E2DF-10122C332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014" y="4533362"/>
                <a:ext cx="142571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1DFF88-4E61-9511-7318-36D02D8B8536}"/>
                  </a:ext>
                </a:extLst>
              </p:cNvPr>
              <p:cNvSpPr txBox="1"/>
              <p:nvPr/>
            </p:nvSpPr>
            <p:spPr>
              <a:xfrm>
                <a:off x="4412556" y="4229721"/>
                <a:ext cx="500458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1DFF88-4E61-9511-7318-36D02D8B8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556" y="4229721"/>
                <a:ext cx="500458" cy="976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2DB5E22-316F-2C68-A328-8DF7975D840D}"/>
              </a:ext>
            </a:extLst>
          </p:cNvPr>
          <p:cNvSpPr txBox="1"/>
          <p:nvPr/>
        </p:nvSpPr>
        <p:spPr>
          <a:xfrm>
            <a:off x="6335589" y="2092002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=?</a:t>
            </a:r>
            <a:endParaRPr lang="en-IL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2FAD5-2C77-A099-C21C-DB79427F10D9}"/>
              </a:ext>
            </a:extLst>
          </p:cNvPr>
          <p:cNvSpPr txBox="1"/>
          <p:nvPr/>
        </p:nvSpPr>
        <p:spPr>
          <a:xfrm>
            <a:off x="6409146" y="4456418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=?</a:t>
            </a:r>
            <a:endParaRPr lang="en-IL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060C2A-B0C9-4C33-FAB5-41CA06804BE1}"/>
              </a:ext>
            </a:extLst>
          </p:cNvPr>
          <p:cNvSpPr txBox="1">
            <a:spLocks/>
          </p:cNvSpPr>
          <p:nvPr/>
        </p:nvSpPr>
        <p:spPr>
          <a:xfrm>
            <a:off x="90961" y="3097397"/>
            <a:ext cx="10802715" cy="110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he-IL" sz="4000"/>
              <a:t>מכפלת מטריצת עמודה במטריצת שורה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504675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</a:t>
            </a:r>
            <a:r>
              <a:rPr lang="he-IL"/>
              <a:t>וקטור חד-ממדי </a:t>
            </a:r>
            <a:r>
              <a:rPr lang="he-IL" dirty="0"/>
              <a:t>במטריצה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897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89730" cy="369332"/>
              </a:xfrm>
              <a:prstGeom prst="rect">
                <a:avLst/>
              </a:prstGeom>
              <a:blipFill>
                <a:blip r:embed="rId2"/>
                <a:stretch>
                  <a:fillRect l="-1916" b="-8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3021570" y="2553440"/>
                <a:ext cx="255525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570" y="2553440"/>
                <a:ext cx="2555251" cy="615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8304389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dirty="0"/>
                        <m:t>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he-IL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8304389" cy="615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70869E2-453D-3B72-7EA5-A961425E4A75}"/>
              </a:ext>
            </a:extLst>
          </p:cNvPr>
          <p:cNvSpPr/>
          <p:nvPr/>
        </p:nvSpPr>
        <p:spPr>
          <a:xfrm>
            <a:off x="3171825" y="3933825"/>
            <a:ext cx="400050" cy="98107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139B7E-6E6D-1B04-1EAB-1A6226815BFB}"/>
              </a:ext>
            </a:extLst>
          </p:cNvPr>
          <p:cNvSpPr/>
          <p:nvPr/>
        </p:nvSpPr>
        <p:spPr>
          <a:xfrm>
            <a:off x="5377482" y="4153364"/>
            <a:ext cx="400050" cy="45719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F8E7C4-6100-6722-449A-61180F168507}"/>
              </a:ext>
            </a:extLst>
          </p:cNvPr>
          <p:cNvSpPr/>
          <p:nvPr/>
        </p:nvSpPr>
        <p:spPr>
          <a:xfrm>
            <a:off x="3795204" y="3933824"/>
            <a:ext cx="400050" cy="9810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9B1364-4476-0BA9-D075-D9FF2B7ACC1A}"/>
              </a:ext>
            </a:extLst>
          </p:cNvPr>
          <p:cNvSpPr/>
          <p:nvPr/>
        </p:nvSpPr>
        <p:spPr>
          <a:xfrm>
            <a:off x="5936788" y="4151970"/>
            <a:ext cx="400050" cy="4572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85D64A-4754-25F1-6207-B12F8A731D3B}"/>
              </a:ext>
            </a:extLst>
          </p:cNvPr>
          <p:cNvSpPr/>
          <p:nvPr/>
        </p:nvSpPr>
        <p:spPr>
          <a:xfrm>
            <a:off x="4418583" y="3933823"/>
            <a:ext cx="400050" cy="98107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F3D01-A9C0-553F-8934-ECCB62E0DE8D}"/>
              </a:ext>
            </a:extLst>
          </p:cNvPr>
          <p:cNvSpPr/>
          <p:nvPr/>
        </p:nvSpPr>
        <p:spPr>
          <a:xfrm>
            <a:off x="6514717" y="4125517"/>
            <a:ext cx="400050" cy="4572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BC43F0-D53F-8F23-FCF6-3032A40C7094}"/>
              </a:ext>
            </a:extLst>
          </p:cNvPr>
          <p:cNvSpPr/>
          <p:nvPr/>
        </p:nvSpPr>
        <p:spPr>
          <a:xfrm>
            <a:off x="1987053" y="4176271"/>
            <a:ext cx="682045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B8749-4410-CF9E-24BC-B2BE4A5DA575}"/>
              </a:ext>
            </a:extLst>
          </p:cNvPr>
          <p:cNvSpPr/>
          <p:nvPr/>
        </p:nvSpPr>
        <p:spPr>
          <a:xfrm>
            <a:off x="2029407" y="4213385"/>
            <a:ext cx="682045" cy="36933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4202D7-7FCB-4826-1AA8-D73FBEC61E92}"/>
              </a:ext>
            </a:extLst>
          </p:cNvPr>
          <p:cNvSpPr/>
          <p:nvPr/>
        </p:nvSpPr>
        <p:spPr>
          <a:xfrm>
            <a:off x="2079578" y="4239838"/>
            <a:ext cx="682045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535E2F-A153-D016-E1FF-FF715275CF7F}"/>
              </a:ext>
            </a:extLst>
          </p:cNvPr>
          <p:cNvSpPr txBox="1"/>
          <p:nvPr/>
        </p:nvSpPr>
        <p:spPr>
          <a:xfrm>
            <a:off x="1414501" y="3023584"/>
            <a:ext cx="452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(n,)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681309-04E0-A52D-F4D8-FE847F137F39}"/>
              </a:ext>
            </a:extLst>
          </p:cNvPr>
          <p:cNvSpPr txBox="1"/>
          <p:nvPr/>
        </p:nvSpPr>
        <p:spPr>
          <a:xfrm>
            <a:off x="5236622" y="317747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(n,m)</a:t>
            </a:r>
            <a:endParaRPr lang="en-IL" dirty="0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6E4531FB-5876-15B8-6E1F-B9426301E880}"/>
              </a:ext>
            </a:extLst>
          </p:cNvPr>
          <p:cNvSpPr txBox="1"/>
          <p:nvPr/>
        </p:nvSpPr>
        <p:spPr>
          <a:xfrm>
            <a:off x="2186049" y="4747882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(1,n)</a:t>
            </a:r>
            <a:endParaRPr lang="en-IL" dirty="0"/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F1F82622-7574-E9EE-1654-BB71F540DEB4}"/>
              </a:ext>
            </a:extLst>
          </p:cNvPr>
          <p:cNvSpPr txBox="1"/>
          <p:nvPr/>
        </p:nvSpPr>
        <p:spPr>
          <a:xfrm>
            <a:off x="3712363" y="4917888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(n,m)</a:t>
            </a:r>
            <a:endParaRPr lang="en-IL" dirty="0"/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CA68463D-C3E3-0E7D-9315-B1A98673477C}"/>
              </a:ext>
            </a:extLst>
          </p:cNvPr>
          <p:cNvSpPr txBox="1"/>
          <p:nvPr/>
        </p:nvSpPr>
        <p:spPr>
          <a:xfrm>
            <a:off x="5876034" y="4733560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(1,m)</a:t>
            </a:r>
            <a:endParaRPr lang="en-IL" dirty="0"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91F43E27-93FB-9219-49EE-5947F849A825}"/>
              </a:ext>
            </a:extLst>
          </p:cNvPr>
          <p:cNvSpPr txBox="1"/>
          <p:nvPr/>
        </p:nvSpPr>
        <p:spPr>
          <a:xfrm>
            <a:off x="7837029" y="4724943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(m,)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D6292735-CEA7-DA5B-4B90-1E57B80A2574}"/>
                  </a:ext>
                </a:extLst>
              </p:cNvPr>
              <p:cNvSpPr txBox="1"/>
              <p:nvPr/>
            </p:nvSpPr>
            <p:spPr>
              <a:xfrm>
                <a:off x="634922" y="1717901"/>
                <a:ext cx="9203399" cy="73866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28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a(n,)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A(1,n)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8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C(1,m) = c(m,)</a:t>
                </a:r>
                <a:endParaRPr lang="he-IL" sz="28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he-IL"/>
              </a:p>
            </p:txBody>
          </p:sp>
        </mc:Choice>
        <mc:Fallback xmlns="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D6292735-CEA7-DA5B-4B90-1E57B80A2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22" y="1717901"/>
                <a:ext cx="9203399" cy="738664"/>
              </a:xfrm>
              <a:prstGeom prst="rect">
                <a:avLst/>
              </a:prstGeom>
              <a:blipFill>
                <a:blip r:embed="rId5"/>
                <a:stretch>
                  <a:fillRect l="-1325" t="-909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238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061-FF4B-4640-9B45-867713A1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כפל מטריצה </a:t>
            </a:r>
            <a:r>
              <a:rPr lang="he-IL"/>
              <a:t>בווקטור חד ממדי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/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043B8-4253-4A92-9B26-6B79760E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2626311"/>
                <a:ext cx="157690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/>
              <p:nvPr/>
            </p:nvSpPr>
            <p:spPr>
              <a:xfrm>
                <a:off x="2964420" y="2779927"/>
                <a:ext cx="17540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he-IL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F2E67-C060-4D8A-88A0-91684CD3B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20" y="2779927"/>
                <a:ext cx="1754070" cy="369332"/>
              </a:xfrm>
              <a:prstGeom prst="rect">
                <a:avLst/>
              </a:prstGeom>
              <a:blipFill>
                <a:blip r:embed="rId3"/>
                <a:stretch>
                  <a:fillRect l="-3472" b="-98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/>
              <p:nvPr/>
            </p:nvSpPr>
            <p:spPr>
              <a:xfrm>
                <a:off x="783195" y="4051646"/>
                <a:ext cx="5737917" cy="1006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i="0" dirty="0"/>
                      <m:t>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  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sz="2400" i="0" dirty="0"/>
                      <m:t>•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/>
                          </m:mr>
                          <m:mr>
                            <m:e/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  <m:e/>
                            <m:e/>
                          </m:mr>
                        </m:m>
                      </m:e>
                    </m:d>
                  </m:oMath>
                </a14:m>
                <a:endParaRPr lang="en-I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9A457-4CF9-44A2-951A-9EF41EC6F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5" y="4051646"/>
                <a:ext cx="5737917" cy="1006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7EC3AA9-A5BB-EF40-034C-684AF9354D31}"/>
              </a:ext>
            </a:extLst>
          </p:cNvPr>
          <p:cNvSpPr/>
          <p:nvPr/>
        </p:nvSpPr>
        <p:spPr>
          <a:xfrm>
            <a:off x="3115097" y="4051646"/>
            <a:ext cx="400050" cy="98107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5DCDD-3C06-8916-7098-228FF533D29F}"/>
              </a:ext>
            </a:extLst>
          </p:cNvPr>
          <p:cNvSpPr/>
          <p:nvPr/>
        </p:nvSpPr>
        <p:spPr>
          <a:xfrm>
            <a:off x="4080460" y="3990619"/>
            <a:ext cx="400050" cy="38990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2D991-6CED-8E15-4319-E7207314C59B}"/>
              </a:ext>
            </a:extLst>
          </p:cNvPr>
          <p:cNvSpPr/>
          <p:nvPr/>
        </p:nvSpPr>
        <p:spPr>
          <a:xfrm>
            <a:off x="3157451" y="4094748"/>
            <a:ext cx="400050" cy="9810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E8DD1-AE83-0CB7-B250-959C54734533}"/>
              </a:ext>
            </a:extLst>
          </p:cNvPr>
          <p:cNvSpPr/>
          <p:nvPr/>
        </p:nvSpPr>
        <p:spPr>
          <a:xfrm>
            <a:off x="4084714" y="4418626"/>
            <a:ext cx="400050" cy="33439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BBB07-411B-9BA8-4971-518C88574B8C}"/>
              </a:ext>
            </a:extLst>
          </p:cNvPr>
          <p:cNvSpPr/>
          <p:nvPr/>
        </p:nvSpPr>
        <p:spPr>
          <a:xfrm>
            <a:off x="3193916" y="4145349"/>
            <a:ext cx="400050" cy="98107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0A8554-65BA-15F1-81DE-C3B938E70528}"/>
              </a:ext>
            </a:extLst>
          </p:cNvPr>
          <p:cNvSpPr/>
          <p:nvPr/>
        </p:nvSpPr>
        <p:spPr>
          <a:xfrm>
            <a:off x="4065825" y="4753017"/>
            <a:ext cx="400050" cy="35215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B759E6-DA9C-8A84-2767-63C02D3C8FE8}"/>
              </a:ext>
            </a:extLst>
          </p:cNvPr>
          <p:cNvSpPr/>
          <p:nvPr/>
        </p:nvSpPr>
        <p:spPr>
          <a:xfrm>
            <a:off x="2032364" y="4783259"/>
            <a:ext cx="682045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7B8A69-4F90-3619-44DD-0B91AAF5446B}"/>
              </a:ext>
            </a:extLst>
          </p:cNvPr>
          <p:cNvSpPr/>
          <p:nvPr/>
        </p:nvSpPr>
        <p:spPr>
          <a:xfrm>
            <a:off x="2023518" y="4405989"/>
            <a:ext cx="682045" cy="36933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2AF681-E7A7-323E-DABF-5E5C6D73DB88}"/>
              </a:ext>
            </a:extLst>
          </p:cNvPr>
          <p:cNvSpPr/>
          <p:nvPr/>
        </p:nvSpPr>
        <p:spPr>
          <a:xfrm>
            <a:off x="2047639" y="4028719"/>
            <a:ext cx="682045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DD3C7-8EEF-0FC4-AC21-0666016594DE}"/>
              </a:ext>
            </a:extLst>
          </p:cNvPr>
          <p:cNvSpPr txBox="1"/>
          <p:nvPr/>
        </p:nvSpPr>
        <p:spPr>
          <a:xfrm>
            <a:off x="2093401" y="5352587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(n,m)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51D26-F7EF-C1CD-D505-B0003BF4B745}"/>
              </a:ext>
            </a:extLst>
          </p:cNvPr>
          <p:cNvSpPr txBox="1"/>
          <p:nvPr/>
        </p:nvSpPr>
        <p:spPr>
          <a:xfrm>
            <a:off x="3138008" y="5352587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(m,1)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0D04F9-9314-DA2D-C08F-77D914513A6D}"/>
              </a:ext>
            </a:extLst>
          </p:cNvPr>
          <p:cNvSpPr txBox="1"/>
          <p:nvPr/>
        </p:nvSpPr>
        <p:spPr>
          <a:xfrm>
            <a:off x="4016694" y="5323774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(n,1)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2F49F73F-B1C1-B569-54F7-EAE65671D130}"/>
                  </a:ext>
                </a:extLst>
              </p:cNvPr>
              <p:cNvSpPr txBox="1"/>
              <p:nvPr/>
            </p:nvSpPr>
            <p:spPr>
              <a:xfrm>
                <a:off x="516495" y="1688725"/>
                <a:ext cx="93740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A(n,m)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A(n,m)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en-US" sz="28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C(n,1) = c(n,)</a:t>
                </a:r>
                <a:endParaRPr lang="he-IL" sz="28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2F49F73F-B1C1-B569-54F7-EAE65671D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" y="1688725"/>
                <a:ext cx="9374071" cy="523220"/>
              </a:xfrm>
              <a:prstGeom prst="rect">
                <a:avLst/>
              </a:prstGeom>
              <a:blipFill>
                <a:blip r:embed="rId5"/>
                <a:stretch>
                  <a:fillRect l="-1366" t="-11628" b="-3139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2">
            <a:extLst>
              <a:ext uri="{FF2B5EF4-FFF2-40B4-BE49-F238E27FC236}">
                <a16:creationId xmlns:a16="http://schemas.microsoft.com/office/drawing/2014/main" id="{E3A3FB76-8C61-D5C4-5CD8-8D0340A5208D}"/>
              </a:ext>
            </a:extLst>
          </p:cNvPr>
          <p:cNvSpPr txBox="1"/>
          <p:nvPr/>
        </p:nvSpPr>
        <p:spPr>
          <a:xfrm>
            <a:off x="1888267" y="3536540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(n,m)</a:t>
            </a:r>
            <a:endParaRPr lang="en-IL" dirty="0"/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9670918B-A40B-8DC7-51FE-744E996EAD9B}"/>
              </a:ext>
            </a:extLst>
          </p:cNvPr>
          <p:cNvSpPr txBox="1"/>
          <p:nvPr/>
        </p:nvSpPr>
        <p:spPr>
          <a:xfrm>
            <a:off x="3852419" y="3142787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(m,)</a:t>
            </a:r>
            <a:endParaRPr lang="en-IL" dirty="0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74C8DBCA-0CB9-9732-2CAA-B66C9B8147E3}"/>
              </a:ext>
            </a:extLst>
          </p:cNvPr>
          <p:cNvSpPr txBox="1"/>
          <p:nvPr/>
        </p:nvSpPr>
        <p:spPr>
          <a:xfrm>
            <a:off x="5228859" y="5276212"/>
            <a:ext cx="546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(n,)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17868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5CBE-9F78-DE6D-D865-44F67459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/>
              <a:t>Broadcasting 2D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AB38-54BD-EAAF-6409-6E0596BF5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346" y="1391478"/>
            <a:ext cx="11563006" cy="4802759"/>
          </a:xfrm>
        </p:spPr>
        <p:txBody>
          <a:bodyPr/>
          <a:lstStyle/>
          <a:p>
            <a:r>
              <a:rPr lang="en-US" dirty="0" err="1"/>
              <a:t>Numpy</a:t>
            </a:r>
            <a:r>
              <a:rPr lang="he-IL" dirty="0"/>
              <a:t> יכול לבצע פעולות בין אלמנטים בממדים שונים, על </a:t>
            </a:r>
            <a:r>
              <a:rPr lang="he-IL"/>
              <a:t>ידי שכפול.</a:t>
            </a:r>
            <a:endParaRPr lang="he-IL" dirty="0"/>
          </a:p>
          <a:p>
            <a:r>
              <a:rPr lang="he-IL"/>
              <a:t>לדוגמא: חיבור של מטריצה + מטריצת שורה</a:t>
            </a:r>
          </a:p>
          <a:p>
            <a:r>
              <a:rPr lang="he-IL"/>
              <a:t>או חיבור של מטריצה + מטריצת עמודה</a:t>
            </a:r>
          </a:p>
          <a:p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AEC83-AEF1-F3CB-778F-BC564FA2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30" y="3352800"/>
            <a:ext cx="5096586" cy="2172003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9885D699-F27A-5F0B-292C-9547E286F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53" y="2717041"/>
            <a:ext cx="3637744" cy="29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0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2D85-69F3-DCD7-6D46-336703FC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השוואת ביצועים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A6C46-137F-B457-CB7F-EB2E40BFE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ביצועים באמצעות לולאה על רשימות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ביצועים באמצאות </a:t>
            </a:r>
            <a:r>
              <a:rPr lang="en-US"/>
              <a:t>List comprehension</a:t>
            </a:r>
            <a:r>
              <a:rPr lang="he-IL"/>
              <a:t> על רשימות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ביצועים באמצעות לולאה על מערכי </a:t>
            </a:r>
            <a:r>
              <a:rPr lang="en-US"/>
              <a:t>numpy</a:t>
            </a:r>
            <a:endParaRPr lang="he-IL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ביצועים באמצעות פעולות וקטוריות על מערכי </a:t>
            </a:r>
            <a:r>
              <a:rPr lang="en-US"/>
              <a:t>numpy</a:t>
            </a:r>
            <a:endParaRPr lang="en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B6740A3-0C46-3473-232E-1B1CEE727A04}"/>
              </a:ext>
            </a:extLst>
          </p:cNvPr>
          <p:cNvSpPr txBox="1"/>
          <p:nvPr/>
        </p:nvSpPr>
        <p:spPr>
          <a:xfrm>
            <a:off x="7882128" y="5974781"/>
            <a:ext cx="1518364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/>
              <a:t>מחברת הדגמה </a:t>
            </a:r>
            <a:r>
              <a:rPr lang="he-IL">
                <a:hlinkClick r:id="rId2"/>
              </a:rPr>
              <a:t>כאן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8747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שאלות?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1230</Words>
  <Application>Microsoft Office PowerPoint</Application>
  <PresentationFormat>מסך רחב</PresentationFormat>
  <Paragraphs>227</Paragraphs>
  <Slides>40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40</vt:i4>
      </vt:variant>
    </vt:vector>
  </HeadingPairs>
  <TitlesOfParts>
    <vt:vector size="46" baseType="lpstr">
      <vt:lpstr>Arial</vt:lpstr>
      <vt:lpstr>Calibri</vt:lpstr>
      <vt:lpstr>Cambria Math</vt:lpstr>
      <vt:lpstr>Tahoma</vt:lpstr>
      <vt:lpstr>Wingdings</vt:lpstr>
      <vt:lpstr>TECHNION_Op3_General_Heb</vt:lpstr>
      <vt:lpstr>למידה עמוקה</vt:lpstr>
      <vt:lpstr>תוכן</vt:lpstr>
      <vt:lpstr>וקטור מאפיינים – feature vectors</vt:lpstr>
      <vt:lpstr>וקטור</vt:lpstr>
      <vt:lpstr>פעולות על וקטורים</vt:lpstr>
      <vt:lpstr>תרגיל 1 – פתרו את התרגילים הבאים</vt:lpstr>
      <vt:lpstr>מצגת של PowerPoint‏</vt:lpstr>
      <vt:lpstr>תרגיל 2 - מכפלה פנימית dot product</vt:lpstr>
      <vt:lpstr>רשימות אינן וקטורים</vt:lpstr>
      <vt:lpstr>מצגת של PowerPoint‏</vt:lpstr>
      <vt:lpstr>יישום וקטורים ב-numpy</vt:lpstr>
      <vt:lpstr>Broadcasting 1D</vt:lpstr>
      <vt:lpstr>מטריצת מאפיינים – feature matrix</vt:lpstr>
      <vt:lpstr>מטריצה</vt:lpstr>
      <vt:lpstr>ממדי מטריצה</vt:lpstr>
      <vt:lpstr>סימון איברי ממטריצה</vt:lpstr>
      <vt:lpstr>פעולות על מטריצות</vt:lpstr>
      <vt:lpstr>תרגיל 4 – פעולות על מטריצות</vt:lpstr>
      <vt:lpstr>מטריצות ב-numpy - array</vt:lpstr>
      <vt:lpstr>פעולות על מטריצות ב numpy</vt:lpstr>
      <vt:lpstr>פעולת Transpose</vt:lpstr>
      <vt:lpstr>כפל מטריצה במטריצה</vt:lpstr>
      <vt:lpstr>כפל מטריצות (1)</vt:lpstr>
      <vt:lpstr>כפל מטריצות (2)</vt:lpstr>
      <vt:lpstr>כפל מטריצות (3)</vt:lpstr>
      <vt:lpstr>כפל מטריצות (4)</vt:lpstr>
      <vt:lpstr>כפל מטריצות (5)</vt:lpstr>
      <vt:lpstr>כפל מטריצות (6)</vt:lpstr>
      <vt:lpstr>כפל מטריצות (7)</vt:lpstr>
      <vt:lpstr>כפל מטריצות – חישוב כללי</vt:lpstr>
      <vt:lpstr>תרגיל 5 – כפל מטריצות </vt:lpstr>
      <vt:lpstr>סיכום גדלים של מטריצות</vt:lpstr>
      <vt:lpstr>תרגיל 6 - מימוש כפל מטריצות</vt:lpstr>
      <vt:lpstr>וקטור חד-ממדי</vt:lpstr>
      <vt:lpstr>מכפלת מטריצת שורה במטריצת עמודה</vt:lpstr>
      <vt:lpstr>כפל וקטור חד-ממדי במטריצה</vt:lpstr>
      <vt:lpstr>כפל מטריצה בווקטור חד ממדי</vt:lpstr>
      <vt:lpstr>Broadcasting 2D</vt:lpstr>
      <vt:lpstr>השוואת ביצועים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57</cp:revision>
  <dcterms:created xsi:type="dcterms:W3CDTF">2019-03-02T07:56:19Z</dcterms:created>
  <dcterms:modified xsi:type="dcterms:W3CDTF">2026-09-06T13:15:30Z</dcterms:modified>
</cp:coreProperties>
</file>