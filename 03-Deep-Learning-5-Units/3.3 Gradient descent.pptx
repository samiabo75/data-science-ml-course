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603" r:id="rId3"/>
    <p:sldId id="610" r:id="rId4"/>
    <p:sldId id="601" r:id="rId5"/>
    <p:sldId id="611" r:id="rId6"/>
    <p:sldId id="592" r:id="rId7"/>
    <p:sldId id="593" r:id="rId8"/>
    <p:sldId id="557" r:id="rId9"/>
    <p:sldId id="574" r:id="rId10"/>
    <p:sldId id="604" r:id="rId11"/>
    <p:sldId id="594" r:id="rId12"/>
    <p:sldId id="609" r:id="rId13"/>
    <p:sldId id="607" r:id="rId14"/>
    <p:sldId id="612" r:id="rId15"/>
    <p:sldId id="615" r:id="rId16"/>
    <p:sldId id="606" r:id="rId17"/>
    <p:sldId id="616" r:id="rId18"/>
    <p:sldId id="28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6"/>
          <p:cNvSpPr txBox="1"/>
          <p:nvPr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232229" y="355224"/>
            <a:ext cx="115630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224346" y="1842899"/>
            <a:ext cx="11563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buNone/>
              <a:defRPr/>
            </a:lvl1pPr>
            <a:lvl2pPr marL="0" lvl="1" indent="0" algn="l" rtl="1">
              <a:spcBef>
                <a:spcPts val="0"/>
              </a:spcBef>
              <a:buNone/>
              <a:defRPr/>
            </a:lvl2pPr>
            <a:lvl3pPr marL="0" lvl="2" indent="0" algn="l" rtl="1">
              <a:spcBef>
                <a:spcPts val="0"/>
              </a:spcBef>
              <a:buNone/>
              <a:defRPr/>
            </a:lvl3pPr>
            <a:lvl4pPr marL="0" lvl="3" indent="0" algn="l" rtl="1">
              <a:spcBef>
                <a:spcPts val="0"/>
              </a:spcBef>
              <a:buNone/>
              <a:defRPr/>
            </a:lvl4pPr>
            <a:lvl5pPr marL="0" lvl="4" indent="0" algn="l" rtl="1">
              <a:spcBef>
                <a:spcPts val="0"/>
              </a:spcBef>
              <a:buNone/>
              <a:defRPr/>
            </a:lvl5pPr>
            <a:lvl6pPr marL="0" lvl="5" indent="0" algn="l" rtl="1">
              <a:spcBef>
                <a:spcPts val="0"/>
              </a:spcBef>
              <a:buNone/>
              <a:defRPr/>
            </a:lvl6pPr>
            <a:lvl7pPr marL="0" lvl="6" indent="0" algn="l" rtl="1">
              <a:spcBef>
                <a:spcPts val="0"/>
              </a:spcBef>
              <a:buNone/>
              <a:defRPr/>
            </a:lvl7pPr>
            <a:lvl8pPr marL="0" lvl="7" indent="0" algn="l" rtl="1">
              <a:spcBef>
                <a:spcPts val="0"/>
              </a:spcBef>
              <a:buNone/>
              <a:defRPr/>
            </a:lvl8pPr>
            <a:lvl9pPr marL="0" lvl="8" indent="0" algn="l" rtl="1">
              <a:spcBef>
                <a:spcPts val="0"/>
              </a:spcBef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aktly.com/TheDerivative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למידה עמוקה</a:t>
            </a:r>
            <a:endParaRPr dirty="0"/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sz="2400" dirty="0"/>
              <a:t>אלגוריתם </a:t>
            </a:r>
            <a:r>
              <a:rPr lang="en-US" sz="2400" dirty="0"/>
              <a:t>gradient descent</a:t>
            </a:r>
            <a:endParaRPr lang="he-IL" sz="2400" dirty="0"/>
          </a:p>
          <a:p>
            <a:pPr marL="0" indent="0">
              <a:spcBef>
                <a:spcPts val="0"/>
              </a:spcBef>
            </a:pPr>
            <a:r>
              <a:rPr lang="he-IL" sz="2400" dirty="0"/>
              <a:t>מאת: אריאל בר-יצחק, ד"ר קובי מייק</a:t>
            </a:r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8505-E17F-4979-A8C8-C4332BDF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תוכן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4C9F4-FFDB-4E6C-A6C1-3D08D9DB9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מציאת מינימום לפונקציה על ידי אלגוריתם </a:t>
            </a:r>
            <a:r>
              <a:rPr lang="en-US" dirty="0"/>
              <a:t>gradient descent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018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6828-9EE4-2657-7CA5-FABB266D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1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2F9A3E-C43F-D2EF-ED61-317CBC35B58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מצאו מינימום לפונקציה הבאה:</a:t>
                </a:r>
              </a:p>
              <a:p>
                <a:endParaRPr lang="he-IL" dirty="0"/>
              </a:p>
              <a:p>
                <a:pPr algn="ctr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∙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algn="ctr" rtl="0"/>
                <a:r>
                  <a:rPr lang="he-IL"/>
                  <a:t>משוואה זו לא ניתן לפתור בשיטות אלגבריות ונדרשות שיטות נומריות</a:t>
                </a:r>
                <a:endParaRPr lang="he-IL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2F9A3E-C43F-D2EF-ED61-317CBC35B5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17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0497-78FB-4EF1-BAD8-B19526F63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224"/>
            <a:ext cx="11946467" cy="1325563"/>
          </a:xfrm>
        </p:spPr>
        <p:txBody>
          <a:bodyPr/>
          <a:lstStyle/>
          <a:p>
            <a:r>
              <a:rPr lang="he-IL" dirty="0"/>
              <a:t>לא תמיד קל/אפשרי להשוות נגזרת ל-0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389F3-1B4E-4E21-9AE1-A3E4ACFE3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33875" y="1842899"/>
                <a:ext cx="7453477" cy="4351338"/>
              </a:xfrm>
            </p:spPr>
            <p:txBody>
              <a:bodyPr/>
              <a:lstStyle/>
              <a:p>
                <a:pPr marL="0" indent="0" algn="r"/>
                <a:r>
                  <a:rPr lang="he-IL" dirty="0"/>
                  <a:t>לא תמיד ניתן לפתור את המשוואה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he-IL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he-IL" dirty="0"/>
              </a:p>
              <a:p>
                <a:pPr marL="0" indent="0" algn="r"/>
                <a:endParaRPr lang="he-IL" dirty="0"/>
              </a:p>
              <a:p>
                <a:pPr marL="0" indent="0" algn="r"/>
                <a:r>
                  <a:rPr lang="he-IL" dirty="0"/>
                  <a:t>במקרים אלו ניתן להתקרב אל נקודת המינימום באופן </a:t>
                </a:r>
                <a:r>
                  <a:rPr lang="he-IL" dirty="0" err="1"/>
                  <a:t>איטרטיבי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389F3-1B4E-4E21-9AE1-A3E4ACFE3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33875" y="1842899"/>
                <a:ext cx="7453477" cy="4351338"/>
              </a:xfrm>
              <a:blipFill>
                <a:blip r:embed="rId2"/>
                <a:stretch>
                  <a:fillRect r="-155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B99CBA63-9FEB-4E7E-B488-D349CDC2E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24" y="2237101"/>
            <a:ext cx="4192252" cy="277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96A4ED-7D38-466F-8F02-8AE89C0FD1A9}"/>
              </a:ext>
            </a:extLst>
          </p:cNvPr>
          <p:cNvSpPr txBox="1"/>
          <p:nvPr/>
        </p:nvSpPr>
        <p:spPr>
          <a:xfrm>
            <a:off x="2662500" y="639192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B2F0C-FD49-4859-BD02-08245A21A5DC}"/>
              </a:ext>
            </a:extLst>
          </p:cNvPr>
          <p:cNvSpPr txBox="1"/>
          <p:nvPr/>
        </p:nvSpPr>
        <p:spPr>
          <a:xfrm rot="16200000">
            <a:off x="122359" y="330609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J(w)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9884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0497-78FB-4EF1-BAD8-B19526F6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חיפוש </a:t>
            </a:r>
            <a:r>
              <a:rPr lang="he-IL" dirty="0" err="1"/>
              <a:t>איטרטיבי</a:t>
            </a:r>
            <a:r>
              <a:rPr lang="he-IL" dirty="0"/>
              <a:t> של המינימום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389F3-1B4E-4E21-9AE1-A3E4ACFE3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dirty="0"/>
                  <a:t>ננחש שנקודת המינימום היא ב-</a:t>
                </a:r>
                <a:r>
                  <a:rPr lang="en-US" dirty="0"/>
                  <a:t>x=0</a:t>
                </a:r>
              </a:p>
              <a:p>
                <a:r>
                  <a:rPr lang="he-IL" dirty="0"/>
                  <a:t>איך נדע אם אכן המינימום בנקודה זו?</a:t>
                </a:r>
              </a:p>
              <a:p>
                <a:endParaRPr lang="he-IL" dirty="0"/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=0?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389F3-1B4E-4E21-9AE1-A3E4ACFE3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04ADDF2-36AC-4D3A-A485-05BFA510765B}"/>
              </a:ext>
            </a:extLst>
          </p:cNvPr>
          <p:cNvSpPr txBox="1"/>
          <p:nvPr/>
        </p:nvSpPr>
        <p:spPr>
          <a:xfrm>
            <a:off x="2662500" y="639192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4415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0497-78FB-4EF1-BAD8-B19526F6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חיפוש </a:t>
            </a:r>
            <a:r>
              <a:rPr lang="he-IL" dirty="0" err="1"/>
              <a:t>איטרטיבי</a:t>
            </a:r>
            <a:r>
              <a:rPr lang="he-IL" dirty="0"/>
              <a:t> של המינימום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389F3-1B4E-4E21-9AE1-A3E4ACFE3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נבחן את הנגזרת סביב 0</a:t>
            </a:r>
            <a:endParaRPr lang="en-US" dirty="0"/>
          </a:p>
          <a:p>
            <a:r>
              <a:rPr lang="he-IL" dirty="0"/>
              <a:t>לאיזה כיוון כדאי להתקדם כדי להגיע למינימום? </a:t>
            </a:r>
            <a:endParaRPr lang="en-IL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66CC82E-78D1-468F-A845-B0932EC54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78" y="2977588"/>
            <a:ext cx="4192252" cy="277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4ADDF2-36AC-4D3A-A485-05BFA510765B}"/>
              </a:ext>
            </a:extLst>
          </p:cNvPr>
          <p:cNvSpPr txBox="1"/>
          <p:nvPr/>
        </p:nvSpPr>
        <p:spPr>
          <a:xfrm>
            <a:off x="2662500" y="639192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EEA8E-527E-4033-A8A5-F61911CC5809}"/>
              </a:ext>
            </a:extLst>
          </p:cNvPr>
          <p:cNvSpPr txBox="1"/>
          <p:nvPr/>
        </p:nvSpPr>
        <p:spPr>
          <a:xfrm rot="16200000">
            <a:off x="195520" y="3864679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  <a:endParaRPr lang="en-IL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3B98A8D-3571-4F3F-86BF-764501490F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6" t="66995" r="50000" b="12392"/>
          <a:stretch/>
        </p:blipFill>
        <p:spPr bwMode="auto">
          <a:xfrm>
            <a:off x="5553074" y="3295650"/>
            <a:ext cx="2502727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40D548E-B168-4D00-A4BB-49AA80F45B04}"/>
              </a:ext>
            </a:extLst>
          </p:cNvPr>
          <p:cNvSpPr/>
          <p:nvPr/>
        </p:nvSpPr>
        <p:spPr>
          <a:xfrm>
            <a:off x="5553074" y="3171825"/>
            <a:ext cx="2502727" cy="2257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429588-F46F-4C8C-9938-3F0E49B761F7}"/>
              </a:ext>
            </a:extLst>
          </p:cNvPr>
          <p:cNvSpPr/>
          <p:nvPr/>
        </p:nvSpPr>
        <p:spPr>
          <a:xfrm>
            <a:off x="2019300" y="4881562"/>
            <a:ext cx="485776" cy="4667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D86BE9-5EBD-49C6-9122-475E45A7ED3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262188" y="3295650"/>
            <a:ext cx="3949364" cy="1585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24AAF3-B106-430F-968C-790C08EB4385}"/>
              </a:ext>
            </a:extLst>
          </p:cNvPr>
          <p:cNvCxnSpPr>
            <a:cxnSpLocks/>
            <a:endCxn id="4" idx="4"/>
          </p:cNvCxnSpPr>
          <p:nvPr/>
        </p:nvCxnSpPr>
        <p:spPr>
          <a:xfrm>
            <a:off x="2270071" y="5348288"/>
            <a:ext cx="4534367" cy="80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01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0497-78FB-4EF1-BAD8-B19526F6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חיפוש </a:t>
            </a:r>
            <a:r>
              <a:rPr lang="he-IL" dirty="0" err="1"/>
              <a:t>איטרטיבי</a:t>
            </a:r>
            <a:r>
              <a:rPr lang="he-IL" dirty="0"/>
              <a:t> של המינימום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389F3-1B4E-4E21-9AE1-A3E4ACFE3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נמשיך להתקדם לכיוון בו הפונקציה יורדת</a:t>
            </a:r>
            <a:endParaRPr lang="en-US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FD99B722-A861-4890-B932-05ED560E3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4" y="2977588"/>
            <a:ext cx="4097337" cy="27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D30552-D2F9-462C-84E5-0BA4D23220A3}"/>
              </a:ext>
            </a:extLst>
          </p:cNvPr>
          <p:cNvSpPr txBox="1"/>
          <p:nvPr/>
        </p:nvSpPr>
        <p:spPr>
          <a:xfrm>
            <a:off x="2662500" y="639192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7C4CC-D380-4773-AFBC-AA6D3B69616B}"/>
              </a:ext>
            </a:extLst>
          </p:cNvPr>
          <p:cNvSpPr txBox="1"/>
          <p:nvPr/>
        </p:nvSpPr>
        <p:spPr>
          <a:xfrm rot="16200000">
            <a:off x="134606" y="383390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J(w)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3078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30F62E-E049-4B7B-93C3-69137C67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הכללה - </a:t>
            </a:r>
            <a:r>
              <a:rPr lang="he-IL"/>
              <a:t>התקדמות נגד כיוון </a:t>
            </a:r>
            <a:r>
              <a:rPr lang="he-IL" dirty="0"/>
              <a:t>הנגזרת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B32AF79-2B74-4655-81EF-74A261C49D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97178" y="1842899"/>
                <a:ext cx="8290173" cy="4351338"/>
              </a:xfrm>
            </p:spPr>
            <p:txBody>
              <a:bodyPr/>
              <a:lstStyle/>
              <a:p>
                <a:pPr marL="0" indent="0"/>
                <a:r>
                  <a:rPr lang="he-IL" dirty="0"/>
                  <a:t>בחרנו </a:t>
                </a:r>
                <a:r>
                  <a:rPr lang="en-US" dirty="0"/>
                  <a:t>x</a:t>
                </a:r>
                <a:r>
                  <a:rPr lang="he-IL" dirty="0"/>
                  <a:t> התחלתי. אנחנו רוצים לקדם את </a:t>
                </a:r>
                <a:r>
                  <a:rPr lang="en-US" dirty="0"/>
                  <a:t>x</a:t>
                </a:r>
                <a:r>
                  <a:rPr lang="he-IL" dirty="0"/>
                  <a:t> לכיוון נקודת המינימום. </a:t>
                </a:r>
              </a:p>
              <a:p>
                <a:pPr marL="0" indent="0"/>
                <a:endParaRPr lang="he-IL" dirty="0"/>
              </a:p>
              <a:p>
                <a:pPr marL="0" indent="0"/>
                <a:r>
                  <a:rPr lang="he-IL" dirty="0"/>
                  <a:t>כדאי לעדכן את </a:t>
                </a:r>
                <a:r>
                  <a:rPr lang="en-US" dirty="0"/>
                  <a:t>x</a:t>
                </a:r>
                <a:r>
                  <a:rPr lang="he-IL" dirty="0"/>
                  <a:t> (להגדיל או להקטין) נגד כיוון הנגזרת</a:t>
                </a:r>
              </a:p>
              <a:p>
                <a:pPr marL="0" indent="0"/>
                <a:endParaRPr lang="he-IL" dirty="0"/>
              </a:p>
              <a:p>
                <a:pPr marL="0" indent="0"/>
                <a:r>
                  <a:rPr lang="he-IL" dirty="0"/>
                  <a:t>כלומר לכיוון </a:t>
                </a:r>
                <a14:m>
                  <m:oMath xmlns:m="http://schemas.openxmlformats.org/officeDocument/2006/math">
                    <m:r>
                      <a:rPr lang="he-IL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B32AF79-2B74-4655-81EF-74A261C49D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7178" y="1842899"/>
                <a:ext cx="8290173" cy="4351338"/>
              </a:xfrm>
              <a:blipFill>
                <a:blip r:embed="rId2"/>
                <a:stretch>
                  <a:fillRect r="-147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D8B739B8-D901-4D44-8CC5-8C54ADBEF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48" y="2772451"/>
            <a:ext cx="3571875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3B54B22-287F-4FD0-94EA-4CD1109455B9}"/>
              </a:ext>
            </a:extLst>
          </p:cNvPr>
          <p:cNvSpPr txBox="1"/>
          <p:nvPr/>
        </p:nvSpPr>
        <p:spPr>
          <a:xfrm>
            <a:off x="897012" y="6130351"/>
            <a:ext cx="40323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4"/>
              </a:rPr>
              <a:t>Image source: https://xaktly.com/TheDerivative.html</a:t>
            </a:r>
            <a:endParaRPr lang="en-IL" sz="1000" dirty="0"/>
          </a:p>
        </p:txBody>
      </p:sp>
    </p:spTree>
    <p:extLst>
      <p:ext uri="{BB962C8B-B14F-4D97-AF65-F5344CB8AC3E}">
        <p14:creationId xmlns:p14="http://schemas.microsoft.com/office/powerpoint/2010/main" val="2066666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9BE911-0285-4959-ACEF-4809E550A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e-IL" dirty="0"/>
              <a:t>אלגוריתם </a:t>
            </a:r>
            <a:r>
              <a:rPr lang="en-US" dirty="0"/>
              <a:t>gradient descent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55C4358B-A977-415E-BF24-D4A2E87F77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he-IL" dirty="0"/>
                  <a:t>על מנת למצוא את נקודת המינימום של פונקציה </a:t>
                </a:r>
                <a:r>
                  <a:rPr lang="en-US" dirty="0"/>
                  <a:t>f(x)</a:t>
                </a:r>
                <a:r>
                  <a:rPr lang="he-IL" dirty="0"/>
                  <a:t>:</a:t>
                </a:r>
              </a:p>
              <a:p>
                <a:pPr marL="1028700" lvl="1" indent="-342900">
                  <a:buFont typeface="Arial" panose="020B0604020202020204" pitchFamily="34" charset="0"/>
                  <a:buChar char="•"/>
                </a:pPr>
                <a:r>
                  <a:rPr lang="he-IL" dirty="0"/>
                  <a:t>נגריל נקודת התחלה </a:t>
                </a:r>
                <a:r>
                  <a:rPr lang="en-US" dirty="0"/>
                  <a:t>x</a:t>
                </a:r>
                <a:endParaRPr lang="en-US" baseline="-25000" dirty="0"/>
              </a:p>
              <a:p>
                <a:pPr marL="1028700" lvl="1" indent="-342900">
                  <a:buFont typeface="Arial" panose="020B0604020202020204" pitchFamily="34" charset="0"/>
                  <a:buChar char="•"/>
                </a:pPr>
                <a:r>
                  <a:rPr lang="he-IL" dirty="0"/>
                  <a:t>נקדם את ערך </a:t>
                </a:r>
                <a:r>
                  <a:rPr lang="en-US" dirty="0"/>
                  <a:t>x</a:t>
                </a:r>
                <a:r>
                  <a:rPr lang="he-IL" dirty="0"/>
                  <a:t> לפי הנוסחה:</a:t>
                </a:r>
                <a:endParaRPr lang="en-US" dirty="0"/>
              </a:p>
              <a:p>
                <a:pPr lvl="1"/>
                <a:endParaRPr lang="he-IL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he-IL" dirty="0"/>
              </a:p>
              <a:p>
                <a:endParaRPr lang="he-IL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he-IL" sz="2000" dirty="0"/>
                  <a:t> – קצב הלמידה (נקבע על ידנו. לדוגמא 0.1 או </a:t>
                </a:r>
                <a:r>
                  <a:rPr lang="en-US" sz="2000" dirty="0"/>
                  <a:t>0.01</a:t>
                </a:r>
                <a:r>
                  <a:rPr lang="he-IL" sz="2000" dirty="0"/>
                  <a:t>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he-IL" sz="2000" dirty="0"/>
                  <a:t> - נגזרת הפונקציה</a:t>
                </a:r>
              </a:p>
            </p:txBody>
          </p:sp>
        </mc:Choice>
        <mc:Fallback xmlns="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55C4358B-A977-415E-BF24-D4A2E87F7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23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C2D3-8F86-4B11-A952-FBA4F98A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2 – חישוב </a:t>
            </a:r>
            <a:r>
              <a:rPr lang="en-US" dirty="0"/>
              <a:t>Gradient descent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B8839-206F-4F14-BC4D-4CFBA3B0C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נתונה הפונקציה </a:t>
            </a:r>
            <a:r>
              <a:rPr lang="en-US" dirty="0"/>
              <a:t>f(x)=x</a:t>
            </a:r>
            <a:r>
              <a:rPr lang="en-US" baseline="30000" dirty="0"/>
              <a:t>2</a:t>
            </a:r>
            <a:r>
              <a:rPr lang="en-US" dirty="0"/>
              <a:t>-10x+5</a:t>
            </a:r>
          </a:p>
          <a:p>
            <a:r>
              <a:rPr lang="he-IL" dirty="0"/>
              <a:t>עקבו אחר פעולתו של אלגוריתם </a:t>
            </a:r>
            <a:r>
              <a:rPr lang="en-US" dirty="0"/>
              <a:t>gradient descent</a:t>
            </a:r>
            <a:r>
              <a:rPr lang="he-IL" dirty="0"/>
              <a:t> עבור </a:t>
            </a:r>
            <a:r>
              <a:rPr lang="en-IL" dirty="0"/>
              <a:t>α</a:t>
            </a:r>
            <a:r>
              <a:rPr lang="en-US" dirty="0"/>
              <a:t>=0.1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BD6E6527-79E9-419F-86B9-07863AE68E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887925"/>
                  </p:ext>
                </p:extLst>
              </p:nvPr>
            </p:nvGraphicFramePr>
            <p:xfrm>
              <a:off x="957771" y="3181350"/>
              <a:ext cx="8128000" cy="2352040"/>
            </p:xfrm>
            <a:graphic>
              <a:graphicData uri="http://schemas.openxmlformats.org/drawingml/2006/table">
                <a:tbl>
                  <a:tblPr firstRow="1" bandRow="1">
                    <a:tableStyleId>{1778E25D-6658-4D9B-876C-8C97E927BF0F}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11660579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71935142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180345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181163329"/>
                        </a:ext>
                      </a:extLst>
                    </a:gridCol>
                  </a:tblGrid>
                  <a:tr h="3812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Step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5494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5480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8717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1021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89530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449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BD6E6527-79E9-419F-86B9-07863AE68E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887925"/>
                  </p:ext>
                </p:extLst>
              </p:nvPr>
            </p:nvGraphicFramePr>
            <p:xfrm>
              <a:off x="957771" y="3181350"/>
              <a:ext cx="8128000" cy="2352040"/>
            </p:xfrm>
            <a:graphic>
              <a:graphicData uri="http://schemas.openxmlformats.org/drawingml/2006/table">
                <a:tbl>
                  <a:tblPr firstRow="1" bandRow="1">
                    <a:tableStyleId>{1778E25D-6658-4D9B-876C-8C97E927BF0F}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11660579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71935142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180345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181163329"/>
                        </a:ext>
                      </a:extLst>
                    </a:gridCol>
                  </a:tblGrid>
                  <a:tr h="497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Step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220" r="-100898" b="-374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1220" r="-1201" b="-374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5494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5480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8717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1021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89530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4496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2341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1817-D162-4953-B357-FECE7DB2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השיטה מתכנסת פתרון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89119-6D49-413E-A64D-2A5EDAE98E40}"/>
              </a:ext>
            </a:extLst>
          </p:cNvPr>
          <p:cNvSpPr txBox="1"/>
          <p:nvPr/>
        </p:nvSpPr>
        <p:spPr>
          <a:xfrm>
            <a:off x="5525536" y="2971413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EDB99-1DA7-4AE2-B71D-3BF8B365CB3F}"/>
              </a:ext>
            </a:extLst>
          </p:cNvPr>
          <p:cNvSpPr txBox="1"/>
          <p:nvPr/>
        </p:nvSpPr>
        <p:spPr>
          <a:xfrm>
            <a:off x="8848958" y="516370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IL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4F92446-689C-4135-8ED3-F983273B8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22463"/>
            <a:ext cx="5505916" cy="364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Table&#10;&#10;Description automatically generated with medium confidence">
            <a:extLst>
              <a:ext uri="{FF2B5EF4-FFF2-40B4-BE49-F238E27FC236}">
                <a16:creationId xmlns:a16="http://schemas.microsoft.com/office/drawing/2014/main" id="{FBE0B1CF-23FA-46B6-AB88-F03CAFA0C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87" y="309572"/>
            <a:ext cx="3445565" cy="532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26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1817-D162-4953-B357-FECE7DB2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התכנסות לפתרון – ביחס למספר מחזורי הלמידה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89119-6D49-413E-A64D-2A5EDAE98E40}"/>
              </a:ext>
            </a:extLst>
          </p:cNvPr>
          <p:cNvSpPr txBox="1"/>
          <p:nvPr/>
        </p:nvSpPr>
        <p:spPr>
          <a:xfrm>
            <a:off x="3478349" y="5398657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epochs</a:t>
            </a:r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EDB99-1DA7-4AE2-B71D-3BF8B365CB3F}"/>
              </a:ext>
            </a:extLst>
          </p:cNvPr>
          <p:cNvSpPr txBox="1"/>
          <p:nvPr/>
        </p:nvSpPr>
        <p:spPr>
          <a:xfrm rot="16200000">
            <a:off x="426384" y="30596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67A9C5-7EE4-47B0-A70D-97689A3A3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30" y="1274677"/>
            <a:ext cx="6141939" cy="420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030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1817-D162-4953-B357-FECE7DB2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השפעת קצב הלמידה</a:t>
            </a:r>
            <a:endParaRPr lang="en-IL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4E58899C-5ECB-4282-A6EA-4900E8BB1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778" y="1955191"/>
            <a:ext cx="4994916" cy="3184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AD88CB-796C-4C9D-B44F-28E1D42063D9}"/>
                  </a:ext>
                </a:extLst>
              </p:cNvPr>
              <p:cNvSpPr txBox="1"/>
              <p:nvPr/>
            </p:nvSpPr>
            <p:spPr>
              <a:xfrm>
                <a:off x="9856581" y="4451074"/>
                <a:ext cx="79236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L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1.1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AD88CB-796C-4C9D-B44F-28E1D4206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581" y="4451074"/>
                <a:ext cx="79236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6C89119-6D49-413E-A64D-2A5EDAE98E40}"/>
              </a:ext>
            </a:extLst>
          </p:cNvPr>
          <p:cNvSpPr txBox="1"/>
          <p:nvPr/>
        </p:nvSpPr>
        <p:spPr>
          <a:xfrm>
            <a:off x="2396716" y="5139610"/>
            <a:ext cx="1150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epochs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66B5A-4B16-4F2C-A22D-47DAD7ECCA77}"/>
              </a:ext>
            </a:extLst>
          </p:cNvPr>
          <p:cNvSpPr txBox="1"/>
          <p:nvPr/>
        </p:nvSpPr>
        <p:spPr>
          <a:xfrm>
            <a:off x="8354918" y="5139609"/>
            <a:ext cx="1150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epochs</a:t>
            </a:r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EDB99-1DA7-4AE2-B71D-3BF8B365CB3F}"/>
              </a:ext>
            </a:extLst>
          </p:cNvPr>
          <p:cNvSpPr txBox="1"/>
          <p:nvPr/>
        </p:nvSpPr>
        <p:spPr>
          <a:xfrm>
            <a:off x="322508" y="3239624"/>
            <a:ext cx="411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I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D63BA7-BD31-42C7-922C-6A9701A76AAF}"/>
              </a:ext>
            </a:extLst>
          </p:cNvPr>
          <p:cNvSpPr txBox="1"/>
          <p:nvPr/>
        </p:nvSpPr>
        <p:spPr>
          <a:xfrm>
            <a:off x="5890491" y="3085735"/>
            <a:ext cx="411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4A71C1-1A2A-4A8C-A670-BA1D367BA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25" y="2202558"/>
            <a:ext cx="4358764" cy="29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68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5D219E-E3C3-FE6A-5C7A-8F667161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גרפים עם </a:t>
            </a:r>
            <a:r>
              <a:rPr lang="en-US"/>
              <a:t>Legend</a:t>
            </a:r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7D11789-6ADA-99BC-529D-9BFA7DA78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842" y="574303"/>
            <a:ext cx="4634325" cy="488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88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D93693-E7F0-D78A-5EEB-47B086AB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תרגיל 3 – מימוש </a:t>
            </a:r>
            <a:r>
              <a:rPr lang="en-US"/>
              <a:t>gradient descent</a:t>
            </a:r>
            <a:br>
              <a:rPr lang="en-US"/>
            </a:br>
            <a:r>
              <a:rPr lang="he-IL"/>
              <a:t>עם פרמטר אחד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0649B165-71E8-7DCF-E1F1-5CE468DA20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/>
                  <a:t>נתונה פונקציה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3∗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he-IL" b="0"/>
              </a:p>
              <a:p>
                <a:pPr marL="685800" indent="-457200">
                  <a:buFont typeface="Arial" panose="020B0604020202020204" pitchFamily="34" charset="0"/>
                  <a:buChar char="•"/>
                </a:pPr>
                <a:r>
                  <a:rPr lang="he-IL"/>
                  <a:t>בצעו </a:t>
                </a:r>
                <a:r>
                  <a:rPr lang="en-US"/>
                  <a:t>gradient descent</a:t>
                </a:r>
                <a:r>
                  <a:rPr lang="he-IL"/>
                  <a:t> עם פרמטר אחד ונסו להגיע קרוב למינימום</a:t>
                </a:r>
              </a:p>
              <a:p>
                <a:pPr marL="685800" indent="-457200">
                  <a:buFont typeface="Arial" panose="020B0604020202020204" pitchFamily="34" charset="0"/>
                  <a:buChar char="•"/>
                </a:pPr>
                <a:r>
                  <a:rPr lang="he-IL"/>
                  <a:t>בכל אינטרציה הדפיסו את </a:t>
                </a:r>
                <a:r>
                  <a:rPr lang="en-US"/>
                  <a:t>F(x), x</a:t>
                </a:r>
                <a:endParaRPr lang="he-IL"/>
              </a:p>
              <a:p>
                <a:pPr marL="685800" indent="-457200">
                  <a:buFont typeface="Arial" panose="020B0604020202020204" pitchFamily="34" charset="0"/>
                  <a:buChar char="•"/>
                </a:pPr>
                <a:r>
                  <a:rPr lang="he-IL"/>
                  <a:t>בסיום אתם אמורים לקבל:</a:t>
                </a:r>
              </a:p>
              <a:p>
                <a:pPr marL="685800" indent="-457200" algn="l" rtl="0">
                  <a:buFont typeface="Arial" panose="020B0604020202020204" pitchFamily="34" charset="0"/>
                  <a:buChar char="•"/>
                </a:pPr>
                <a:r>
                  <a:rPr lang="en-US"/>
                  <a:t>fmin = ~5.92, xmin=~0.83</a:t>
                </a:r>
                <a:endParaRPr lang="he-IL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0649B165-71E8-7DCF-E1F1-5CE468DA2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1822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DABE-3AA6-4A6D-98B9-4FA0245C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תרגיל 3.1 – אתגר בהמשך לתרגיל 3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0A73D-396F-403B-8667-2D2A43DB2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הציגו את הגרף של ההתכנסות לערכים שונים של קצב למידה כמו במצגת עמוד 13.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הציגו גרף נפרד לקצב למידה גבוה מדי כמו במצגת עמוד 13.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69221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2C37F-F723-0376-FB86-B666D3574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224B7C-AD23-AAD0-7B03-398F8567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תרגיל 4 – מימוש </a:t>
            </a:r>
            <a:r>
              <a:rPr lang="en-US"/>
              <a:t>gradient descent</a:t>
            </a:r>
            <a:br>
              <a:rPr lang="en-US"/>
            </a:br>
            <a:r>
              <a:rPr lang="he-IL"/>
              <a:t>עם שני פרמטרים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91BAF96C-05FA-3694-3769-F57D0DDB339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נתונה פונקציה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−2)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−3)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he-IL" b="0" dirty="0"/>
              </a:p>
              <a:p>
                <a:pPr marL="685800" indent="-457200">
                  <a:buFont typeface="Arial" panose="020B0604020202020204" pitchFamily="34" charset="0"/>
                  <a:buChar char="•"/>
                </a:pPr>
                <a:r>
                  <a:rPr lang="he-IL" dirty="0"/>
                  <a:t>בצעו </a:t>
                </a:r>
                <a:r>
                  <a:rPr lang="en-US" dirty="0"/>
                  <a:t>gradient descent</a:t>
                </a:r>
                <a:r>
                  <a:rPr lang="he-IL" dirty="0"/>
                  <a:t> עם שני פרמטרים ונסו להגיע קרוב למינימום</a:t>
                </a:r>
              </a:p>
              <a:p>
                <a:pPr marL="685800" indent="-457200">
                  <a:buFont typeface="Arial" panose="020B0604020202020204" pitchFamily="34" charset="0"/>
                  <a:buChar char="•"/>
                </a:pPr>
                <a:r>
                  <a:rPr lang="he-IL" dirty="0"/>
                  <a:t>בכל </a:t>
                </a:r>
                <a:r>
                  <a:rPr lang="he-IL" dirty="0" err="1"/>
                  <a:t>אינטרציה</a:t>
                </a:r>
                <a:r>
                  <a:rPr lang="he-IL" dirty="0"/>
                  <a:t> הדפיסו את </a:t>
                </a:r>
                <a:r>
                  <a:rPr lang="en-US" dirty="0"/>
                  <a:t>F(</a:t>
                </a:r>
                <a:r>
                  <a:rPr lang="en-US" dirty="0" err="1"/>
                  <a:t>x,y</a:t>
                </a:r>
                <a:r>
                  <a:rPr lang="en-US" dirty="0"/>
                  <a:t>), x, y</a:t>
                </a:r>
                <a:endParaRPr lang="he-IL" dirty="0"/>
              </a:p>
              <a:p>
                <a:pPr marL="685800" indent="-457200">
                  <a:buFont typeface="Arial" panose="020B0604020202020204" pitchFamily="34" charset="0"/>
                  <a:buChar char="•"/>
                </a:pPr>
                <a:r>
                  <a:rPr lang="he-IL" dirty="0"/>
                  <a:t>בסיום אתם אמורים לקבל:</a:t>
                </a:r>
              </a:p>
              <a:p>
                <a:pPr marL="685800" indent="-457200" algn="l" rtl="0">
                  <a:buFont typeface="Arial" panose="020B0604020202020204" pitchFamily="34" charset="0"/>
                  <a:buChar char="•"/>
                </a:pPr>
                <a:r>
                  <a:rPr lang="en-US" dirty="0" err="1"/>
                  <a:t>fmin</a:t>
                </a:r>
                <a:r>
                  <a:rPr lang="en-US" dirty="0"/>
                  <a:t> = ~1.54, </a:t>
                </a:r>
                <a:r>
                  <a:rPr lang="en-US" dirty="0" err="1"/>
                  <a:t>xmin</a:t>
                </a:r>
                <a:r>
                  <a:rPr lang="en-US" dirty="0"/>
                  <a:t>=~0.31, </a:t>
                </a:r>
                <a:r>
                  <a:rPr lang="en-US" dirty="0" err="1"/>
                  <a:t>ymin</a:t>
                </a:r>
                <a:r>
                  <a:rPr lang="en-US"/>
                  <a:t>=~0.69</a:t>
                </a:r>
                <a:endParaRPr lang="he-IL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91BAF96C-05FA-3694-3769-F57D0DDB33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664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שאלות?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471</Words>
  <Application>Microsoft Office PowerPoint</Application>
  <PresentationFormat>מסך רחב</PresentationFormat>
  <Paragraphs>94</Paragraphs>
  <Slides>18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Roboto</vt:lpstr>
      <vt:lpstr>Tahoma</vt:lpstr>
      <vt:lpstr>TECHNION_Op3_General_Heb</vt:lpstr>
      <vt:lpstr>למידה עמוקה</vt:lpstr>
      <vt:lpstr>תוכן</vt:lpstr>
      <vt:lpstr>תרגיל 1</vt:lpstr>
      <vt:lpstr>לא תמיד קל/אפשרי להשוות נגזרת ל-0</vt:lpstr>
      <vt:lpstr>חיפוש איטרטיבי של המינימום</vt:lpstr>
      <vt:lpstr>חיפוש איטרטיבי של המינימום</vt:lpstr>
      <vt:lpstr>חיפוש איטרטיבי של המינימום</vt:lpstr>
      <vt:lpstr>הכללה - התקדמות נגד כיוון הנגזרת</vt:lpstr>
      <vt:lpstr>אלגוריתם gradient descent</vt:lpstr>
      <vt:lpstr>תרגיל 2 – חישוב Gradient descent</vt:lpstr>
      <vt:lpstr>השיטה מתכנסת פתרון</vt:lpstr>
      <vt:lpstr>התכנסות לפתרון – ביחס למספר מחזורי הלמידה</vt:lpstr>
      <vt:lpstr>השפעת קצב הלמידה</vt:lpstr>
      <vt:lpstr>גרפים עם Legend</vt:lpstr>
      <vt:lpstr>תרגיל 3 – מימוש gradient descent עם פרמטר אחד</vt:lpstr>
      <vt:lpstr>תרגיל 3.1 – אתגר בהמשך לתרגיל 3</vt:lpstr>
      <vt:lpstr>תרגיל 4 – מימוש gradient descent עם שני פרמטרים</vt:lpstr>
      <vt:lpstr>שאלות?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47</cp:revision>
  <dcterms:created xsi:type="dcterms:W3CDTF">2019-03-02T07:56:19Z</dcterms:created>
  <dcterms:modified xsi:type="dcterms:W3CDTF">2026-10-10T15:11:28Z</dcterms:modified>
</cp:coreProperties>
</file>