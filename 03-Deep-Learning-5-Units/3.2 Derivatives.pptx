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603" r:id="rId3"/>
    <p:sldId id="604" r:id="rId4"/>
    <p:sldId id="605" r:id="rId5"/>
    <p:sldId id="628" r:id="rId6"/>
    <p:sldId id="606" r:id="rId7"/>
    <p:sldId id="620" r:id="rId8"/>
    <p:sldId id="634" r:id="rId9"/>
    <p:sldId id="633" r:id="rId10"/>
    <p:sldId id="611" r:id="rId11"/>
    <p:sldId id="615" r:id="rId12"/>
    <p:sldId id="622" r:id="rId13"/>
    <p:sldId id="626" r:id="rId14"/>
    <p:sldId id="623" r:id="rId15"/>
    <p:sldId id="624" r:id="rId16"/>
    <p:sldId id="625" r:id="rId17"/>
    <p:sldId id="629" r:id="rId18"/>
    <p:sldId id="630" r:id="rId19"/>
    <p:sldId id="631" r:id="rId20"/>
    <p:sldId id="607" r:id="rId21"/>
    <p:sldId id="609" r:id="rId22"/>
    <p:sldId id="608" r:id="rId23"/>
    <p:sldId id="632" r:id="rId24"/>
    <p:sldId id="635" r:id="rId25"/>
    <p:sldId id="610" r:id="rId26"/>
    <p:sldId id="601" r:id="rId27"/>
    <p:sldId id="617" r:id="rId28"/>
    <p:sldId id="618" r:id="rId29"/>
    <p:sldId id="619" r:id="rId30"/>
    <p:sldId id="289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hiaHRW9scVpVHOt7LlZiKDVEm5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8E25D-6658-4D9B-876C-8C97E927BF0F}">
  <a:tblStyle styleId="{1778E25D-6658-4D9B-876C-8C97E927BF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3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כותרת ותוכן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6"/>
          <p:cNvSpPr txBox="1"/>
          <p:nvPr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232229" y="355224"/>
            <a:ext cx="115630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224346" y="1842899"/>
            <a:ext cx="115630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Google Shape;4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buNone/>
              <a:defRPr/>
            </a:lvl1pPr>
            <a:lvl2pPr marL="0" lvl="1" indent="0" algn="l" rtl="1">
              <a:spcBef>
                <a:spcPts val="0"/>
              </a:spcBef>
              <a:buNone/>
              <a:defRPr/>
            </a:lvl2pPr>
            <a:lvl3pPr marL="0" lvl="2" indent="0" algn="l" rtl="1">
              <a:spcBef>
                <a:spcPts val="0"/>
              </a:spcBef>
              <a:buNone/>
              <a:defRPr/>
            </a:lvl3pPr>
            <a:lvl4pPr marL="0" lvl="3" indent="0" algn="l" rtl="1">
              <a:spcBef>
                <a:spcPts val="0"/>
              </a:spcBef>
              <a:buNone/>
              <a:defRPr/>
            </a:lvl4pPr>
            <a:lvl5pPr marL="0" lvl="4" indent="0" algn="l" rtl="1">
              <a:spcBef>
                <a:spcPts val="0"/>
              </a:spcBef>
              <a:buNone/>
              <a:defRPr/>
            </a:lvl5pPr>
            <a:lvl6pPr marL="0" lvl="5" indent="0" algn="l" rtl="1">
              <a:spcBef>
                <a:spcPts val="0"/>
              </a:spcBef>
              <a:buNone/>
              <a:defRPr/>
            </a:lvl6pPr>
            <a:lvl7pPr marL="0" lvl="6" indent="0" algn="l" rtl="1">
              <a:spcBef>
                <a:spcPts val="0"/>
              </a:spcBef>
              <a:buNone/>
              <a:defRPr/>
            </a:lvl7pPr>
            <a:lvl8pPr marL="0" lvl="7" indent="0" algn="l" rtl="1">
              <a:spcBef>
                <a:spcPts val="0"/>
              </a:spcBef>
              <a:buNone/>
              <a:defRPr/>
            </a:lvl8pPr>
            <a:lvl9pPr marL="0" lvl="8" indent="0" algn="l" rtl="1">
              <a:spcBef>
                <a:spcPts val="0"/>
              </a:spcBef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ogebra.org/3d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colab.research.google.com/drive/1DU4hulxQzaiOQWwPfpTPs5HUzQDG88_H?usp=sharing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למידה עמוקה</a:t>
            </a:r>
            <a:endParaRPr dirty="0"/>
          </a:p>
        </p:txBody>
      </p:sp>
      <p:sp>
        <p:nvSpPr>
          <p:cNvPr id="83" name="Google Shape;83;p1"/>
          <p:cNvSpPr txBox="1">
            <a:spLocks noGrp="1"/>
          </p:cNvSpPr>
          <p:nvPr>
            <p:ph type="body" idx="1"/>
          </p:nvPr>
        </p:nvSpPr>
        <p:spPr>
          <a:xfrm>
            <a:off x="3829050" y="3864505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 sz="2400" dirty="0"/>
              <a:t>נגזרות ושימושיהן</a:t>
            </a:r>
          </a:p>
          <a:p>
            <a:pPr marL="0" indent="0">
              <a:spcBef>
                <a:spcPts val="0"/>
              </a:spcBef>
            </a:pPr>
            <a:r>
              <a:rPr lang="he-IL" sz="2400" dirty="0"/>
              <a:t>מאת: אריאל בר-יצחק, ד"ר קובי מייק</a:t>
            </a:r>
          </a:p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8505-E17F-4979-A8C8-C4332BDFE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תוכן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4C9F4-FFDB-4E6C-A6C1-3D08D9DB9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נגזרת לפונקציה חד ממדית</a:t>
            </a:r>
          </a:p>
          <a:p>
            <a:r>
              <a:rPr lang="he-IL" dirty="0"/>
              <a:t>נגזרת לפונקציה רב ממדית – נגזרת חלקית</a:t>
            </a:r>
          </a:p>
          <a:p>
            <a:r>
              <a:rPr lang="he-IL" dirty="0"/>
              <a:t>נגזרת של הרכבת פונקציות - כלל השרשרת</a:t>
            </a:r>
          </a:p>
          <a:p>
            <a:r>
              <a:rPr lang="he-IL" dirty="0"/>
              <a:t>מציאת מינימום לפונקציה על ידי נגזרת</a:t>
            </a:r>
          </a:p>
        </p:txBody>
      </p:sp>
    </p:spTree>
    <p:extLst>
      <p:ext uri="{BB962C8B-B14F-4D97-AF65-F5344CB8AC3E}">
        <p14:creationId xmlns:p14="http://schemas.microsoft.com/office/powerpoint/2010/main" val="12018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7490-1864-45F4-9F4B-5F9400C96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נגזרת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96460-49F1-45B4-A6E3-862878ECE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שיפוע קו המשיק לפונקציה בנקודת ההשקה</a:t>
            </a:r>
            <a:endParaRPr lang="en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A340E4-A0F8-4F3B-8B96-16AF821AF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467" y="2610909"/>
            <a:ext cx="3748617" cy="262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E54193-F8ED-485F-BF73-E01EFE8B99C2}"/>
              </a:ext>
            </a:extLst>
          </p:cNvPr>
          <p:cNvSpPr txBox="1"/>
          <p:nvPr/>
        </p:nvSpPr>
        <p:spPr>
          <a:xfrm>
            <a:off x="6220884" y="6048572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/>
              <a:t>https://en.wikipedia.org/wiki/Derivative</a:t>
            </a:r>
          </a:p>
        </p:txBody>
      </p:sp>
    </p:spTree>
    <p:extLst>
      <p:ext uri="{BB962C8B-B14F-4D97-AF65-F5344CB8AC3E}">
        <p14:creationId xmlns:p14="http://schemas.microsoft.com/office/powerpoint/2010/main" val="157223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9442-3E31-4D2B-A67C-78848E7A6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סימון נגזרת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3431D-A3C8-4508-A596-F60D3B0BE34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24346" y="1842899"/>
                <a:ext cx="11563006" cy="3681601"/>
              </a:xfrm>
            </p:spPr>
            <p:txBody>
              <a:bodyPr/>
              <a:lstStyle/>
              <a:p>
                <a:r>
                  <a:rPr lang="he-IL" b="0" dirty="0">
                    <a:latin typeface="Cambria Math" panose="02040503050406030204" pitchFamily="18" charset="0"/>
                  </a:rPr>
                  <a:t>נגזרת של הפונקציה </a:t>
                </a:r>
                <a:r>
                  <a:rPr lang="en-US" b="0" dirty="0">
                    <a:latin typeface="Cambria Math" panose="02040503050406030204" pitchFamily="18" charset="0"/>
                  </a:rPr>
                  <a:t>f</a:t>
                </a:r>
                <a:r>
                  <a:rPr lang="he-IL" b="0" dirty="0">
                    <a:latin typeface="Cambria Math" panose="02040503050406030204" pitchFamily="18" charset="0"/>
                  </a:rPr>
                  <a:t> לפי המשתנה </a:t>
                </a:r>
                <a:r>
                  <a:rPr lang="en-US" b="0" dirty="0">
                    <a:latin typeface="Cambria Math" panose="02040503050406030204" pitchFamily="18" charset="0"/>
                  </a:rPr>
                  <a:t>x</a:t>
                </a:r>
                <a:endParaRPr lang="he-IL" b="0" dirty="0">
                  <a:latin typeface="Cambria Math" panose="02040503050406030204" pitchFamily="18" charset="0"/>
                </a:endParaRPr>
              </a:p>
              <a:p>
                <a:endParaRPr lang="he-IL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3431D-A3C8-4508-A596-F60D3B0BE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4346" y="1842899"/>
                <a:ext cx="11563006" cy="368160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35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9442-3E31-4D2B-A67C-78848E7A6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הגדרת הנגזרת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3431D-A3C8-4508-A596-F60D3B0BE34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24346" y="1842899"/>
                <a:ext cx="7152767" cy="3681601"/>
              </a:xfrm>
            </p:spPr>
            <p:txBody>
              <a:bodyPr/>
              <a:lstStyle/>
              <a:p>
                <a:endParaRPr lang="he-IL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13431D-A3C8-4508-A596-F60D3B0BE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4346" y="1842899"/>
                <a:ext cx="7152767" cy="368160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5E509FE-7BD3-2DEA-59A5-1F578BFEDA7C}"/>
              </a:ext>
            </a:extLst>
          </p:cNvPr>
          <p:cNvSpPr txBox="1"/>
          <p:nvPr/>
        </p:nvSpPr>
        <p:spPr>
          <a:xfrm>
            <a:off x="8228122" y="5405437"/>
            <a:ext cx="2819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/>
              <a:t>https://www.math.net/derivative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FD63EFC6-9C5F-0474-FD8F-C8C29C03A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028" y="1306511"/>
            <a:ext cx="4575243" cy="401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26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71369C5-4012-435C-BC39-E89A0BD067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 dirty="0"/>
                  <a:t>דוגמא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71369C5-4012-435C-BC39-E89A0BD067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216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57F102C-915C-4FC7-B3D4-5E365B46C49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algn="l" rtl="0"/>
                <a:endParaRPr lang="en-US" b="0" dirty="0"/>
              </a:p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57F102C-915C-4FC7-B3D4-5E365B46C4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26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71369C5-4012-435C-BC39-E89A0BD067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 dirty="0"/>
                  <a:t>דוגמא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71369C5-4012-435C-BC39-E89A0BD067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216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57F102C-915C-4FC7-B3D4-5E365B46C49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algn="l" rtl="0"/>
                <a:endParaRPr lang="en-US" b="0" dirty="0"/>
              </a:p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…+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57F102C-915C-4FC7-B3D4-5E365B46C4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97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0DA6-D2BE-E879-4F9A-6EE70CCE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1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DF6B80-B542-60ED-2086-B7CD9538EC6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he-IL" dirty="0">
                    <a:solidFill>
                      <a:schemeClr val="tx1"/>
                    </a:solidFill>
                  </a:rPr>
                  <a:t>כתבו סקריפט המחשב את הנגזרת של הפונקציה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he-I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he-I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e-I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+8</m:t>
                    </m:r>
                  </m:oMath>
                </a14:m>
                <a:r>
                  <a:rPr lang="he-IL" b="0" dirty="0">
                    <a:solidFill>
                      <a:schemeClr val="tx1"/>
                    </a:solidFill>
                  </a:rPr>
                  <a:t> בנקודה </a:t>
                </a:r>
                <a:r>
                  <a:rPr lang="en-US" b="0" dirty="0">
                    <a:solidFill>
                      <a:schemeClr val="tx1"/>
                    </a:solidFill>
                  </a:rPr>
                  <a:t>x=2</a:t>
                </a:r>
                <a:r>
                  <a:rPr lang="he-IL" b="0" dirty="0">
                    <a:solidFill>
                      <a:schemeClr val="tx1"/>
                    </a:solidFill>
                  </a:rPr>
                  <a:t> על פי הגדרת הנגזרת. והשוו את תשובתכם לפתרון האנליטי.</a:t>
                </a:r>
              </a:p>
              <a:p>
                <a:r>
                  <a:rPr lang="he-IL" dirty="0">
                    <a:solidFill>
                      <a:schemeClr val="tx1"/>
                    </a:solidFill>
                  </a:rPr>
                  <a:t>הערה: ניתן להשתמש ב </a:t>
                </a:r>
                <a:r>
                  <a:rPr lang="en-US" dirty="0" err="1">
                    <a:solidFill>
                      <a:schemeClr val="tx1"/>
                    </a:solidFill>
                  </a:rPr>
                  <a:t>np.linspace</a:t>
                </a:r>
                <a:r>
                  <a:rPr lang="he-IL" dirty="0">
                    <a:solidFill>
                      <a:schemeClr val="tx1"/>
                    </a:solidFill>
                  </a:rPr>
                  <a:t> כדי ליצור סדרה יורדת. למשל:</a:t>
                </a:r>
              </a:p>
              <a:p>
                <a:pPr algn="l" rtl="0"/>
                <a:r>
                  <a:rPr lang="en-US" dirty="0"/>
                  <a:t>d = </a:t>
                </a:r>
                <a:r>
                  <a:rPr lang="en-US" dirty="0" err="1"/>
                  <a:t>np.linspace</a:t>
                </a:r>
                <a:r>
                  <a:rPr lang="en-US" dirty="0"/>
                  <a:t>(0.1,0.01,10)</a:t>
                </a:r>
                <a:endParaRPr lang="he-IL" b="0" dirty="0">
                  <a:solidFill>
                    <a:schemeClr val="tx1"/>
                  </a:solidFill>
                </a:endParaRPr>
              </a:p>
              <a:p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he-IL" dirty="0"/>
                  <a:t> </a:t>
                </a:r>
                <a:endParaRPr lang="en-IL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DF6B80-B542-60ED-2086-B7CD9538E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73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תמונה 13">
            <a:extLst>
              <a:ext uri="{FF2B5EF4-FFF2-40B4-BE49-F238E27FC236}">
                <a16:creationId xmlns:a16="http://schemas.microsoft.com/office/drawing/2014/main" id="{2B42B6B1-B84F-A8DB-99FB-C916A754E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" y="4331589"/>
            <a:ext cx="1107757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78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9558-00B3-0339-A7EC-EA518F44F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דף נוסחאות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4D1ECD-E53F-935E-2F89-E2920D87364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86575" y="1842899"/>
                <a:ext cx="4900777" cy="3653026"/>
              </a:xfrm>
            </p:spPr>
            <p:txBody>
              <a:bodyPr>
                <a:normAutofit/>
              </a:bodyPr>
              <a:lstStyle/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l" rtl="0"/>
                <a:endParaRPr lang="en-US" i="1" dirty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algn="l" rtl="0"/>
                <a:endParaRPr lang="en-US" dirty="0"/>
              </a:p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=−1/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algn="l" rtl="0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4D1ECD-E53F-935E-2F89-E2920D8736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86575" y="1842899"/>
                <a:ext cx="4900777" cy="365302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A857B944-2990-6E83-ADB7-7C0A4B59E4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448" y="1876048"/>
                <a:ext cx="5624677" cy="33101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r" rtl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D59F0E"/>
                  </a:buClr>
                  <a:buSzPts val="1800"/>
                  <a:buFont typeface="Arial"/>
                  <a:buNone/>
                  <a:defRPr sz="2800" b="0" i="0" u="none" strike="noStrike" cap="none">
                    <a:solidFill>
                      <a:srgbClr val="002147"/>
                    </a:solidFill>
                    <a:latin typeface="Tahoma"/>
                    <a:ea typeface="Tahoma"/>
                    <a:cs typeface="Tahoma"/>
                    <a:sym typeface="Tahoma"/>
                  </a:defRPr>
                </a:lvl1pPr>
                <a:lvl2pPr marL="914400" marR="0" lvl="1" indent="-228600" algn="r" rtl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D59F0E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rgbClr val="002147"/>
                    </a:solidFill>
                    <a:latin typeface="Tahoma"/>
                    <a:ea typeface="Tahoma"/>
                    <a:cs typeface="Tahoma"/>
                    <a:sym typeface="Tahoma"/>
                  </a:defRPr>
                </a:lvl2pPr>
                <a:lvl3pPr marL="1371600" marR="0" lvl="2" indent="-228600" algn="r" rtl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D59F0E"/>
                  </a:buClr>
                  <a:buSzPts val="1800"/>
                  <a:buFont typeface="Arial"/>
                  <a:buNone/>
                  <a:defRPr sz="2000" b="0" i="0" u="none" strike="noStrike" cap="none">
                    <a:solidFill>
                      <a:srgbClr val="002147"/>
                    </a:solidFill>
                    <a:latin typeface="Tahoma"/>
                    <a:ea typeface="Tahoma"/>
                    <a:cs typeface="Tahoma"/>
                    <a:sym typeface="Tahoma"/>
                  </a:defRPr>
                </a:lvl3pPr>
                <a:lvl4pPr marL="1828800" marR="0" lvl="3" indent="-228600" algn="r" rtl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D59F0E"/>
                  </a:buClr>
                  <a:buSzPts val="1800"/>
                  <a:buFont typeface="Arial"/>
                  <a:buNone/>
                  <a:defRPr sz="1800" b="0" i="0" u="none" strike="noStrike" cap="none">
                    <a:solidFill>
                      <a:srgbClr val="002147"/>
                    </a:solidFill>
                    <a:latin typeface="Tahoma"/>
                    <a:ea typeface="Tahoma"/>
                    <a:cs typeface="Tahoma"/>
                    <a:sym typeface="Tahoma"/>
                  </a:defRPr>
                </a:lvl4pPr>
                <a:lvl5pPr marL="2286000" marR="0" lvl="4" indent="-228600" algn="r" rtl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D59F0E"/>
                  </a:buClr>
                  <a:buSzPts val="1800"/>
                  <a:buFont typeface="Arial"/>
                  <a:buNone/>
                  <a:defRPr sz="1800" b="0" i="0" u="none" strike="noStrike" cap="none">
                    <a:solidFill>
                      <a:srgbClr val="002147"/>
                    </a:solidFill>
                    <a:latin typeface="Tahoma"/>
                    <a:ea typeface="Tahoma"/>
                    <a:cs typeface="Tahoma"/>
                    <a:sym typeface="Tahoma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l" rtl="0"/>
                <a:endParaRPr lang="en-US" i="1" dirty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𝑑𝑙𝑛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=1/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A857B944-2990-6E83-ADB7-7C0A4B59E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48" y="1876048"/>
                <a:ext cx="5624677" cy="33101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4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89E2-5FBC-4DB7-A06F-8F4FD725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הרכבת פונקציות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DC0AEFA-A06F-4B47-A36B-AB1788EBC6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הרכבה של פונקציות היא בניית פונקציה של פונקציה</a:t>
                </a:r>
              </a:p>
              <a:p>
                <a:endParaRPr lang="he-IL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DC0AEFA-A06F-4B47-A36B-AB1788EBC6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881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7B03-3E34-494F-B032-0D7825E8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דוגמא 1 </a:t>
            </a:r>
            <a:r>
              <a:rPr lang="he-IL" dirty="0"/>
              <a:t>- הרכבת פונקציות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3D94E7-7321-403E-A228-A64B16734C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he-IL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US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US" b="0" dirty="0">
                  <a:solidFill>
                    <a:srgbClr val="7030A0"/>
                  </a:solidFill>
                </a:endParaRPr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3D94E7-7321-403E-A228-A64B16734C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444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7B03-3E34-494F-B032-0D7825E8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נגזרת הרכבת פונקציות - ע"י הצבה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3D94E7-7321-403E-A228-A64B16734C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he-IL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US" dirty="0"/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3D94E7-7321-403E-A228-A64B16734C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836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7B03-3E34-494F-B032-0D7825E8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כלל השרשרת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3D94E7-7321-403E-A228-A64B16734C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גזירה של כל פונקציה בנפרד</a:t>
                </a:r>
              </a:p>
              <a:p>
                <a:endParaRPr lang="he-IL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𝑑𝑔</m:t>
                          </m:r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𝑑𝑔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3D94E7-7321-403E-A228-A64B16734C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1949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7B03-3E34-494F-B032-0D7825E8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נגזרת הרכבת פונקציות - כלל השרשרת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3D94E7-7321-403E-A228-A64B16734C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endParaRPr lang="he-IL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6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3D94E7-7321-403E-A228-A64B16734C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7840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7B03-3E34-494F-B032-0D7825E8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דוגמא 2 – נגזרת הרכבת פונקציות </a:t>
            </a:r>
            <a:br>
              <a:rPr lang="he-IL" dirty="0"/>
            </a:br>
            <a:r>
              <a:rPr lang="he-IL" dirty="0"/>
              <a:t>(ע"י כלל השרשרת)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3D94E7-7321-403E-A228-A64B16734C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he-IL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he-I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e-IL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endParaRPr lang="he-IL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he-I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he-IL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2(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he-IL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he-IL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he-IL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+8</m:t>
                          </m:r>
                          <m:r>
                            <m:rPr>
                              <m:nor/>
                            </m:rPr>
                            <a:rPr lang="en-US" i="0" dirty="0">
                              <a:solidFill>
                                <a:srgbClr val="00B050"/>
                              </a:solidFill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)+4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he-IL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he-IL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+8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3D94E7-7321-403E-A228-A64B16734C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4606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7B03-3E34-494F-B032-0D7825E8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2 – נגזרת הרכבת פונקציות 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3D94E7-7321-403E-A228-A64B16734C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he-I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he-I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he-IL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e-IL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he-IL" b="0" i="1" dirty="0">
                  <a:latin typeface="Cambria Math" panose="02040503050406030204" pitchFamily="18" charset="0"/>
                </a:endParaRPr>
              </a:p>
              <a:p>
                <a:endParaRPr lang="he-IL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3D94E7-7321-403E-A228-A64B16734C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5335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0F93-008B-75A4-3B45-0B69CF0E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3 – נגזרת הרכבת פונקציות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E96135F3-C8B9-21FF-8BF5-1140ED50FC8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24346" y="1842899"/>
                <a:ext cx="11563006" cy="4351338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he-IL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he-IL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b="0" i="1" dirty="0">
                  <a:latin typeface="Cambria Math" panose="02040503050406030204" pitchFamily="18" charset="0"/>
                </a:endParaRPr>
              </a:p>
              <a:p>
                <a:endParaRPr lang="he-IL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E96135F3-C8B9-21FF-8BF5-1140ED50F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4346" y="1842899"/>
                <a:ext cx="11563006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323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0F93-008B-75A4-3B45-0B69CF0E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4 – נגזרת הרכבת פונקציות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E96135F3-C8B9-21FF-8BF5-1140ED50FC8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24346" y="1842899"/>
                <a:ext cx="11563006" cy="4351338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p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=1/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he-IL" b="0" i="1" dirty="0">
                  <a:latin typeface="Cambria Math" panose="02040503050406030204" pitchFamily="18" charset="0"/>
                </a:endParaRPr>
              </a:p>
              <a:p>
                <a:endParaRPr lang="he-IL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E96135F3-C8B9-21FF-8BF5-1140ED50F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4346" y="1842899"/>
                <a:ext cx="11563006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631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0F93-008B-75A4-3B45-0B69CF0E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5 – נגזרת הרכבת פונקציות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E96135F3-C8B9-21FF-8BF5-1140ED50FC8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24346" y="1842899"/>
                <a:ext cx="11563006" cy="4351338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b="0" i="1" dirty="0">
                  <a:latin typeface="Cambria Math" panose="02040503050406030204" pitchFamily="18" charset="0"/>
                </a:endParaRPr>
              </a:p>
              <a:p>
                <a:endParaRPr lang="he-IL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E96135F3-C8B9-21FF-8BF5-1140ED50F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4346" y="1842899"/>
                <a:ext cx="11563006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395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E13A2-8D9B-4603-BEEB-CD1EC1169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פונקציה רב ממדית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97E38-0133-4D2D-ADFF-1EEBF3DDE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492" y="1947334"/>
            <a:ext cx="5359743" cy="3429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618CA40B-ADBF-4570-9B32-E336E665B3B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94812" y="2841965"/>
                <a:ext cx="5668454" cy="756368"/>
              </a:xfrm>
            </p:spPr>
            <p:txBody>
              <a:bodyPr/>
              <a:lstStyle/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baseline="3000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baseline="30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L" baseline="30000" dirty="0"/>
              </a:p>
            </p:txBody>
          </p:sp>
        </mc:Choice>
        <mc:Fallback xmlns="">
          <p:sp>
            <p:nvSpPr>
              <p:cNvPr id="7" name="Text Placeholder 2">
                <a:extLst>
                  <a:ext uri="{FF2B5EF4-FFF2-40B4-BE49-F238E27FC236}">
                    <a16:creationId xmlns:a16="http://schemas.microsoft.com/office/drawing/2014/main" id="{618CA40B-ADBF-4570-9B32-E336E665B3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94812" y="2841965"/>
                <a:ext cx="5668454" cy="75636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995BEFB-D955-438C-94F1-79FC2E6BE680}"/>
              </a:ext>
            </a:extLst>
          </p:cNvPr>
          <p:cNvSpPr txBox="1"/>
          <p:nvPr/>
        </p:nvSpPr>
        <p:spPr>
          <a:xfrm>
            <a:off x="6219825" y="5299174"/>
            <a:ext cx="26574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hlinkClick r:id="rId4"/>
              </a:rPr>
              <a:t>https://www.geogebra.org/3d</a:t>
            </a:r>
            <a:endParaRPr lang="he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35792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728B-AAFB-463A-800C-D21918FE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נגזרות חלקיות - נגזרת של פונקציה רב ממדית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172E67-6C19-4C7C-8591-18B64CA4AE0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נגזור כל אחד מהפרמטרים כאילו שאר הפרמטרים הם קבועים</a:t>
                </a:r>
              </a:p>
              <a:p>
                <a:endParaRPr lang="he-IL" dirty="0"/>
              </a:p>
              <a:p>
                <a:r>
                  <a:rPr lang="he-IL" dirty="0"/>
                  <a:t>סימון חדש. במקום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he-IL" sz="4000" dirty="0"/>
                  <a:t>  </a:t>
                </a:r>
                <a:r>
                  <a:rPr lang="he-IL" dirty="0"/>
                  <a:t>נסמן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000" i="1" baseline="-2500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000" i="1" baseline="-25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he-IL" sz="4000" i="1" baseline="-2500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IL" sz="4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172E67-6C19-4C7C-8591-18B64CA4AE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882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2422-FE64-4A2E-8071-403AAB81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נגזרת חלקית לפי הגדרת הנגזרת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B8190E9E-61A4-4A06-841F-F84B58080A7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24346" y="1842899"/>
                <a:ext cx="11563006" cy="3491101"/>
              </a:xfrm>
            </p:spPr>
            <p:txBody>
              <a:bodyPr>
                <a:normAutofit fontScale="92500"/>
              </a:bodyPr>
              <a:lstStyle/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baseline="300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L" baseline="30000" dirty="0"/>
              </a:p>
              <a:p>
                <a:endParaRPr lang="en-US" b="0" dirty="0"/>
              </a:p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baseline="-250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he-IL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baseline="-2500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baseline="-2500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baseline="3000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baseline="30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baseline="-2500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baseline="3000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algn="l" rtl="0"/>
                <a:endParaRPr lang="en-US" b="0" dirty="0"/>
              </a:p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B8190E9E-61A4-4A06-841F-F84B58080A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4346" y="1842899"/>
                <a:ext cx="11563006" cy="349110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6196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EC91-17F7-298C-EADE-6CE923109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נגזרות חלקיות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DA5F707-E86C-9F44-3873-9178C536099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כאשר גוזרים לפי </a:t>
                </a:r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  <a:r>
                  <a:rPr lang="he-IL" dirty="0"/>
                  <a:t>, מתייחסים לכל שאר המשתנים כקבוע</a:t>
                </a:r>
                <a:endParaRPr lang="en-US" dirty="0"/>
              </a:p>
              <a:p>
                <a:endParaRPr lang="he-IL" dirty="0"/>
              </a:p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baseline="300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L" baseline="30000" dirty="0"/>
              </a:p>
              <a:p>
                <a:endParaRPr lang="en-US" b="0" dirty="0"/>
              </a:p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baseline="-250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he-IL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he-IL" i="1" baseline="-2500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 baseline="300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he-IL" i="1" baseline="-2500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DA5F707-E86C-9F44-3873-9178C5360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822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0DA6-D2BE-E879-4F9A-6EE70CCE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6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DF6B80-B542-60ED-2086-B7CD9538EC6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2229" y="1358267"/>
                <a:ext cx="11563006" cy="4351338"/>
              </a:xfrm>
            </p:spPr>
            <p:txBody>
              <a:bodyPr>
                <a:normAutofit/>
              </a:bodyPr>
              <a:lstStyle/>
              <a:p>
                <a:r>
                  <a:rPr lang="he-IL" dirty="0">
                    <a:solidFill>
                      <a:schemeClr val="tx1"/>
                    </a:solidFill>
                  </a:rPr>
                  <a:t>כתבו סקריפט המחשב את הנגזרת של הפונקציה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he-IL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baseline="-25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baseline="-25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baseline="30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baseline="30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L" baseline="30000" dirty="0">
                  <a:solidFill>
                    <a:schemeClr val="tx1"/>
                  </a:solidFill>
                </a:endParaRPr>
              </a:p>
              <a:p>
                <a:r>
                  <a:rPr lang="he-IL" b="0">
                    <a:solidFill>
                      <a:schemeClr val="tx1"/>
                    </a:solidFill>
                  </a:rPr>
                  <a:t>בנקודה </a:t>
                </a:r>
                <a:r>
                  <a:rPr lang="en-US" b="0">
                    <a:solidFill>
                      <a:schemeClr val="tx1"/>
                    </a:solidFill>
                  </a:rPr>
                  <a:t>x</a:t>
                </a:r>
                <a:r>
                  <a:rPr lang="en-US" baseline="-25000">
                    <a:solidFill>
                      <a:schemeClr val="tx1"/>
                    </a:solidFill>
                  </a:rPr>
                  <a:t>1,2</a:t>
                </a:r>
                <a:r>
                  <a:rPr lang="en-US" b="0">
                    <a:solidFill>
                      <a:schemeClr val="tx1"/>
                    </a:solidFill>
                  </a:rPr>
                  <a:t>=2</a:t>
                </a:r>
                <a:r>
                  <a:rPr lang="en-US">
                    <a:solidFill>
                      <a:schemeClr val="tx1"/>
                    </a:solidFill>
                  </a:rPr>
                  <a:t>,3</a:t>
                </a:r>
                <a:r>
                  <a:rPr lang="he-IL" b="0">
                    <a:solidFill>
                      <a:schemeClr val="tx1"/>
                    </a:solidFill>
                  </a:rPr>
                  <a:t> </a:t>
                </a:r>
                <a:r>
                  <a:rPr lang="he-IL" b="0" dirty="0">
                    <a:solidFill>
                      <a:schemeClr val="tx1"/>
                    </a:solidFill>
                  </a:rPr>
                  <a:t>על פי הגדרת </a:t>
                </a:r>
                <a:r>
                  <a:rPr lang="he-IL" b="0">
                    <a:solidFill>
                      <a:schemeClr val="tx1"/>
                    </a:solidFill>
                  </a:rPr>
                  <a:t>הנגזרת. והשוו לפתרון האנליטי.</a:t>
                </a:r>
                <a:endParaRPr lang="he-IL" b="0" dirty="0">
                  <a:solidFill>
                    <a:schemeClr val="tx1"/>
                  </a:solidFill>
                </a:endParaRPr>
              </a:p>
              <a:p>
                <a:r>
                  <a:rPr lang="he-IL">
                    <a:solidFill>
                      <a:schemeClr val="tx1"/>
                    </a:solidFill>
                  </a:rPr>
                  <a:t>הערה: ניתן להשתלמש ב </a:t>
                </a:r>
                <a:r>
                  <a:rPr lang="en-US">
                    <a:solidFill>
                      <a:schemeClr val="tx1"/>
                    </a:solidFill>
                  </a:rPr>
                  <a:t>np.linspace</a:t>
                </a:r>
                <a:r>
                  <a:rPr lang="he-IL">
                    <a:solidFill>
                      <a:schemeClr val="tx1"/>
                    </a:solidFill>
                  </a:rPr>
                  <a:t> כדי ליצור סדרה יורדת. למשל: </a:t>
                </a:r>
              </a:p>
              <a:p>
                <a:pPr algn="l" rtl="0"/>
                <a:r>
                  <a:rPr lang="en-US"/>
                  <a:t>dx = np.linspace(0.1,0.01,10)</a:t>
                </a:r>
                <a:r>
                  <a:rPr lang="he-IL"/>
                  <a:t> </a:t>
                </a:r>
                <a:endParaRPr lang="en-IL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DF6B80-B542-60ED-2086-B7CD9538E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2229" y="1358267"/>
                <a:ext cx="11563006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>
            <a:extLst>
              <a:ext uri="{FF2B5EF4-FFF2-40B4-BE49-F238E27FC236}">
                <a16:creationId xmlns:a16="http://schemas.microsoft.com/office/drawing/2014/main" id="{5859718B-5636-5B93-99C8-2147B55F5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" y="4413885"/>
            <a:ext cx="1107757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79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7F41-B703-45AB-8336-FC62CC66B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7 – נגזרות חלקיות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E45444-3A8A-4D23-B03F-5A666D256B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גזרו את הפונקציות הבאות לפי כל אחד מהפרמטרים </a:t>
                </a:r>
                <a:r>
                  <a:rPr lang="en-US" dirty="0" err="1"/>
                  <a:t>x,y,z</a:t>
                </a:r>
                <a:r>
                  <a:rPr lang="he-IL" dirty="0"/>
                  <a:t>:</a:t>
                </a:r>
              </a:p>
              <a:p>
                <a:endParaRPr lang="he-IL" dirty="0"/>
              </a:p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baseline="30000" dirty="0"/>
              </a:p>
              <a:p>
                <a:pPr algn="l" rtl="0"/>
                <a:endParaRPr lang="en-US" baseline="30000" dirty="0"/>
              </a:p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30000" dirty="0"/>
              </a:p>
              <a:p>
                <a:pPr algn="l" rtl="0"/>
                <a:endParaRPr lang="he-IL" b="0" i="1" dirty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𝑦𝑧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30000" dirty="0"/>
              </a:p>
              <a:p>
                <a:pPr algn="l" rtl="0"/>
                <a:endParaRPr lang="en-US" baseline="30000" dirty="0"/>
              </a:p>
              <a:p>
                <a:pPr algn="r"/>
                <a:r>
                  <a:rPr lang="he-IL" baseline="30000" dirty="0">
                    <a:hlinkClick r:id="rId2"/>
                  </a:rPr>
                  <a:t>מחברת תרגיל</a:t>
                </a:r>
                <a:endParaRPr lang="en-US" baseline="30000" dirty="0"/>
              </a:p>
              <a:p>
                <a:pPr algn="l" rtl="0"/>
                <a:endParaRPr lang="en-IL" baseline="30000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E45444-3A8A-4D23-B03F-5A666D256B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166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0497-78FB-4EF1-BAD8-B19526F63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מציאת מינימום לפונקציה על ידי נגזרת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389F3-1B4E-4E21-9AE1-A3E4ACFE3F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10200" y="1842899"/>
                <a:ext cx="6377151" cy="3557776"/>
              </a:xfrm>
            </p:spPr>
            <p:txBody>
              <a:bodyPr/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dirty="0"/>
              </a:p>
              <a:p>
                <a:pPr marL="0" indent="0" algn="r">
                  <a:buNone/>
                </a:pPr>
                <a:endParaRPr lang="en-US" dirty="0"/>
              </a:p>
              <a:p>
                <a:pPr marL="0" indent="0" algn="r">
                  <a:buNone/>
                </a:pPr>
                <a:r>
                  <a:rPr lang="he-IL" dirty="0"/>
                  <a:t>נקודת המינימום מתקבלת כאשר הנגזרת מתאפסת</a:t>
                </a:r>
              </a:p>
              <a:p>
                <a:pPr marL="0" indent="0" algn="r">
                  <a:buNone/>
                </a:pPr>
                <a:endParaRPr lang="he-IL" dirty="0"/>
              </a:p>
              <a:p>
                <a:pPr marL="0" indent="0" algn="r">
                  <a:buNone/>
                </a:pPr>
                <a:r>
                  <a:rPr lang="he-IL" dirty="0"/>
                  <a:t>(תנאי נוסף – הנגזרת </a:t>
                </a:r>
                <a:r>
                  <a:rPr lang="he-IL"/>
                  <a:t>השנייה חיובית)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389F3-1B4E-4E21-9AE1-A3E4ACFE3F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10200" y="1842899"/>
                <a:ext cx="6377151" cy="3557776"/>
              </a:xfrm>
              <a:blipFill>
                <a:blip r:embed="rId2"/>
                <a:stretch>
                  <a:fillRect r="-191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B99CBA63-9FEB-4E7E-B488-D349CDC2E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262" y="2042762"/>
            <a:ext cx="4192252" cy="277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96A4ED-7D38-466F-8F02-8AE89C0FD1A9}"/>
              </a:ext>
            </a:extLst>
          </p:cNvPr>
          <p:cNvSpPr txBox="1"/>
          <p:nvPr/>
        </p:nvSpPr>
        <p:spPr>
          <a:xfrm>
            <a:off x="2662500" y="639192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B2F0C-FD49-4859-BD02-08245A21A5DC}"/>
              </a:ext>
            </a:extLst>
          </p:cNvPr>
          <p:cNvSpPr txBox="1"/>
          <p:nvPr/>
        </p:nvSpPr>
        <p:spPr>
          <a:xfrm rot="16200000">
            <a:off x="367940" y="3185609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76C2E-0E2C-3585-240B-2CB3A07C8241}"/>
              </a:ext>
            </a:extLst>
          </p:cNvPr>
          <p:cNvSpPr txBox="1"/>
          <p:nvPr/>
        </p:nvSpPr>
        <p:spPr>
          <a:xfrm>
            <a:off x="2307426" y="4815238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98840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0497-78FB-4EF1-BAD8-B19526F63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מציאת מינימום - דוגמא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389F3-1B4E-4E21-9AE1-A3E4ACFE3F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10200" y="1842899"/>
                <a:ext cx="6377151" cy="3557776"/>
              </a:xfrm>
            </p:spPr>
            <p:txBody>
              <a:bodyPr/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dirty="0"/>
              </a:p>
              <a:p>
                <a:pPr marL="0" indent="0" algn="r">
                  <a:buNone/>
                </a:pPr>
                <a:endParaRPr lang="he-IL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10=0</m:t>
                      </m:r>
                    </m:oMath>
                  </m:oMathPara>
                </a14:m>
                <a:endParaRPr lang="en-US" b="0" dirty="0"/>
              </a:p>
              <a:p>
                <a:pPr marL="0" indent="0" algn="l" rtl="0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389F3-1B4E-4E21-9AE1-A3E4ACFE3F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10200" y="1842899"/>
                <a:ext cx="6377151" cy="355777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596A4ED-7D38-466F-8F02-8AE89C0FD1A9}"/>
              </a:ext>
            </a:extLst>
          </p:cNvPr>
          <p:cNvSpPr txBox="1"/>
          <p:nvPr/>
        </p:nvSpPr>
        <p:spPr>
          <a:xfrm>
            <a:off x="2662500" y="639192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B2F0C-FD49-4859-BD02-08245A21A5DC}"/>
              </a:ext>
            </a:extLst>
          </p:cNvPr>
          <p:cNvSpPr txBox="1"/>
          <p:nvPr/>
        </p:nvSpPr>
        <p:spPr>
          <a:xfrm rot="16200000">
            <a:off x="367940" y="3185609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f(x)</a:t>
            </a:r>
            <a:endParaRPr lang="en-IL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486F569-36AF-105E-1E4D-0AAFA4A09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04" y="2042762"/>
            <a:ext cx="4192252" cy="277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979DC6-6D8E-386E-58A7-D0B38077986B}"/>
              </a:ext>
            </a:extLst>
          </p:cNvPr>
          <p:cNvSpPr txBox="1"/>
          <p:nvPr/>
        </p:nvSpPr>
        <p:spPr>
          <a:xfrm>
            <a:off x="2307426" y="4815238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05256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C1DC-4DA2-47A2-B35A-742D8DC43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8 – מציאת מינימום לפונקציה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AEA102C-10BB-45ED-8C15-A1075AFA73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מצאו את נקודת המינימום של הפונקציות הבאות:</a:t>
                </a:r>
                <a:endParaRPr lang="en-US" dirty="0"/>
              </a:p>
              <a:p>
                <a:endParaRPr lang="he-IL" dirty="0"/>
              </a:p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10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  <a:p>
                <a:pPr algn="l" rtl="0"/>
                <a:endParaRPr lang="en-US" dirty="0"/>
              </a:p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b="0" dirty="0"/>
              </a:p>
              <a:p>
                <a:pPr algn="l" rtl="0"/>
                <a:endParaRPr lang="en-US" baseline="30000" dirty="0"/>
              </a:p>
              <a:p>
                <a:pPr algn="r"/>
                <a:r>
                  <a:rPr lang="he-IL" sz="1800" dirty="0"/>
                  <a:t>הערות: </a:t>
                </a:r>
              </a:p>
              <a:p>
                <a:pPr algn="r"/>
                <a:r>
                  <a:rPr lang="he-IL" sz="1800" dirty="0"/>
                  <a:t>על מנת למצוא מינימום של פונקציה במספר ממדים, יש להשוות ל-0 בכל ממד. </a:t>
                </a:r>
              </a:p>
              <a:p>
                <a:pPr algn="r"/>
                <a:r>
                  <a:rPr lang="he-IL" sz="1800" dirty="0"/>
                  <a:t>ההבחנה בין מינימום, מקסימום ואוכף יותר מורכבת. </a:t>
                </a:r>
                <a:endParaRPr lang="en-US" sz="1800" dirty="0"/>
              </a:p>
              <a:p>
                <a:pPr algn="l" rtl="0"/>
                <a:endParaRPr lang="en-IL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AEA102C-10BB-45ED-8C15-A1075AFA7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1800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E2A5E7-C32B-4E3A-ADFB-7178075EE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1465811"/>
            <a:ext cx="5281104" cy="26940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C5C1DC-4DA2-47A2-B35A-742D8DC43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8 – פתרון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AEA102C-10BB-45ED-8C15-A1075AFA73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24345" y="1842899"/>
                <a:ext cx="8224329" cy="4351338"/>
              </a:xfrm>
            </p:spPr>
            <p:txBody>
              <a:bodyPr/>
              <a:lstStyle/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baseline="30000" dirty="0"/>
              </a:p>
              <a:p>
                <a:pPr algn="l" rtl="0"/>
                <a:endParaRPr lang="en-US" dirty="0"/>
              </a:p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aseline="30000" dirty="0"/>
              </a:p>
              <a:p>
                <a:pPr algn="l" rtl="0"/>
                <a:endParaRPr lang="en-US" baseline="30000" dirty="0"/>
              </a:p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baseline="-25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baseline="30000" dirty="0"/>
              </a:p>
              <a:p>
                <a:pPr algn="l" rtl="0"/>
                <a:endParaRPr lang="en-US" baseline="30000" dirty="0"/>
              </a:p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+6=0⇒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=−4,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baseline="30000" dirty="0"/>
              </a:p>
              <a:p>
                <a:pPr algn="l" rtl="0"/>
                <a:endParaRPr lang="en-US" baseline="30000" dirty="0"/>
              </a:p>
              <a:p>
                <a:pPr algn="l" rtl="0"/>
                <a:endParaRPr lang="en-US" baseline="30000" dirty="0"/>
              </a:p>
              <a:p>
                <a:pPr algn="l" rtl="0"/>
                <a:endParaRPr lang="en-US" dirty="0"/>
              </a:p>
              <a:p>
                <a:pPr algn="l" rtl="0"/>
                <a:endParaRPr lang="en-US" dirty="0"/>
              </a:p>
              <a:p>
                <a:pPr algn="l" rtl="0"/>
                <a:endParaRPr lang="en-IL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AEA102C-10BB-45ED-8C15-A1075AFA7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4345" y="1842899"/>
                <a:ext cx="8224329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616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שאלות?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889</Words>
  <Application>Microsoft Office PowerPoint</Application>
  <PresentationFormat>מסך רחב</PresentationFormat>
  <Paragraphs>207</Paragraphs>
  <Slides>30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Tahoma</vt:lpstr>
      <vt:lpstr>TECHNION_Op3_General_Heb</vt:lpstr>
      <vt:lpstr>למידה עמוקה</vt:lpstr>
      <vt:lpstr>תוכן</vt:lpstr>
      <vt:lpstr>נגזרת</vt:lpstr>
      <vt:lpstr>סימון נגזרת</vt:lpstr>
      <vt:lpstr>הגדרת הנגזרת</vt:lpstr>
      <vt:lpstr>דוגמא  x^2</vt:lpstr>
      <vt:lpstr>דוגמא x^n</vt:lpstr>
      <vt:lpstr>תרגיל 1</vt:lpstr>
      <vt:lpstr>דף נוסחאות</vt:lpstr>
      <vt:lpstr>הרכבת פונקציות</vt:lpstr>
      <vt:lpstr>דוגמא 1 - הרכבת פונקציות</vt:lpstr>
      <vt:lpstr>נגזרת הרכבת פונקציות - ע"י הצבה</vt:lpstr>
      <vt:lpstr>כלל השרשרת</vt:lpstr>
      <vt:lpstr>נגזרת הרכבת פונקציות - כלל השרשרת</vt:lpstr>
      <vt:lpstr>דוגמא 2 – נגזרת הרכבת פונקציות  (ע"י כלל השרשרת)</vt:lpstr>
      <vt:lpstr>תרגיל 2 – נגזרת הרכבת פונקציות </vt:lpstr>
      <vt:lpstr>תרגיל 3 – נגזרת הרכבת פונקציות</vt:lpstr>
      <vt:lpstr>תרגיל 4 – נגזרת הרכבת פונקציות</vt:lpstr>
      <vt:lpstr>תרגיל 5 – נגזרת הרכבת פונקציות</vt:lpstr>
      <vt:lpstr>פונקציה רב ממדית</vt:lpstr>
      <vt:lpstr>נגזרות חלקיות - נגזרת של פונקציה רב ממדית</vt:lpstr>
      <vt:lpstr>נגזרת חלקית לפי הגדרת הנגזרת</vt:lpstr>
      <vt:lpstr>נגזרות חלקיות</vt:lpstr>
      <vt:lpstr>תרגיל 6</vt:lpstr>
      <vt:lpstr>תרגיל 7 – נגזרות חלקיות</vt:lpstr>
      <vt:lpstr>מציאת מינימום לפונקציה על ידי נגזרת</vt:lpstr>
      <vt:lpstr>מציאת מינימום - דוגמא</vt:lpstr>
      <vt:lpstr>תרגיל 8 – מציאת מינימום לפונקציה</vt:lpstr>
      <vt:lpstr>תרגיל 8 – פתרון</vt:lpstr>
      <vt:lpstr>שאלות?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דוד בר יצחק</cp:lastModifiedBy>
  <cp:revision>67</cp:revision>
  <dcterms:created xsi:type="dcterms:W3CDTF">2019-03-02T07:56:19Z</dcterms:created>
  <dcterms:modified xsi:type="dcterms:W3CDTF">2026-10-20T18:50:04Z</dcterms:modified>
</cp:coreProperties>
</file>